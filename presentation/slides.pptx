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06a80f6b274982" /><Relationship Type="http://schemas.openxmlformats.org/officeDocument/2006/relationships/extended-properties" Target="/docProps/app.xml" Id="Ra2d887e7aa4d47ed" /><Relationship Type="http://schemas.openxmlformats.org/officeDocument/2006/relationships/officeDocument" Target="/ppt/presentation.xml" Id="Rd73e9fcfb1d04b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22f8a9b19f14d42"/>
  </p:sldMasterIdLst>
  <p:notesMasterIdLst>
    <p:notesMasterId xmlns:r="http://schemas.openxmlformats.org/officeDocument/2006/relationships" r:id="R7358fb59468f4b74"/>
  </p:notesMasterIdLst>
  <p:sldIdLst>
    <p:sldId xmlns:r="http://schemas.openxmlformats.org/officeDocument/2006/relationships" id="256" r:id="R241dc9c239a54791"/>
    <p:sldId xmlns:r="http://schemas.openxmlformats.org/officeDocument/2006/relationships" id="257" r:id="R1ec85e7abb15432f"/>
    <p:sldId xmlns:r="http://schemas.openxmlformats.org/officeDocument/2006/relationships" id="258" r:id="Red498cb9a88b4341"/>
    <p:sldId xmlns:r="http://schemas.openxmlformats.org/officeDocument/2006/relationships" id="259" r:id="R7d159539471345d3"/>
    <p:sldId xmlns:r="http://schemas.openxmlformats.org/officeDocument/2006/relationships" id="260" r:id="Rfdb395a262c0409a"/>
    <p:sldId xmlns:r="http://schemas.openxmlformats.org/officeDocument/2006/relationships" id="261" r:id="R08e2a643bac540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c1d7fc06e64116" /><Relationship Type="http://schemas.openxmlformats.org/officeDocument/2006/relationships/slideMaster" Target="/ppt/slideMasters/slideMaster1.xml" Id="R622f8a9b19f14d42" /><Relationship Type="http://schemas.openxmlformats.org/officeDocument/2006/relationships/notesMaster" Target="/ppt/notesMasters/notesMaster1.xml" Id="R7358fb59468f4b74" /><Relationship Type="http://schemas.openxmlformats.org/officeDocument/2006/relationships/presProps" Target="/ppt/presProps.xml" Id="R11db3450c70e4e1e" /><Relationship Type="http://schemas.openxmlformats.org/officeDocument/2006/relationships/tableStyles" Target="/ppt/tableStyles.xml" Id="R51783d0c4ce346b0" /><Relationship Type="http://schemas.openxmlformats.org/officeDocument/2006/relationships/slide" Target="/ppt/slides/slide1.xml" Id="R241dc9c239a54791" /><Relationship Type="http://schemas.openxmlformats.org/officeDocument/2006/relationships/slide" Target="/ppt/slides/slide2.xml" Id="R1ec85e7abb15432f" /><Relationship Type="http://schemas.openxmlformats.org/officeDocument/2006/relationships/slide" Target="/ppt/slides/slide3.xml" Id="Red498cb9a88b4341" /><Relationship Type="http://schemas.openxmlformats.org/officeDocument/2006/relationships/slide" Target="/ppt/slides/slide4.xml" Id="R7d159539471345d3" /><Relationship Type="http://schemas.openxmlformats.org/officeDocument/2006/relationships/slide" Target="/ppt/slides/slide5.xml" Id="Rfdb395a262c0409a" /><Relationship Type="http://schemas.openxmlformats.org/officeDocument/2006/relationships/slide" Target="/ppt/slides/slide6.xml" Id="R08e2a643bac5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de5876f8a747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9046ea5d614432" /><Relationship Type="http://schemas.openxmlformats.org/officeDocument/2006/relationships/notesMaster" Target="/ppt/notesMasters/notesMaster1.xml" Id="R4da526eb83fb47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8cbee7cb7438b" /><Relationship Type="http://schemas.openxmlformats.org/officeDocument/2006/relationships/notesMaster" Target="/ppt/notesMasters/notesMaster1.xml" Id="Ra27f5c9edbba433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8c6cde74e84916" /><Relationship Type="http://schemas.openxmlformats.org/officeDocument/2006/relationships/notesMaster" Target="/ppt/notesMasters/notesMaster1.xml" Id="R78158b63d2e449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0a42aeeadf4baa" /><Relationship Type="http://schemas.openxmlformats.org/officeDocument/2006/relationships/notesMaster" Target="/ppt/notesMasters/notesMaster1.xml" Id="Rb87f00cf8dc348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f100ce17dc4c3f" /><Relationship Type="http://schemas.openxmlformats.org/officeDocument/2006/relationships/notesMaster" Target="/ppt/notesMasters/notesMaster1.xml" Id="R2b85626d0f0b44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43acad09844f87" /><Relationship Type="http://schemas.openxmlformats.org/officeDocument/2006/relationships/notesMaster" Target="/ppt/notesMasters/notesMaster1.xml" Id="R66d87c68bc6747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Based on the supplied U1 problem statement. Team identity is 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Industry Problem Statements - 2026.pdf, U1. No cost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ETT source: https://github.com/zhouhaoyi/ETDataset. The temperature model is separate from the synthetic outage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models/metrics.json generated by src/train.py. ETT test n=3446, synthetic test n=2556. Synthetic event prevalence 43.23%. Results do not establish real-world outage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configuration: https://bob.ibm.com/docs/ide/configuration/mcp/mcp-in-bob. Signed-in IBM Bob UI verification is a separate pending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docs/model-card.md. This is a proposed validation plan, not completed field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e96bb8b8a42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f2e435a65844ee" /><Relationship Type="http://schemas.openxmlformats.org/officeDocument/2006/relationships/slideLayout" Target="/ppt/slideLayouts/slideLayout1.xml" Id="Rca122bc042f641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122bc042f641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1429a3dfe4be0" /><Relationship Type="http://schemas.openxmlformats.org/officeDocument/2006/relationships/notesSlide" Target="/ppt/notesSlides/notesSlide1.xml" Id="R253c2bf9789d43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f09b9f23d4c14" /><Relationship Type="http://schemas.openxmlformats.org/officeDocument/2006/relationships/notesSlide" Target="/ppt/notesSlides/notesSlide2.xml" Id="Ra8e01f7800ed4a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d965295054f75" /><Relationship Type="http://schemas.openxmlformats.org/officeDocument/2006/relationships/notesSlide" Target="/ppt/notesSlides/notesSlide3.xml" Id="R84d6bf1773ca4e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329728b0849d6" /><Relationship Type="http://schemas.openxmlformats.org/officeDocument/2006/relationships/notesSlide" Target="/ppt/notesSlides/notesSlide4.xml" Id="R436e45ab52a940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02d9698954195" /><Relationship Type="http://schemas.openxmlformats.org/officeDocument/2006/relationships/notesSlide" Target="/ppt/notesSlides/notesSlide5.xml" Id="R9b3b878a7de949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e9526a585d40f4" /><Relationship Type="http://schemas.openxmlformats.org/officeDocument/2006/relationships/notesSlide" Target="/ppt/notesSlides/notesSlide6.xml" Id="R2a1b7807110a45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FE620-E203-4AEC-A386-EBD2BAE3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GridWatch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CC09F-08C2-44C9-A22E-DBD821B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FDF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DFDD"/>
                </a:solidFill>
                <a:latin typeface="Arial"/>
                <a:ea typeface="Arial"/>
                <a:cs typeface="Arial"/>
              </a:rPr>
              <a:t>Power outage prediction &amp; grid equipment failure advisor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BFDF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DFDD"/>
                </a:solidFill>
                <a:latin typeface="Arial"/>
                <a:ea typeface="Arial"/>
                <a:cs typeface="Arial"/>
              </a:rPr>
              <a:t>U1 / IBM Bobathon 2026</a:t>
            </a:r>
          </a:p>
          <a:p xmlns:a="http://schemas.openxmlformats.org/drawingml/2006/main">
            <a:pPr>
              <a:defRPr sz="2175" b="0">
                <a:solidFill>
                  <a:srgbClr val="BFDFD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FDFDD"/>
                </a:solidFill>
                <a:latin typeface="Arial"/>
                <a:ea typeface="Arial"/>
                <a:cs typeface="Arial"/>
              </a:rPr>
              <a:t>Working local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B8E5E8-61A5-42FF-9713-35589108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70E0C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70E0C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2774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E4190A-501F-4321-BB74-A659A455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C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3D"/>
                </a:solidFill>
                <a:latin typeface="Arial"/>
                <a:ea typeface="Arial"/>
                <a:cs typeface="Arial"/>
              </a:rPr>
              <a:t>The operator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C0C54-05D1-484D-82AA-8EB25870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Which asset needs attention before the next outage?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Sensor condition and weather inform likelihood.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Customer exposure and critical sites inform priority.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Crew skills and shift capacity constrain the response.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2C15AC-ECCC-4632-BEAF-56F9BDFE6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0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94465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D8BE31-C214-45FC-BF96-774B6FF8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C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3D"/>
                </a:solidFill>
                <a:latin typeface="Arial"/>
                <a:ea typeface="Arial"/>
                <a:cs typeface="Arial"/>
              </a:rPr>
              <a:t>Prediction and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0CA06-C17E-441F-A784-2EF3E957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Real ETT observations train a 24-hour oil-temperature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A separate simulator trains the failure classifier.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The advisor combines risk with fictional grid impact.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The planner proposes jobs and crew staging locations.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693883-AE39-4253-ADB4-000BADA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0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53763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D1F30A-DC24-470E-AB15-DD99DDA5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C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3D"/>
                </a:solidFill>
                <a:latin typeface="Arial"/>
                <a:ea typeface="Arial"/>
                <a:cs typeface="Arial"/>
              </a:rPr>
              <a:t>Measured holdout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6605B-6FAD-44DC-A4D4-16FAAB99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Real temperature forecast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1.63°C MAE versus 1.71°C persistence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Synthetic failure classifier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0.772 average precision versus 0.512 threshold baseline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Both benchmarks use later-time test periods.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9801EA-F96E-495B-8ADD-2FB1B5F2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0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894634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E9747-D4CC-42F9-B379-107C63F1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C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3D"/>
                </a:solidFill>
                <a:latin typeface="Arial"/>
                <a:ea typeface="Arial"/>
                <a:cs typeface="Arial"/>
              </a:rPr>
              <a:t>IBM Bob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34D3C5-7BCA-4A9C-889B-36B8C48E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Bob calls the local GridWatch MCP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assess_grid_risk returns probabilities, evidence and crew plans.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get_model_evaluation returns the measured benchmarks.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Bob can produce a brief grounded in these tool results.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5A648-1D89-4EE5-A7B7-46CCD065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0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24283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9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EF8A4-8A50-42EA-87E2-EC93FDC0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02C3D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02C3D"/>
                </a:solidFill>
                <a:latin typeface="Arial"/>
                <a:ea typeface="Arial"/>
                <a:cs typeface="Arial"/>
              </a:rPr>
              <a:t>Field validation and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E66AB-2116-4456-B013-A49343CD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477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The prototype makes priorities and resource gaps inspectable.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Next: obtain timestamped utility failures and archived forecasts.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Validate on later periods and unseen equipment.</a:t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Measure false alerts, lead time and recall at a crew budget.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294757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94757"/>
                </a:solidFill>
                <a:latin typeface="Arial"/>
                <a:ea typeface="Arial"/>
                <a:cs typeface="Arial"/>
              </a:rPr>
              <a:t>No live dispatch, validated outage accuracy or savings are claimed.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CA926-DDED-4149-83B6-6EBD82D2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8707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05855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2026-09-13T18:03:08.9230000Z</dcterms:created>
  <dcterms:modified xsi:type="dcterms:W3CDTF">2026-09-13T18:03:08.9230000Z</dcterms:modified>
</coreProperties>
</file>