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t>GridWatch is a local U1 prototype. It helps an operator examine equipment risk, compare weather scenarios and prepare a maintenance plan. The substation image is an AI-generated illustration of a fictional facility, not a monitored asset.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t>The supplied U1 problem statement asks for a solution that combines asset-health sensors, weather forecasts and historical incidents, then ranks equipment and areas by grid impact and creates a maintenance and crew pre-positioning plan. The photo is an AI-generated illustration.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t>The screenshot shows the real running GridWatch interface. An operator edits wind, rainfall and crew availability, then runs the scenario. The backend scores twelve fictional assets, calculates impact-weighted priority and produces a capacity-constrained maintenance queue. The screenshot itself is captured from the local prototype.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t>The real ETTh1 track forecasts oil temperature 24 hours ahead. It has no outage labels. The synthetic track creates failure labels so the complete advisor workflow can be demonstrated. The browser server and the MCP server call the same engine.py implementation. This separation prevents us from presenting temperature accuracy as outage accuracy.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t>These values were verified in the running application. At the storm scenario, three crews leave six jobs unassigned. With six crews, the same risk state leaves one unassigned job. Crew skills and an eight-hour shift constrain assignment. The result is a proposed queue, not a dispatch instruction.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t>IBM Bob is not the prediction model. The local MCP server exposes the already-tested analysis engine. Bob can call assess_grid_risk and get_model_evaluation, then write a brief grounded in tool output. Protocol tests passed. A signed-in Bob application demonstration is still a separate verification step. Source: https://bob.ibm.com/docs/ide/configuration/mcp/mcp-in-bob.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t>Real ETTh1 test MAE is 1.6345°C versus 1.7144°C persistence. Synthetic failure test accuracy is 72.03%, versus 56.77% majority-class accuracy; recall is 80.72%. The synthetic test prevalence is 43.23%, so these are not rare-event utility estimates. Source: models/metrics.json and the saved accuracy calculation.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t>The repository currently has the project build, documentation and technical verification. Team identity fields are intentionally pending. The next technical step is a real data contract: asset histories, sensor timestamps, maintenance and failure events, forecast-issued times, topology version and customer impact. Field validation should measure false alerts, lead time, calibration and recall at a crew budget. The engineer image is an AI-generated illustration.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713"/>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9F3351A-0F13-4FC1-B698-7FF10DE8F8B1}"/>
              </a:ext>
            </a:extLst>
          </p:cNvPr>
          <p:cNvSpPr>
            <a:spLocks noGrp="1"/>
          </p:cNvSpPr>
          <p:nvPr/>
        </p:nvSpPr>
        <p:spPr>
          <a:xfrm>
            <a:off x="609600" y="361950"/>
            <a:ext cx="2000250" cy="171450"/>
          </a:xfrm>
          <a:prstGeom prst="rect">
            <a:avLst/>
          </a:prstGeom>
          <a:noFill/>
          <a:ln w="0">
            <a:noFill/>
          </a:ln>
        </p:spPr>
        <p:txBody>
          <a:bodyPr>
            <a:noAutofit/>
          </a:bodyPr>
          <a:lstStyle/>
          <a:p>
            <a:pPr>
              <a:defRPr sz="825" b="1">
                <a:solidFill>
                  <a:srgbClr val="CDEB85"/>
                </a:solidFill>
                <a:latin typeface="Arial"/>
                <a:ea typeface="Arial"/>
                <a:cs typeface="Arial"/>
              </a:defRPr>
            </a:pPr>
            <a:r>
              <a:rPr sz="825" b="1">
                <a:solidFill>
                  <a:srgbClr val="CDEB85"/>
                </a:solidFill>
                <a:latin typeface="Arial"/>
                <a:ea typeface="Arial"/>
                <a:cs typeface="Arial"/>
              </a:rPr>
              <a:t>IBM BOBATHON 2026</a:t>
            </a:r>
          </a:p>
        </p:txBody>
      </p:sp>
      <p:sp>
        <p:nvSpPr>
          <p:cNvPr id="2" name="Rectangle 1">
            <a:extLst>
              <a:ext uri="{FF2B5EF4-FFF2-40B4-BE49-F238E27FC236}">
                <a16:creationId xmlns:a16="http://schemas.microsoft.com/office/drawing/2014/main" id="{6812AFCA-C815-4812-AD2B-6A25C799068C}"/>
              </a:ext>
            </a:extLst>
          </p:cNvPr>
          <p:cNvSpPr>
            <a:spLocks noGrp="1"/>
          </p:cNvSpPr>
          <p:nvPr/>
        </p:nvSpPr>
        <p:spPr>
          <a:xfrm>
            <a:off x="609600" y="704850"/>
            <a:ext cx="10287000" cy="590550"/>
          </a:xfrm>
          <a:prstGeom prst="rect">
            <a:avLst/>
          </a:prstGeom>
          <a:noFill/>
          <a:ln w="0">
            <a:noFill/>
          </a:ln>
        </p:spPr>
        <p:txBody>
          <a:bodyPr>
            <a:noAutofit/>
          </a:bodyPr>
          <a:lstStyle/>
          <a:p>
            <a:endParaRPr/>
          </a:p>
        </p:txBody>
      </p:sp>
      <p:sp>
        <p:nvSpPr>
          <p:cNvPr id="3" name="Rectangle 2">
            <a:extLst>
              <a:ext uri="{FF2B5EF4-FFF2-40B4-BE49-F238E27FC236}">
                <a16:creationId xmlns:a16="http://schemas.microsoft.com/office/drawing/2014/main" id="{DCDBACAA-CB9E-4858-A30D-89DBABBBBCF5}"/>
              </a:ext>
            </a:extLst>
          </p:cNvPr>
          <p:cNvSpPr>
            <a:spLocks noGrp="1"/>
          </p:cNvSpPr>
          <p:nvPr/>
        </p:nvSpPr>
        <p:spPr>
          <a:xfrm>
            <a:off x="609600" y="6419850"/>
            <a:ext cx="4572000" cy="171450"/>
          </a:xfrm>
          <a:prstGeom prst="rect">
            <a:avLst/>
          </a:prstGeom>
          <a:noFill/>
          <a:ln w="0">
            <a:noFill/>
          </a:ln>
        </p:spPr>
        <p:txBody>
          <a:bodyPr>
            <a:noAutofit/>
          </a:bodyPr>
          <a:lstStyle/>
          <a:p>
            <a:pPr>
              <a:defRPr sz="825" b="1">
                <a:solidFill>
                  <a:srgbClr val="A9B5A5"/>
                </a:solidFill>
                <a:latin typeface="Arial"/>
                <a:ea typeface="Arial"/>
                <a:cs typeface="Arial"/>
              </a:defRPr>
            </a:pPr>
            <a:r>
              <a:rPr sz="825" b="1">
                <a:solidFill>
                  <a:srgbClr val="A9B5A5"/>
                </a:solidFill>
                <a:latin typeface="Arial"/>
                <a:ea typeface="Arial"/>
                <a:cs typeface="Arial"/>
              </a:rPr>
              <a:t>GRIDWATCH / U1</a:t>
            </a:r>
          </a:p>
        </p:txBody>
      </p:sp>
      <p:sp>
        <p:nvSpPr>
          <p:cNvPr id="4" name="Rectangle 3">
            <a:extLst>
              <a:ext uri="{FF2B5EF4-FFF2-40B4-BE49-F238E27FC236}">
                <a16:creationId xmlns:a16="http://schemas.microsoft.com/office/drawing/2014/main" id="{6E85D238-E129-48FB-A839-66275EE384A6}"/>
              </a:ext>
            </a:extLst>
          </p:cNvPr>
          <p:cNvSpPr>
            <a:spLocks noGrp="1"/>
          </p:cNvSpPr>
          <p:nvPr/>
        </p:nvSpPr>
        <p:spPr>
          <a:xfrm>
            <a:off x="11239500" y="6419850"/>
            <a:ext cx="333375" cy="171450"/>
          </a:xfrm>
          <a:prstGeom prst="rect">
            <a:avLst/>
          </a:prstGeom>
          <a:noFill/>
          <a:ln w="0">
            <a:noFill/>
          </a:ln>
        </p:spPr>
        <p:txBody>
          <a:bodyPr>
            <a:noAutofit/>
          </a:bodyPr>
          <a:lstStyle/>
          <a:p>
            <a:pPr>
              <a:defRPr sz="825" b="1">
                <a:solidFill>
                  <a:srgbClr val="CDEB85"/>
                </a:solidFill>
                <a:latin typeface="Arial"/>
                <a:ea typeface="Arial"/>
                <a:cs typeface="Arial"/>
              </a:defRPr>
            </a:pPr>
            <a:r>
              <a:rPr sz="825" b="1">
                <a:solidFill>
                  <a:srgbClr val="CDEB85"/>
                </a:solidFill>
                <a:latin typeface="Arial"/>
                <a:ea typeface="Arial"/>
                <a:cs typeface="Arial"/>
              </a:rPr>
              <a:t>01</a:t>
            </a:r>
          </a:p>
        </p:txBody>
      </p:sp>
      <p:pic>
        <p:nvPicPr>
          <p:cNvPr id="15" name="Picture 14"/>
          <p:cNvPicPr>
            <a:picLocks noChangeAspect="1"/>
          </p:cNvPicPr>
          <p:nvPr/>
        </p:nvPicPr>
        <p:blipFill>
          <a:blip r:embed="rId3"/>
          <a:srcRect l="20833" r="20833"/>
          <a:stretch>
            <a:fillRect/>
          </a:stretch>
        </p:blipFill>
        <p:spPr>
          <a:xfrm>
            <a:off x="6191250" y="0"/>
            <a:ext cx="6000750" cy="6858000"/>
          </a:xfrm>
          <a:prstGeom prst="roundRect">
            <a:avLst>
              <a:gd name="adj" fmla="val 1905"/>
            </a:avLst>
          </a:prstGeom>
        </p:spPr>
      </p:pic>
      <p:sp>
        <p:nvSpPr>
          <p:cNvPr id="6" name="Rectangle 5">
            <a:extLst>
              <a:ext uri="{FF2B5EF4-FFF2-40B4-BE49-F238E27FC236}">
                <a16:creationId xmlns:a16="http://schemas.microsoft.com/office/drawing/2014/main" id="{66AD5492-37F6-4A70-BFAA-51DEA0BC45AC}"/>
              </a:ext>
            </a:extLst>
          </p:cNvPr>
          <p:cNvSpPr>
            <a:spLocks noGrp="1"/>
          </p:cNvSpPr>
          <p:nvPr/>
        </p:nvSpPr>
        <p:spPr>
          <a:xfrm>
            <a:off x="0" y="0"/>
            <a:ext cx="6572250" cy="6858000"/>
          </a:xfrm>
          <a:prstGeom prst="rect">
            <a:avLst/>
          </a:prstGeom>
          <a:solidFill>
            <a:srgbClr val="111713"/>
          </a:solidFill>
          <a:ln w="0">
            <a:solidFill>
              <a:srgbClr val="111713"/>
            </a:solidFill>
          </a:ln>
        </p:spPr>
        <p:txBody>
          <a:bodyPr/>
          <a:lstStyle/>
          <a:p>
            <a:endParaRPr lang="en-IN"/>
          </a:p>
        </p:txBody>
      </p:sp>
      <p:sp>
        <p:nvSpPr>
          <p:cNvPr id="7" name="Rectangle 6">
            <a:extLst>
              <a:ext uri="{FF2B5EF4-FFF2-40B4-BE49-F238E27FC236}">
                <a16:creationId xmlns:a16="http://schemas.microsoft.com/office/drawing/2014/main" id="{648E43A6-C1A2-4DC9-8A47-04FF72192169}"/>
              </a:ext>
            </a:extLst>
          </p:cNvPr>
          <p:cNvSpPr>
            <a:spLocks noGrp="1"/>
          </p:cNvSpPr>
          <p:nvPr/>
        </p:nvSpPr>
        <p:spPr>
          <a:xfrm>
            <a:off x="609600" y="533400"/>
            <a:ext cx="2857500" cy="209550"/>
          </a:xfrm>
          <a:prstGeom prst="rect">
            <a:avLst/>
          </a:prstGeom>
          <a:noFill/>
          <a:ln w="0">
            <a:noFill/>
          </a:ln>
        </p:spPr>
        <p:txBody>
          <a:bodyPr>
            <a:noAutofit/>
          </a:bodyPr>
          <a:lstStyle/>
          <a:p>
            <a:pPr>
              <a:defRPr sz="975" b="1">
                <a:solidFill>
                  <a:srgbClr val="CDEB85"/>
                </a:solidFill>
                <a:latin typeface="Arial"/>
                <a:ea typeface="Arial"/>
                <a:cs typeface="Arial"/>
              </a:defRPr>
            </a:pPr>
            <a:r>
              <a:rPr sz="975" b="1">
                <a:solidFill>
                  <a:srgbClr val="CDEB85"/>
                </a:solidFill>
                <a:latin typeface="Arial"/>
                <a:ea typeface="Arial"/>
                <a:cs typeface="Arial"/>
              </a:rPr>
              <a:t>GRIDWATCH</a:t>
            </a:r>
          </a:p>
        </p:txBody>
      </p:sp>
      <p:sp>
        <p:nvSpPr>
          <p:cNvPr id="8" name="Rectangle 7">
            <a:extLst>
              <a:ext uri="{FF2B5EF4-FFF2-40B4-BE49-F238E27FC236}">
                <a16:creationId xmlns:a16="http://schemas.microsoft.com/office/drawing/2014/main" id="{380A7053-1748-4472-BEAA-B5ED324CC78F}"/>
              </a:ext>
            </a:extLst>
          </p:cNvPr>
          <p:cNvSpPr>
            <a:spLocks noGrp="1"/>
          </p:cNvSpPr>
          <p:nvPr/>
        </p:nvSpPr>
        <p:spPr>
          <a:xfrm>
            <a:off x="609600" y="1428750"/>
            <a:ext cx="5524500" cy="1619250"/>
          </a:xfrm>
          <a:prstGeom prst="rect">
            <a:avLst/>
          </a:prstGeom>
          <a:noFill/>
          <a:ln w="0">
            <a:noFill/>
          </a:ln>
        </p:spPr>
        <p:txBody>
          <a:bodyPr>
            <a:noAutofit/>
          </a:bodyPr>
          <a:lstStyle/>
          <a:p>
            <a:pPr>
              <a:defRPr sz="4050" b="1">
                <a:solidFill>
                  <a:srgbClr val="F3F6EF"/>
                </a:solidFill>
                <a:latin typeface="Arial"/>
                <a:ea typeface="Arial"/>
                <a:cs typeface="Arial"/>
              </a:defRPr>
            </a:pPr>
            <a:r>
              <a:rPr sz="4050" b="1">
                <a:solidFill>
                  <a:srgbClr val="F3F6EF"/>
                </a:solidFill>
                <a:latin typeface="Arial"/>
                <a:ea typeface="Arial"/>
                <a:cs typeface="Arial"/>
              </a:rPr>
              <a:t>Power outage prediction</a:t>
            </a:r>
          </a:p>
          <a:p>
            <a:pPr>
              <a:defRPr sz="4050" b="1">
                <a:solidFill>
                  <a:srgbClr val="F3F6EF"/>
                </a:solidFill>
                <a:latin typeface="Arial"/>
                <a:ea typeface="Arial"/>
                <a:cs typeface="Arial"/>
              </a:defRPr>
            </a:pPr>
            <a:r>
              <a:rPr sz="4050" b="1">
                <a:solidFill>
                  <a:srgbClr val="F3F6EF"/>
                </a:solidFill>
                <a:latin typeface="Arial"/>
                <a:ea typeface="Arial"/>
                <a:cs typeface="Arial"/>
              </a:rPr>
              <a:t>&amp; equipment failure advisor</a:t>
            </a:r>
          </a:p>
        </p:txBody>
      </p:sp>
      <p:sp>
        <p:nvSpPr>
          <p:cNvPr id="9" name="Rectangle 8">
            <a:extLst>
              <a:ext uri="{FF2B5EF4-FFF2-40B4-BE49-F238E27FC236}">
                <a16:creationId xmlns:a16="http://schemas.microsoft.com/office/drawing/2014/main" id="{6A2051A1-F325-4107-88DA-5AD68DC597E1}"/>
              </a:ext>
            </a:extLst>
          </p:cNvPr>
          <p:cNvSpPr>
            <a:spLocks noGrp="1"/>
          </p:cNvSpPr>
          <p:nvPr/>
        </p:nvSpPr>
        <p:spPr>
          <a:xfrm>
            <a:off x="638175" y="4171949"/>
            <a:ext cx="4095750" cy="1619250"/>
          </a:xfrm>
          <a:prstGeom prst="rect">
            <a:avLst/>
          </a:prstGeom>
          <a:noFill/>
          <a:ln w="0">
            <a:noFill/>
          </a:ln>
        </p:spPr>
        <p:txBody>
          <a:bodyPr>
            <a:noAutofit/>
          </a:bodyPr>
          <a:lstStyle/>
          <a:p>
            <a:pPr>
              <a:defRPr sz="1425" b="0">
                <a:solidFill>
                  <a:srgbClr val="A9B5A5"/>
                </a:solidFill>
                <a:latin typeface="Arial"/>
                <a:ea typeface="Arial"/>
                <a:cs typeface="Arial"/>
              </a:defRPr>
            </a:pPr>
            <a:r>
              <a:rPr sz="1425" b="0" dirty="0">
                <a:solidFill>
                  <a:srgbClr val="A9B5A5"/>
                </a:solidFill>
                <a:latin typeface="Arial"/>
                <a:ea typeface="Arial"/>
                <a:cs typeface="Arial"/>
              </a:rPr>
              <a:t>A working prototype for U1</a:t>
            </a:r>
            <a:endParaRPr lang="en-IN" sz="1425" b="0" dirty="0">
              <a:solidFill>
                <a:srgbClr val="A9B5A5"/>
              </a:solidFill>
              <a:latin typeface="Arial"/>
              <a:ea typeface="Arial"/>
              <a:cs typeface="Arial"/>
            </a:endParaRPr>
          </a:p>
          <a:p>
            <a:pPr>
              <a:defRPr sz="1425" b="0">
                <a:solidFill>
                  <a:srgbClr val="A9B5A5"/>
                </a:solidFill>
                <a:latin typeface="Arial"/>
                <a:ea typeface="Arial"/>
                <a:cs typeface="Arial"/>
              </a:defRPr>
            </a:pPr>
            <a:endParaRPr sz="1425" b="0" dirty="0">
              <a:solidFill>
                <a:srgbClr val="A9B5A5"/>
              </a:solidFill>
              <a:latin typeface="Arial"/>
              <a:ea typeface="Arial"/>
              <a:cs typeface="Arial"/>
            </a:endParaRPr>
          </a:p>
          <a:p>
            <a:pPr>
              <a:defRPr sz="1425" b="0">
                <a:solidFill>
                  <a:srgbClr val="A9B5A5"/>
                </a:solidFill>
                <a:latin typeface="Arial"/>
                <a:ea typeface="Arial"/>
                <a:cs typeface="Arial"/>
              </a:defRPr>
            </a:pPr>
            <a:r>
              <a:rPr sz="1425" b="0" dirty="0">
                <a:solidFill>
                  <a:srgbClr val="A9B5A5"/>
                </a:solidFill>
                <a:latin typeface="Arial"/>
                <a:ea typeface="Arial"/>
                <a:cs typeface="Arial"/>
              </a:rPr>
              <a:t>Track: AI</a:t>
            </a:r>
            <a:endParaRPr lang="en-IN" sz="1425" b="0" dirty="0">
              <a:solidFill>
                <a:srgbClr val="A9B5A5"/>
              </a:solidFill>
              <a:latin typeface="Arial"/>
              <a:ea typeface="Arial"/>
              <a:cs typeface="Arial"/>
            </a:endParaRPr>
          </a:p>
          <a:p>
            <a:pPr>
              <a:defRPr sz="1425" b="0">
                <a:solidFill>
                  <a:srgbClr val="A9B5A5"/>
                </a:solidFill>
                <a:latin typeface="Arial"/>
                <a:ea typeface="Arial"/>
                <a:cs typeface="Arial"/>
              </a:defRPr>
            </a:pPr>
            <a:r>
              <a:rPr sz="1425" b="0" dirty="0">
                <a:solidFill>
                  <a:srgbClr val="A9B5A5"/>
                </a:solidFill>
                <a:latin typeface="Arial"/>
                <a:ea typeface="Arial"/>
                <a:cs typeface="Arial"/>
              </a:rPr>
              <a:t>  </a:t>
            </a:r>
            <a:endParaRPr lang="en-IN" sz="1425" b="0" dirty="0">
              <a:solidFill>
                <a:srgbClr val="A9B5A5"/>
              </a:solidFill>
              <a:latin typeface="Arial"/>
              <a:ea typeface="Arial"/>
              <a:cs typeface="Arial"/>
            </a:endParaRPr>
          </a:p>
          <a:p>
            <a:pPr>
              <a:defRPr sz="1425" b="0">
                <a:solidFill>
                  <a:srgbClr val="A9B5A5"/>
                </a:solidFill>
                <a:latin typeface="Arial"/>
                <a:ea typeface="Arial"/>
                <a:cs typeface="Arial"/>
              </a:defRPr>
            </a:pPr>
            <a:r>
              <a:rPr sz="1425" b="0" dirty="0">
                <a:solidFill>
                  <a:srgbClr val="A9B5A5"/>
                </a:solidFill>
                <a:latin typeface="Arial"/>
                <a:ea typeface="Arial"/>
                <a:cs typeface="Arial"/>
              </a:rPr>
              <a:t>Team </a:t>
            </a:r>
            <a:r>
              <a:rPr lang="en-IN" sz="1425" dirty="0">
                <a:solidFill>
                  <a:srgbClr val="A9B5A5"/>
                </a:solidFill>
                <a:latin typeface="Arial"/>
                <a:ea typeface="Arial"/>
                <a:cs typeface="Arial"/>
              </a:rPr>
              <a:t>Name : GridWatch</a:t>
            </a:r>
            <a:endParaRPr lang="en-IN" sz="1425" b="0" dirty="0">
              <a:solidFill>
                <a:srgbClr val="A9B5A5"/>
              </a:solidFill>
              <a:latin typeface="Arial"/>
              <a:ea typeface="Arial"/>
              <a:cs typeface="Arial"/>
            </a:endParaRPr>
          </a:p>
        </p:txBody>
      </p:sp>
      <p:sp>
        <p:nvSpPr>
          <p:cNvPr id="10" name="Rectangle 9">
            <a:extLst>
              <a:ext uri="{FF2B5EF4-FFF2-40B4-BE49-F238E27FC236}">
                <a16:creationId xmlns:a16="http://schemas.microsoft.com/office/drawing/2014/main" id="{966F9428-86ED-429A-96F9-7FE15969BD79}"/>
              </a:ext>
            </a:extLst>
          </p:cNvPr>
          <p:cNvSpPr>
            <a:spLocks noGrp="1"/>
          </p:cNvSpPr>
          <p:nvPr/>
        </p:nvSpPr>
        <p:spPr>
          <a:xfrm>
            <a:off x="638175" y="5572125"/>
            <a:ext cx="4095750" cy="285750"/>
          </a:xfrm>
          <a:prstGeom prst="rect">
            <a:avLst/>
          </a:prstGeom>
          <a:noFill/>
          <a:ln w="0">
            <a:noFill/>
          </a:ln>
        </p:spPr>
        <p:txBody>
          <a:bodyPr>
            <a:noAutofit/>
          </a:bodyPr>
          <a:lstStyle/>
          <a:p>
            <a:pPr>
              <a:defRPr sz="1275" b="1">
                <a:solidFill>
                  <a:srgbClr val="CDEB85"/>
                </a:solidFill>
                <a:latin typeface="Arial"/>
                <a:ea typeface="Arial"/>
                <a:cs typeface="Arial"/>
              </a:defRPr>
            </a:pPr>
            <a:endParaRPr sz="1275" b="1" dirty="0">
              <a:solidFill>
                <a:srgbClr val="CDEB85"/>
              </a:solidFill>
              <a:latin typeface="Arial"/>
              <a:ea typeface="Arial"/>
              <a:cs typeface="Arial"/>
            </a:endParaRPr>
          </a:p>
        </p:txBody>
      </p:sp>
    </p:spTree>
    <p:extLst>
      <p:ext uri="{BB962C8B-B14F-4D97-AF65-F5344CB8AC3E}">
        <p14:creationId xmlns:p14="http://schemas.microsoft.com/office/powerpoint/2010/main" val="692271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11713"/>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4CC06C8-1204-4124-8D67-092C610F0BA4}"/>
              </a:ext>
            </a:extLst>
          </p:cNvPr>
          <p:cNvSpPr>
            <a:spLocks noGrp="1"/>
          </p:cNvSpPr>
          <p:nvPr/>
        </p:nvSpPr>
        <p:spPr>
          <a:xfrm>
            <a:off x="609600" y="361950"/>
            <a:ext cx="2000250" cy="171450"/>
          </a:xfrm>
          <a:prstGeom prst="rect">
            <a:avLst/>
          </a:prstGeom>
          <a:noFill/>
          <a:ln w="0">
            <a:noFill/>
          </a:ln>
        </p:spPr>
        <p:txBody>
          <a:bodyPr>
            <a:noAutofit/>
          </a:bodyPr>
          <a:lstStyle/>
          <a:p>
            <a:pPr>
              <a:defRPr sz="825" b="1">
                <a:solidFill>
                  <a:srgbClr val="CDEB85"/>
                </a:solidFill>
                <a:latin typeface="Arial"/>
                <a:ea typeface="Arial"/>
                <a:cs typeface="Arial"/>
              </a:defRPr>
            </a:pPr>
            <a:r>
              <a:rPr sz="825" b="1">
                <a:solidFill>
                  <a:srgbClr val="CDEB85"/>
                </a:solidFill>
                <a:latin typeface="Arial"/>
                <a:ea typeface="Arial"/>
                <a:cs typeface="Arial"/>
              </a:rPr>
              <a:t>IBM BOBATHON 2026</a:t>
            </a:r>
          </a:p>
        </p:txBody>
      </p:sp>
      <p:sp>
        <p:nvSpPr>
          <p:cNvPr id="2" name="Rectangle 1">
            <a:extLst>
              <a:ext uri="{FF2B5EF4-FFF2-40B4-BE49-F238E27FC236}">
                <a16:creationId xmlns:a16="http://schemas.microsoft.com/office/drawing/2014/main" id="{0C9BCFE7-310A-4968-8C8B-496DF7DBE840}"/>
              </a:ext>
            </a:extLst>
          </p:cNvPr>
          <p:cNvSpPr>
            <a:spLocks noGrp="1"/>
          </p:cNvSpPr>
          <p:nvPr/>
        </p:nvSpPr>
        <p:spPr>
          <a:xfrm>
            <a:off x="609600" y="704850"/>
            <a:ext cx="10287000" cy="590550"/>
          </a:xfrm>
          <a:prstGeom prst="rect">
            <a:avLst/>
          </a:prstGeom>
          <a:noFill/>
          <a:ln w="0">
            <a:noFill/>
          </a:ln>
        </p:spPr>
        <p:txBody>
          <a:bodyPr>
            <a:noAutofit/>
          </a:bodyPr>
          <a:lstStyle/>
          <a:p>
            <a:pPr>
              <a:defRPr sz="3150" b="1">
                <a:solidFill>
                  <a:srgbClr val="F3F6EF"/>
                </a:solidFill>
                <a:latin typeface="Arial"/>
                <a:ea typeface="Arial"/>
                <a:cs typeface="Arial"/>
              </a:defRPr>
            </a:pPr>
            <a:r>
              <a:rPr sz="3150" b="1">
                <a:solidFill>
                  <a:srgbClr val="F3F6EF"/>
                </a:solidFill>
                <a:latin typeface="Arial"/>
                <a:ea typeface="Arial"/>
                <a:cs typeface="Arial"/>
              </a:rPr>
              <a:t>The maintenance decision</a:t>
            </a:r>
          </a:p>
        </p:txBody>
      </p:sp>
      <p:sp>
        <p:nvSpPr>
          <p:cNvPr id="3" name="Rectangle 2">
            <a:extLst>
              <a:ext uri="{FF2B5EF4-FFF2-40B4-BE49-F238E27FC236}">
                <a16:creationId xmlns:a16="http://schemas.microsoft.com/office/drawing/2014/main" id="{8B352789-1B6A-4F27-919D-3D5D2211FADD}"/>
              </a:ext>
            </a:extLst>
          </p:cNvPr>
          <p:cNvSpPr>
            <a:spLocks noGrp="1"/>
          </p:cNvSpPr>
          <p:nvPr/>
        </p:nvSpPr>
        <p:spPr>
          <a:xfrm>
            <a:off x="628650" y="1343025"/>
            <a:ext cx="9334500" cy="285750"/>
          </a:xfrm>
          <a:prstGeom prst="rect">
            <a:avLst/>
          </a:prstGeom>
          <a:noFill/>
          <a:ln w="0">
            <a:noFill/>
          </a:ln>
        </p:spPr>
        <p:txBody>
          <a:bodyPr>
            <a:noAutofit/>
          </a:bodyPr>
          <a:lstStyle/>
          <a:p>
            <a:pPr>
              <a:defRPr sz="1200" b="0">
                <a:solidFill>
                  <a:srgbClr val="A9B5A5"/>
                </a:solidFill>
                <a:latin typeface="Arial"/>
                <a:ea typeface="Arial"/>
                <a:cs typeface="Arial"/>
              </a:defRPr>
            </a:pPr>
            <a:r>
              <a:rPr sz="1200" b="0">
                <a:solidFill>
                  <a:srgbClr val="A9B5A5"/>
                </a:solidFill>
                <a:latin typeface="Arial"/>
                <a:ea typeface="Arial"/>
                <a:cs typeface="Arial"/>
              </a:rPr>
              <a:t>A sensor warning does not explain which asset should be serviced first.</a:t>
            </a:r>
          </a:p>
        </p:txBody>
      </p:sp>
      <p:sp>
        <p:nvSpPr>
          <p:cNvPr id="4" name="Rectangle 3">
            <a:extLst>
              <a:ext uri="{FF2B5EF4-FFF2-40B4-BE49-F238E27FC236}">
                <a16:creationId xmlns:a16="http://schemas.microsoft.com/office/drawing/2014/main" id="{2CFF2003-0C13-4F8E-AE7B-14ABCFA0D4F2}"/>
              </a:ext>
            </a:extLst>
          </p:cNvPr>
          <p:cNvSpPr>
            <a:spLocks noGrp="1"/>
          </p:cNvSpPr>
          <p:nvPr/>
        </p:nvSpPr>
        <p:spPr>
          <a:xfrm>
            <a:off x="609600" y="6419850"/>
            <a:ext cx="4572000" cy="171450"/>
          </a:xfrm>
          <a:prstGeom prst="rect">
            <a:avLst/>
          </a:prstGeom>
          <a:noFill/>
          <a:ln w="0">
            <a:noFill/>
          </a:ln>
        </p:spPr>
        <p:txBody>
          <a:bodyPr>
            <a:noAutofit/>
          </a:bodyPr>
          <a:lstStyle/>
          <a:p>
            <a:pPr>
              <a:defRPr sz="825" b="1">
                <a:solidFill>
                  <a:srgbClr val="A9B5A5"/>
                </a:solidFill>
                <a:latin typeface="Arial"/>
                <a:ea typeface="Arial"/>
                <a:cs typeface="Arial"/>
              </a:defRPr>
            </a:pPr>
            <a:r>
              <a:rPr sz="825" b="1">
                <a:solidFill>
                  <a:srgbClr val="A9B5A5"/>
                </a:solidFill>
                <a:latin typeface="Arial"/>
                <a:ea typeface="Arial"/>
                <a:cs typeface="Arial"/>
              </a:rPr>
              <a:t>GRIDWATCH / U1</a:t>
            </a:r>
          </a:p>
        </p:txBody>
      </p:sp>
      <p:sp>
        <p:nvSpPr>
          <p:cNvPr id="5" name="Rectangle 4">
            <a:extLst>
              <a:ext uri="{FF2B5EF4-FFF2-40B4-BE49-F238E27FC236}">
                <a16:creationId xmlns:a16="http://schemas.microsoft.com/office/drawing/2014/main" id="{81B3B837-DAAB-47B9-A8E6-39192D23D3FE}"/>
              </a:ext>
            </a:extLst>
          </p:cNvPr>
          <p:cNvSpPr>
            <a:spLocks noGrp="1"/>
          </p:cNvSpPr>
          <p:nvPr/>
        </p:nvSpPr>
        <p:spPr>
          <a:xfrm>
            <a:off x="11239500" y="6419850"/>
            <a:ext cx="333375" cy="171450"/>
          </a:xfrm>
          <a:prstGeom prst="rect">
            <a:avLst/>
          </a:prstGeom>
          <a:noFill/>
          <a:ln w="0">
            <a:noFill/>
          </a:ln>
        </p:spPr>
        <p:txBody>
          <a:bodyPr>
            <a:noAutofit/>
          </a:bodyPr>
          <a:lstStyle/>
          <a:p>
            <a:pPr>
              <a:defRPr sz="825" b="1">
                <a:solidFill>
                  <a:srgbClr val="CDEB85"/>
                </a:solidFill>
                <a:latin typeface="Arial"/>
                <a:ea typeface="Arial"/>
                <a:cs typeface="Arial"/>
              </a:defRPr>
            </a:pPr>
            <a:r>
              <a:rPr sz="825" b="1">
                <a:solidFill>
                  <a:srgbClr val="CDEB85"/>
                </a:solidFill>
                <a:latin typeface="Arial"/>
                <a:ea typeface="Arial"/>
                <a:cs typeface="Arial"/>
              </a:rPr>
              <a:t>02</a:t>
            </a:r>
          </a:p>
        </p:txBody>
      </p:sp>
      <p:pic>
        <p:nvPicPr>
          <p:cNvPr id="23" name="Picture 22"/>
          <p:cNvPicPr>
            <a:picLocks noChangeAspect="1"/>
          </p:cNvPicPr>
          <p:nvPr/>
        </p:nvPicPr>
        <p:blipFill>
          <a:blip r:embed="rId3"/>
          <a:srcRect l="4545" r="4545"/>
          <a:stretch>
            <a:fillRect/>
          </a:stretch>
        </p:blipFill>
        <p:spPr>
          <a:xfrm>
            <a:off x="609600" y="2047875"/>
            <a:ext cx="4286250" cy="3143250"/>
          </a:xfrm>
          <a:prstGeom prst="roundRect">
            <a:avLst>
              <a:gd name="adj" fmla="val 3636"/>
            </a:avLst>
          </a:prstGeom>
        </p:spPr>
      </p:pic>
      <p:sp>
        <p:nvSpPr>
          <p:cNvPr id="7" name="Rectangle: Rounded Corners 6">
            <a:extLst>
              <a:ext uri="{FF2B5EF4-FFF2-40B4-BE49-F238E27FC236}">
                <a16:creationId xmlns:a16="http://schemas.microsoft.com/office/drawing/2014/main" id="{0C301A9A-21E1-408C-95D7-7032C74D1DD3}"/>
              </a:ext>
            </a:extLst>
          </p:cNvPr>
          <p:cNvSpPr>
            <a:spLocks noGrp="1"/>
          </p:cNvSpPr>
          <p:nvPr/>
        </p:nvSpPr>
        <p:spPr>
          <a:xfrm>
            <a:off x="5381625" y="2038350"/>
            <a:ext cx="6191250" cy="3162300"/>
          </a:xfrm>
          <a:prstGeom prst="roundRect">
            <a:avLst>
              <a:gd name="adj" fmla="val 3614"/>
            </a:avLst>
          </a:prstGeom>
          <a:solidFill>
            <a:srgbClr val="1E2820"/>
          </a:solidFill>
          <a:ln w="9525">
            <a:solidFill>
              <a:srgbClr val="445242"/>
            </a:solidFill>
          </a:ln>
        </p:spPr>
        <p:txBody>
          <a:bodyPr/>
          <a:lstStyle/>
          <a:p>
            <a:endParaRPr lang="en-IN"/>
          </a:p>
        </p:txBody>
      </p:sp>
      <p:sp>
        <p:nvSpPr>
          <p:cNvPr id="8" name="Rectangle 7">
            <a:extLst>
              <a:ext uri="{FF2B5EF4-FFF2-40B4-BE49-F238E27FC236}">
                <a16:creationId xmlns:a16="http://schemas.microsoft.com/office/drawing/2014/main" id="{C2ED3103-C4D7-4EEA-B37D-BECA05D6AD68}"/>
              </a:ext>
            </a:extLst>
          </p:cNvPr>
          <p:cNvSpPr>
            <a:spLocks noGrp="1"/>
          </p:cNvSpPr>
          <p:nvPr/>
        </p:nvSpPr>
        <p:spPr>
          <a:xfrm>
            <a:off x="5715000" y="2352675"/>
            <a:ext cx="2095500" cy="190500"/>
          </a:xfrm>
          <a:prstGeom prst="rect">
            <a:avLst/>
          </a:prstGeom>
          <a:noFill/>
          <a:ln w="0">
            <a:noFill/>
          </a:ln>
        </p:spPr>
        <p:txBody>
          <a:bodyPr>
            <a:noAutofit/>
          </a:bodyPr>
          <a:lstStyle/>
          <a:p>
            <a:pPr>
              <a:defRPr sz="825" b="1">
                <a:solidFill>
                  <a:srgbClr val="CDEB85"/>
                </a:solidFill>
                <a:latin typeface="Arial"/>
                <a:ea typeface="Arial"/>
                <a:cs typeface="Arial"/>
              </a:defRPr>
            </a:pPr>
            <a:r>
              <a:rPr sz="825" b="1">
                <a:solidFill>
                  <a:srgbClr val="CDEB85"/>
                </a:solidFill>
                <a:latin typeface="Arial"/>
                <a:ea typeface="Arial"/>
                <a:cs typeface="Arial"/>
              </a:rPr>
              <a:t>U1 / THE CHALLENGE</a:t>
            </a:r>
          </a:p>
        </p:txBody>
      </p:sp>
      <p:sp>
        <p:nvSpPr>
          <p:cNvPr id="9" name="Rectangle 8">
            <a:extLst>
              <a:ext uri="{FF2B5EF4-FFF2-40B4-BE49-F238E27FC236}">
                <a16:creationId xmlns:a16="http://schemas.microsoft.com/office/drawing/2014/main" id="{450F854C-658D-47A2-84C9-1AF517D43540}"/>
              </a:ext>
            </a:extLst>
          </p:cNvPr>
          <p:cNvSpPr>
            <a:spLocks noGrp="1"/>
          </p:cNvSpPr>
          <p:nvPr/>
        </p:nvSpPr>
        <p:spPr>
          <a:xfrm>
            <a:off x="5715000" y="2724150"/>
            <a:ext cx="4000500" cy="323850"/>
          </a:xfrm>
          <a:prstGeom prst="rect">
            <a:avLst/>
          </a:prstGeom>
          <a:noFill/>
          <a:ln w="0">
            <a:noFill/>
          </a:ln>
        </p:spPr>
        <p:txBody>
          <a:bodyPr>
            <a:noAutofit/>
          </a:bodyPr>
          <a:lstStyle/>
          <a:p>
            <a:pPr>
              <a:defRPr sz="1875" b="1">
                <a:solidFill>
                  <a:srgbClr val="F3F6EF"/>
                </a:solidFill>
                <a:latin typeface="Arial"/>
                <a:ea typeface="Arial"/>
                <a:cs typeface="Arial"/>
              </a:defRPr>
            </a:pPr>
            <a:r>
              <a:rPr sz="1875" b="1">
                <a:solidFill>
                  <a:srgbClr val="F3F6EF"/>
                </a:solidFill>
                <a:latin typeface="Arial"/>
                <a:ea typeface="Arial"/>
                <a:cs typeface="Arial"/>
              </a:rPr>
              <a:t>Operators need one view of:</a:t>
            </a:r>
          </a:p>
        </p:txBody>
      </p:sp>
      <p:sp>
        <p:nvSpPr>
          <p:cNvPr id="10" name="Rectangle 9">
            <a:extLst>
              <a:ext uri="{FF2B5EF4-FFF2-40B4-BE49-F238E27FC236}">
                <a16:creationId xmlns:a16="http://schemas.microsoft.com/office/drawing/2014/main" id="{CF2155C5-4EAF-453C-8D5C-B15A787D87D5}"/>
              </a:ext>
            </a:extLst>
          </p:cNvPr>
          <p:cNvSpPr>
            <a:spLocks noGrp="1"/>
          </p:cNvSpPr>
          <p:nvPr/>
        </p:nvSpPr>
        <p:spPr>
          <a:xfrm>
            <a:off x="5734050" y="3324225"/>
            <a:ext cx="333375" cy="190500"/>
          </a:xfrm>
          <a:prstGeom prst="rect">
            <a:avLst/>
          </a:prstGeom>
          <a:noFill/>
          <a:ln w="0">
            <a:noFill/>
          </a:ln>
        </p:spPr>
        <p:txBody>
          <a:bodyPr>
            <a:noAutofit/>
          </a:bodyPr>
          <a:lstStyle/>
          <a:p>
            <a:pPr>
              <a:defRPr sz="900" b="1">
                <a:solidFill>
                  <a:srgbClr val="CDEB85"/>
                </a:solidFill>
                <a:latin typeface="Arial"/>
                <a:ea typeface="Arial"/>
                <a:cs typeface="Arial"/>
              </a:defRPr>
            </a:pPr>
            <a:r>
              <a:rPr sz="900" b="1">
                <a:solidFill>
                  <a:srgbClr val="CDEB85"/>
                </a:solidFill>
                <a:latin typeface="Arial"/>
                <a:ea typeface="Arial"/>
                <a:cs typeface="Arial"/>
              </a:rPr>
              <a:t>01</a:t>
            </a:r>
          </a:p>
        </p:txBody>
      </p:sp>
      <p:sp>
        <p:nvSpPr>
          <p:cNvPr id="11" name="Rectangle 10">
            <a:extLst>
              <a:ext uri="{FF2B5EF4-FFF2-40B4-BE49-F238E27FC236}">
                <a16:creationId xmlns:a16="http://schemas.microsoft.com/office/drawing/2014/main" id="{FBEFDB27-36A7-46E1-B299-BF238A2EA827}"/>
              </a:ext>
            </a:extLst>
          </p:cNvPr>
          <p:cNvSpPr>
            <a:spLocks noGrp="1"/>
          </p:cNvSpPr>
          <p:nvPr/>
        </p:nvSpPr>
        <p:spPr>
          <a:xfrm>
            <a:off x="6191250" y="3286125"/>
            <a:ext cx="4762500" cy="304800"/>
          </a:xfrm>
          <a:prstGeom prst="rect">
            <a:avLst/>
          </a:prstGeom>
          <a:noFill/>
          <a:ln w="0">
            <a:noFill/>
          </a:ln>
        </p:spPr>
        <p:txBody>
          <a:bodyPr>
            <a:noAutofit/>
          </a:bodyPr>
          <a:lstStyle/>
          <a:p>
            <a:pPr>
              <a:defRPr sz="1200" b="0">
                <a:solidFill>
                  <a:srgbClr val="F3F6EF"/>
                </a:solidFill>
                <a:latin typeface="Arial"/>
                <a:ea typeface="Arial"/>
                <a:cs typeface="Arial"/>
              </a:defRPr>
            </a:pPr>
            <a:r>
              <a:rPr sz="1200" b="0">
                <a:solidFill>
                  <a:srgbClr val="F3F6EF"/>
                </a:solidFill>
                <a:latin typeface="Arial"/>
                <a:ea typeface="Arial"/>
                <a:cs typeface="Arial"/>
              </a:rPr>
              <a:t>Equipment condition: temperature, vibration, partial discharge and oil quality</a:t>
            </a:r>
          </a:p>
        </p:txBody>
      </p:sp>
      <p:sp>
        <p:nvSpPr>
          <p:cNvPr id="12" name="Rectangle 11">
            <a:extLst>
              <a:ext uri="{FF2B5EF4-FFF2-40B4-BE49-F238E27FC236}">
                <a16:creationId xmlns:a16="http://schemas.microsoft.com/office/drawing/2014/main" id="{FEF8C4CB-6AAE-46AC-BEAE-8F02D7CE816E}"/>
              </a:ext>
            </a:extLst>
          </p:cNvPr>
          <p:cNvSpPr>
            <a:spLocks noGrp="1"/>
          </p:cNvSpPr>
          <p:nvPr/>
        </p:nvSpPr>
        <p:spPr>
          <a:xfrm>
            <a:off x="5734050" y="3733800"/>
            <a:ext cx="333375" cy="190500"/>
          </a:xfrm>
          <a:prstGeom prst="rect">
            <a:avLst/>
          </a:prstGeom>
          <a:noFill/>
          <a:ln w="0">
            <a:noFill/>
          </a:ln>
        </p:spPr>
        <p:txBody>
          <a:bodyPr>
            <a:noAutofit/>
          </a:bodyPr>
          <a:lstStyle/>
          <a:p>
            <a:pPr>
              <a:defRPr sz="900" b="1">
                <a:solidFill>
                  <a:srgbClr val="CDEB85"/>
                </a:solidFill>
                <a:latin typeface="Arial"/>
                <a:ea typeface="Arial"/>
                <a:cs typeface="Arial"/>
              </a:defRPr>
            </a:pPr>
            <a:r>
              <a:rPr sz="900" b="1">
                <a:solidFill>
                  <a:srgbClr val="CDEB85"/>
                </a:solidFill>
                <a:latin typeface="Arial"/>
                <a:ea typeface="Arial"/>
                <a:cs typeface="Arial"/>
              </a:rPr>
              <a:t>02</a:t>
            </a:r>
          </a:p>
        </p:txBody>
      </p:sp>
      <p:sp>
        <p:nvSpPr>
          <p:cNvPr id="13" name="Rectangle 12">
            <a:extLst>
              <a:ext uri="{FF2B5EF4-FFF2-40B4-BE49-F238E27FC236}">
                <a16:creationId xmlns:a16="http://schemas.microsoft.com/office/drawing/2014/main" id="{E6291673-F89E-49D3-A2C6-8116F29B2305}"/>
              </a:ext>
            </a:extLst>
          </p:cNvPr>
          <p:cNvSpPr>
            <a:spLocks noGrp="1"/>
          </p:cNvSpPr>
          <p:nvPr/>
        </p:nvSpPr>
        <p:spPr>
          <a:xfrm>
            <a:off x="6191250" y="3695700"/>
            <a:ext cx="4762500" cy="304800"/>
          </a:xfrm>
          <a:prstGeom prst="rect">
            <a:avLst/>
          </a:prstGeom>
          <a:noFill/>
          <a:ln w="0">
            <a:noFill/>
          </a:ln>
        </p:spPr>
        <p:txBody>
          <a:bodyPr>
            <a:noAutofit/>
          </a:bodyPr>
          <a:lstStyle/>
          <a:p>
            <a:pPr>
              <a:defRPr sz="1200" b="0">
                <a:solidFill>
                  <a:srgbClr val="F3F6EF"/>
                </a:solidFill>
                <a:latin typeface="Arial"/>
                <a:ea typeface="Arial"/>
                <a:cs typeface="Arial"/>
              </a:defRPr>
            </a:pPr>
            <a:r>
              <a:rPr sz="1200" b="0">
                <a:solidFill>
                  <a:srgbClr val="F3F6EF"/>
                </a:solidFill>
                <a:latin typeface="Arial"/>
                <a:ea typeface="Arial"/>
                <a:cs typeface="Arial"/>
              </a:rPr>
              <a:t>Weather exposure: wind and rainfall can change near-term risk</a:t>
            </a:r>
          </a:p>
        </p:txBody>
      </p:sp>
      <p:sp>
        <p:nvSpPr>
          <p:cNvPr id="14" name="Rectangle 13">
            <a:extLst>
              <a:ext uri="{FF2B5EF4-FFF2-40B4-BE49-F238E27FC236}">
                <a16:creationId xmlns:a16="http://schemas.microsoft.com/office/drawing/2014/main" id="{AA1DF8C5-3EE6-4DEA-9AD1-D4B5268B327A}"/>
              </a:ext>
            </a:extLst>
          </p:cNvPr>
          <p:cNvSpPr>
            <a:spLocks noGrp="1"/>
          </p:cNvSpPr>
          <p:nvPr/>
        </p:nvSpPr>
        <p:spPr>
          <a:xfrm>
            <a:off x="5734050" y="4143375"/>
            <a:ext cx="333375" cy="190500"/>
          </a:xfrm>
          <a:prstGeom prst="rect">
            <a:avLst/>
          </a:prstGeom>
          <a:noFill/>
          <a:ln w="0">
            <a:noFill/>
          </a:ln>
        </p:spPr>
        <p:txBody>
          <a:bodyPr>
            <a:noAutofit/>
          </a:bodyPr>
          <a:lstStyle/>
          <a:p>
            <a:pPr>
              <a:defRPr sz="900" b="1">
                <a:solidFill>
                  <a:srgbClr val="CDEB85"/>
                </a:solidFill>
                <a:latin typeface="Arial"/>
                <a:ea typeface="Arial"/>
                <a:cs typeface="Arial"/>
              </a:defRPr>
            </a:pPr>
            <a:r>
              <a:rPr sz="900" b="1">
                <a:solidFill>
                  <a:srgbClr val="CDEB85"/>
                </a:solidFill>
                <a:latin typeface="Arial"/>
                <a:ea typeface="Arial"/>
                <a:cs typeface="Arial"/>
              </a:rPr>
              <a:t>03</a:t>
            </a:r>
          </a:p>
        </p:txBody>
      </p:sp>
      <p:sp>
        <p:nvSpPr>
          <p:cNvPr id="15" name="Rectangle 14">
            <a:extLst>
              <a:ext uri="{FF2B5EF4-FFF2-40B4-BE49-F238E27FC236}">
                <a16:creationId xmlns:a16="http://schemas.microsoft.com/office/drawing/2014/main" id="{B8EE0EC7-51DC-4283-85CC-7224F204E07A}"/>
              </a:ext>
            </a:extLst>
          </p:cNvPr>
          <p:cNvSpPr>
            <a:spLocks noGrp="1"/>
          </p:cNvSpPr>
          <p:nvPr/>
        </p:nvSpPr>
        <p:spPr>
          <a:xfrm>
            <a:off x="6191250" y="4105275"/>
            <a:ext cx="4762500" cy="304800"/>
          </a:xfrm>
          <a:prstGeom prst="rect">
            <a:avLst/>
          </a:prstGeom>
          <a:noFill/>
          <a:ln w="0">
            <a:noFill/>
          </a:ln>
        </p:spPr>
        <p:txBody>
          <a:bodyPr>
            <a:noAutofit/>
          </a:bodyPr>
          <a:lstStyle/>
          <a:p>
            <a:pPr>
              <a:defRPr sz="1200" b="0">
                <a:solidFill>
                  <a:srgbClr val="F3F6EF"/>
                </a:solidFill>
                <a:latin typeface="Arial"/>
                <a:ea typeface="Arial"/>
                <a:cs typeface="Arial"/>
              </a:defRPr>
            </a:pPr>
            <a:r>
              <a:rPr sz="1200" b="0">
                <a:solidFill>
                  <a:srgbClr val="F3F6EF"/>
                </a:solidFill>
                <a:latin typeface="Arial"/>
                <a:ea typeface="Arial"/>
                <a:cs typeface="Arial"/>
              </a:rPr>
              <a:t>Grid impact: customers, critical sites and backup coverage</a:t>
            </a:r>
          </a:p>
        </p:txBody>
      </p:sp>
      <p:sp>
        <p:nvSpPr>
          <p:cNvPr id="16" name="Rectangle 15">
            <a:extLst>
              <a:ext uri="{FF2B5EF4-FFF2-40B4-BE49-F238E27FC236}">
                <a16:creationId xmlns:a16="http://schemas.microsoft.com/office/drawing/2014/main" id="{4B81F7D7-9343-423D-8F40-F42F407D952D}"/>
              </a:ext>
            </a:extLst>
          </p:cNvPr>
          <p:cNvSpPr>
            <a:spLocks noGrp="1"/>
          </p:cNvSpPr>
          <p:nvPr/>
        </p:nvSpPr>
        <p:spPr>
          <a:xfrm>
            <a:off x="5734050" y="4552950"/>
            <a:ext cx="333375" cy="190500"/>
          </a:xfrm>
          <a:prstGeom prst="rect">
            <a:avLst/>
          </a:prstGeom>
          <a:noFill/>
          <a:ln w="0">
            <a:noFill/>
          </a:ln>
        </p:spPr>
        <p:txBody>
          <a:bodyPr>
            <a:noAutofit/>
          </a:bodyPr>
          <a:lstStyle/>
          <a:p>
            <a:pPr>
              <a:defRPr sz="900" b="1">
                <a:solidFill>
                  <a:srgbClr val="CDEB85"/>
                </a:solidFill>
                <a:latin typeface="Arial"/>
                <a:ea typeface="Arial"/>
                <a:cs typeface="Arial"/>
              </a:defRPr>
            </a:pPr>
            <a:r>
              <a:rPr sz="900" b="1">
                <a:solidFill>
                  <a:srgbClr val="CDEB85"/>
                </a:solidFill>
                <a:latin typeface="Arial"/>
                <a:ea typeface="Arial"/>
                <a:cs typeface="Arial"/>
              </a:rPr>
              <a:t>04</a:t>
            </a:r>
          </a:p>
        </p:txBody>
      </p:sp>
      <p:sp>
        <p:nvSpPr>
          <p:cNvPr id="17" name="Rectangle 16">
            <a:extLst>
              <a:ext uri="{FF2B5EF4-FFF2-40B4-BE49-F238E27FC236}">
                <a16:creationId xmlns:a16="http://schemas.microsoft.com/office/drawing/2014/main" id="{C09D6063-9D91-4D8B-A00A-0EED0A33D832}"/>
              </a:ext>
            </a:extLst>
          </p:cNvPr>
          <p:cNvSpPr>
            <a:spLocks noGrp="1"/>
          </p:cNvSpPr>
          <p:nvPr/>
        </p:nvSpPr>
        <p:spPr>
          <a:xfrm>
            <a:off x="6191250" y="4514850"/>
            <a:ext cx="4762500" cy="304800"/>
          </a:xfrm>
          <a:prstGeom prst="rect">
            <a:avLst/>
          </a:prstGeom>
          <a:noFill/>
          <a:ln w="0">
            <a:noFill/>
          </a:ln>
        </p:spPr>
        <p:txBody>
          <a:bodyPr>
            <a:noAutofit/>
          </a:bodyPr>
          <a:lstStyle/>
          <a:p>
            <a:pPr>
              <a:defRPr sz="1200" b="0">
                <a:solidFill>
                  <a:srgbClr val="F3F6EF"/>
                </a:solidFill>
                <a:latin typeface="Arial"/>
                <a:ea typeface="Arial"/>
                <a:cs typeface="Arial"/>
              </a:defRPr>
            </a:pPr>
            <a:r>
              <a:rPr sz="1200" b="0">
                <a:solidFill>
                  <a:srgbClr val="F3F6EF"/>
                </a:solidFill>
                <a:latin typeface="Arial"/>
                <a:ea typeface="Arial"/>
                <a:cs typeface="Arial"/>
              </a:rPr>
              <a:t>Response capacity: crew skills, shift hours and staging</a:t>
            </a:r>
          </a:p>
        </p:txBody>
      </p:sp>
    </p:spTree>
    <p:extLst>
      <p:ext uri="{BB962C8B-B14F-4D97-AF65-F5344CB8AC3E}">
        <p14:creationId xmlns:p14="http://schemas.microsoft.com/office/powerpoint/2010/main" val="19947812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11713"/>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64F401-E82E-4E98-B1AF-58F001431432}"/>
              </a:ext>
            </a:extLst>
          </p:cNvPr>
          <p:cNvSpPr>
            <a:spLocks noGrp="1"/>
          </p:cNvSpPr>
          <p:nvPr/>
        </p:nvSpPr>
        <p:spPr>
          <a:xfrm>
            <a:off x="609600" y="361950"/>
            <a:ext cx="2000250" cy="171450"/>
          </a:xfrm>
          <a:prstGeom prst="rect">
            <a:avLst/>
          </a:prstGeom>
          <a:noFill/>
          <a:ln w="0">
            <a:noFill/>
          </a:ln>
        </p:spPr>
        <p:txBody>
          <a:bodyPr>
            <a:noAutofit/>
          </a:bodyPr>
          <a:lstStyle/>
          <a:p>
            <a:pPr>
              <a:defRPr sz="825" b="1">
                <a:solidFill>
                  <a:srgbClr val="CDEB85"/>
                </a:solidFill>
                <a:latin typeface="Arial"/>
                <a:ea typeface="Arial"/>
                <a:cs typeface="Arial"/>
              </a:defRPr>
            </a:pPr>
            <a:r>
              <a:rPr sz="825" b="1">
                <a:solidFill>
                  <a:srgbClr val="CDEB85"/>
                </a:solidFill>
                <a:latin typeface="Arial"/>
                <a:ea typeface="Arial"/>
                <a:cs typeface="Arial"/>
              </a:rPr>
              <a:t>IBM BOBATHON 2026</a:t>
            </a:r>
          </a:p>
        </p:txBody>
      </p:sp>
      <p:sp>
        <p:nvSpPr>
          <p:cNvPr id="2" name="Rectangle 1">
            <a:extLst>
              <a:ext uri="{FF2B5EF4-FFF2-40B4-BE49-F238E27FC236}">
                <a16:creationId xmlns:a16="http://schemas.microsoft.com/office/drawing/2014/main" id="{B5E944BE-2A56-4B33-9351-9BDCDB104981}"/>
              </a:ext>
            </a:extLst>
          </p:cNvPr>
          <p:cNvSpPr>
            <a:spLocks noGrp="1"/>
          </p:cNvSpPr>
          <p:nvPr/>
        </p:nvSpPr>
        <p:spPr>
          <a:xfrm>
            <a:off x="609600" y="704850"/>
            <a:ext cx="10287000" cy="590550"/>
          </a:xfrm>
          <a:prstGeom prst="rect">
            <a:avLst/>
          </a:prstGeom>
          <a:noFill/>
          <a:ln w="0">
            <a:noFill/>
          </a:ln>
        </p:spPr>
        <p:txBody>
          <a:bodyPr>
            <a:noAutofit/>
          </a:bodyPr>
          <a:lstStyle/>
          <a:p>
            <a:pPr>
              <a:defRPr sz="3150" b="1">
                <a:solidFill>
                  <a:srgbClr val="F3F6EF"/>
                </a:solidFill>
                <a:latin typeface="Arial"/>
                <a:ea typeface="Arial"/>
                <a:cs typeface="Arial"/>
              </a:defRPr>
            </a:pPr>
            <a:r>
              <a:rPr sz="3150" b="1">
                <a:solidFill>
                  <a:srgbClr val="F3F6EF"/>
                </a:solidFill>
                <a:latin typeface="Arial"/>
                <a:ea typeface="Arial"/>
                <a:cs typeface="Arial"/>
              </a:rPr>
              <a:t>A decision surface for the next 24 hours</a:t>
            </a:r>
          </a:p>
        </p:txBody>
      </p:sp>
      <p:sp>
        <p:nvSpPr>
          <p:cNvPr id="3" name="Rectangle 2">
            <a:extLst>
              <a:ext uri="{FF2B5EF4-FFF2-40B4-BE49-F238E27FC236}">
                <a16:creationId xmlns:a16="http://schemas.microsoft.com/office/drawing/2014/main" id="{5AD1F2EE-D5C6-4184-85F1-1018D21709BA}"/>
              </a:ext>
            </a:extLst>
          </p:cNvPr>
          <p:cNvSpPr>
            <a:spLocks noGrp="1"/>
          </p:cNvSpPr>
          <p:nvPr/>
        </p:nvSpPr>
        <p:spPr>
          <a:xfrm>
            <a:off x="628650" y="1343025"/>
            <a:ext cx="9334500" cy="285750"/>
          </a:xfrm>
          <a:prstGeom prst="rect">
            <a:avLst/>
          </a:prstGeom>
          <a:noFill/>
          <a:ln w="0">
            <a:noFill/>
          </a:ln>
        </p:spPr>
        <p:txBody>
          <a:bodyPr>
            <a:noAutofit/>
          </a:bodyPr>
          <a:lstStyle/>
          <a:p>
            <a:pPr>
              <a:defRPr sz="1200" b="0">
                <a:solidFill>
                  <a:srgbClr val="A9B5A5"/>
                </a:solidFill>
                <a:latin typeface="Arial"/>
                <a:ea typeface="Arial"/>
                <a:cs typeface="Arial"/>
              </a:defRPr>
            </a:pPr>
            <a:r>
              <a:rPr sz="1200" b="0">
                <a:solidFill>
                  <a:srgbClr val="A9B5A5"/>
                </a:solidFill>
                <a:latin typeface="Arial"/>
                <a:ea typeface="Arial"/>
                <a:cs typeface="Arial"/>
              </a:rPr>
              <a:t>GridWatch turns risk signals into a reviewable plan.</a:t>
            </a:r>
          </a:p>
        </p:txBody>
      </p:sp>
      <p:sp>
        <p:nvSpPr>
          <p:cNvPr id="4" name="Rectangle 3">
            <a:extLst>
              <a:ext uri="{FF2B5EF4-FFF2-40B4-BE49-F238E27FC236}">
                <a16:creationId xmlns:a16="http://schemas.microsoft.com/office/drawing/2014/main" id="{D9CB829E-F9DD-475B-9077-1D3BA4FE464B}"/>
              </a:ext>
            </a:extLst>
          </p:cNvPr>
          <p:cNvSpPr>
            <a:spLocks noGrp="1"/>
          </p:cNvSpPr>
          <p:nvPr/>
        </p:nvSpPr>
        <p:spPr>
          <a:xfrm>
            <a:off x="609600" y="6419850"/>
            <a:ext cx="4572000" cy="171450"/>
          </a:xfrm>
          <a:prstGeom prst="rect">
            <a:avLst/>
          </a:prstGeom>
          <a:noFill/>
          <a:ln w="0">
            <a:noFill/>
          </a:ln>
        </p:spPr>
        <p:txBody>
          <a:bodyPr>
            <a:noAutofit/>
          </a:bodyPr>
          <a:lstStyle/>
          <a:p>
            <a:pPr>
              <a:defRPr sz="825" b="1">
                <a:solidFill>
                  <a:srgbClr val="A9B5A5"/>
                </a:solidFill>
                <a:latin typeface="Arial"/>
                <a:ea typeface="Arial"/>
                <a:cs typeface="Arial"/>
              </a:defRPr>
            </a:pPr>
            <a:r>
              <a:rPr sz="825" b="1">
                <a:solidFill>
                  <a:srgbClr val="A9B5A5"/>
                </a:solidFill>
                <a:latin typeface="Arial"/>
                <a:ea typeface="Arial"/>
                <a:cs typeface="Arial"/>
              </a:rPr>
              <a:t>GRIDWATCH / U1</a:t>
            </a:r>
          </a:p>
        </p:txBody>
      </p:sp>
      <p:sp>
        <p:nvSpPr>
          <p:cNvPr id="5" name="Rectangle 4">
            <a:extLst>
              <a:ext uri="{FF2B5EF4-FFF2-40B4-BE49-F238E27FC236}">
                <a16:creationId xmlns:a16="http://schemas.microsoft.com/office/drawing/2014/main" id="{965D8DC1-D5D3-4EB1-8D09-A0EAEAB9C9AC}"/>
              </a:ext>
            </a:extLst>
          </p:cNvPr>
          <p:cNvSpPr>
            <a:spLocks noGrp="1"/>
          </p:cNvSpPr>
          <p:nvPr/>
        </p:nvSpPr>
        <p:spPr>
          <a:xfrm>
            <a:off x="11239500" y="6419850"/>
            <a:ext cx="333375" cy="171450"/>
          </a:xfrm>
          <a:prstGeom prst="rect">
            <a:avLst/>
          </a:prstGeom>
          <a:noFill/>
          <a:ln w="0">
            <a:noFill/>
          </a:ln>
        </p:spPr>
        <p:txBody>
          <a:bodyPr>
            <a:noAutofit/>
          </a:bodyPr>
          <a:lstStyle/>
          <a:p>
            <a:pPr>
              <a:defRPr sz="825" b="1">
                <a:solidFill>
                  <a:srgbClr val="CDEB85"/>
                </a:solidFill>
                <a:latin typeface="Arial"/>
                <a:ea typeface="Arial"/>
                <a:cs typeface="Arial"/>
              </a:defRPr>
            </a:pPr>
            <a:r>
              <a:rPr sz="825" b="1">
                <a:solidFill>
                  <a:srgbClr val="CDEB85"/>
                </a:solidFill>
                <a:latin typeface="Arial"/>
                <a:ea typeface="Arial"/>
                <a:cs typeface="Arial"/>
              </a:rPr>
              <a:t>03</a:t>
            </a:r>
          </a:p>
        </p:txBody>
      </p:sp>
      <p:pic>
        <p:nvPicPr>
          <p:cNvPr id="26" name="Picture 25"/>
          <p:cNvPicPr>
            <a:picLocks noChangeAspect="1"/>
          </p:cNvPicPr>
          <p:nvPr/>
        </p:nvPicPr>
        <p:blipFill>
          <a:blip r:embed="rId3"/>
          <a:srcRect t="47" b="47"/>
          <a:stretch>
            <a:fillRect/>
          </a:stretch>
        </p:blipFill>
        <p:spPr>
          <a:xfrm>
            <a:off x="609600" y="2047875"/>
            <a:ext cx="6572250" cy="3695700"/>
          </a:xfrm>
          <a:prstGeom prst="roundRect">
            <a:avLst>
              <a:gd name="adj" fmla="val 3093"/>
            </a:avLst>
          </a:prstGeom>
        </p:spPr>
      </p:pic>
      <p:sp>
        <p:nvSpPr>
          <p:cNvPr id="7" name="Rectangle 6">
            <a:extLst>
              <a:ext uri="{FF2B5EF4-FFF2-40B4-BE49-F238E27FC236}">
                <a16:creationId xmlns:a16="http://schemas.microsoft.com/office/drawing/2014/main" id="{5E0D6496-D8DB-4834-8541-2763E23FC517}"/>
              </a:ext>
            </a:extLst>
          </p:cNvPr>
          <p:cNvSpPr>
            <a:spLocks noGrp="1"/>
          </p:cNvSpPr>
          <p:nvPr/>
        </p:nvSpPr>
        <p:spPr>
          <a:xfrm>
            <a:off x="7810500" y="2095500"/>
            <a:ext cx="1047750" cy="171450"/>
          </a:xfrm>
          <a:prstGeom prst="rect">
            <a:avLst/>
          </a:prstGeom>
          <a:noFill/>
          <a:ln w="0">
            <a:noFill/>
          </a:ln>
        </p:spPr>
        <p:txBody>
          <a:bodyPr>
            <a:noAutofit/>
          </a:bodyPr>
          <a:lstStyle/>
          <a:p>
            <a:pPr>
              <a:defRPr sz="825" b="1">
                <a:solidFill>
                  <a:srgbClr val="CDEB85"/>
                </a:solidFill>
                <a:latin typeface="Arial"/>
                <a:ea typeface="Arial"/>
                <a:cs typeface="Arial"/>
              </a:defRPr>
            </a:pPr>
            <a:r>
              <a:rPr sz="825" b="1">
                <a:solidFill>
                  <a:srgbClr val="CDEB85"/>
                </a:solidFill>
                <a:latin typeface="Arial"/>
                <a:ea typeface="Arial"/>
                <a:cs typeface="Arial"/>
              </a:rPr>
              <a:t>INPUTS</a:t>
            </a:r>
          </a:p>
        </p:txBody>
      </p:sp>
      <p:sp>
        <p:nvSpPr>
          <p:cNvPr id="8" name="Rectangle: Rounded Corners 7">
            <a:extLst>
              <a:ext uri="{FF2B5EF4-FFF2-40B4-BE49-F238E27FC236}">
                <a16:creationId xmlns:a16="http://schemas.microsoft.com/office/drawing/2014/main" id="{758B44ED-CD60-4739-8476-CBC5748E58C3}"/>
              </a:ext>
            </a:extLst>
          </p:cNvPr>
          <p:cNvSpPr>
            <a:spLocks noGrp="1"/>
          </p:cNvSpPr>
          <p:nvPr/>
        </p:nvSpPr>
        <p:spPr>
          <a:xfrm>
            <a:off x="7791450" y="2381250"/>
            <a:ext cx="3238500" cy="552450"/>
          </a:xfrm>
          <a:prstGeom prst="roundRect">
            <a:avLst>
              <a:gd name="adj" fmla="val 20690"/>
            </a:avLst>
          </a:prstGeom>
          <a:solidFill>
            <a:srgbClr val="1E2820"/>
          </a:solidFill>
          <a:ln w="9525">
            <a:solidFill>
              <a:srgbClr val="445242"/>
            </a:solidFill>
          </a:ln>
        </p:spPr>
        <p:txBody>
          <a:bodyPr/>
          <a:lstStyle/>
          <a:p>
            <a:endParaRPr lang="en-IN"/>
          </a:p>
        </p:txBody>
      </p:sp>
      <p:sp>
        <p:nvSpPr>
          <p:cNvPr id="9" name="Rectangle 8">
            <a:extLst>
              <a:ext uri="{FF2B5EF4-FFF2-40B4-BE49-F238E27FC236}">
                <a16:creationId xmlns:a16="http://schemas.microsoft.com/office/drawing/2014/main" id="{5AE9DD77-E530-4998-AD49-226BB5D31099}"/>
              </a:ext>
            </a:extLst>
          </p:cNvPr>
          <p:cNvSpPr>
            <a:spLocks noGrp="1"/>
          </p:cNvSpPr>
          <p:nvPr/>
        </p:nvSpPr>
        <p:spPr>
          <a:xfrm>
            <a:off x="8001000" y="2505075"/>
            <a:ext cx="1524000" cy="190500"/>
          </a:xfrm>
          <a:prstGeom prst="rect">
            <a:avLst/>
          </a:prstGeom>
          <a:noFill/>
          <a:ln w="0">
            <a:noFill/>
          </a:ln>
        </p:spPr>
        <p:txBody>
          <a:bodyPr>
            <a:noAutofit/>
          </a:bodyPr>
          <a:lstStyle/>
          <a:p>
            <a:pPr>
              <a:defRPr sz="1125" b="1">
                <a:solidFill>
                  <a:srgbClr val="F3F6EF"/>
                </a:solidFill>
                <a:latin typeface="Arial"/>
                <a:ea typeface="Arial"/>
                <a:cs typeface="Arial"/>
              </a:defRPr>
            </a:pPr>
            <a:r>
              <a:rPr sz="1125" b="1">
                <a:solidFill>
                  <a:srgbClr val="F3F6EF"/>
                </a:solidFill>
                <a:latin typeface="Arial"/>
                <a:ea typeface="Arial"/>
                <a:cs typeface="Arial"/>
              </a:rPr>
              <a:t>Weather scenario</a:t>
            </a:r>
          </a:p>
        </p:txBody>
      </p:sp>
      <p:sp>
        <p:nvSpPr>
          <p:cNvPr id="10" name="Rectangle 9">
            <a:extLst>
              <a:ext uri="{FF2B5EF4-FFF2-40B4-BE49-F238E27FC236}">
                <a16:creationId xmlns:a16="http://schemas.microsoft.com/office/drawing/2014/main" id="{A06B7886-6EC2-4BD1-92ED-E454B2309B6B}"/>
              </a:ext>
            </a:extLst>
          </p:cNvPr>
          <p:cNvSpPr>
            <a:spLocks noGrp="1"/>
          </p:cNvSpPr>
          <p:nvPr/>
        </p:nvSpPr>
        <p:spPr>
          <a:xfrm>
            <a:off x="8001000" y="2733675"/>
            <a:ext cx="2286000" cy="171450"/>
          </a:xfrm>
          <a:prstGeom prst="rect">
            <a:avLst/>
          </a:prstGeom>
          <a:noFill/>
          <a:ln w="0">
            <a:noFill/>
          </a:ln>
        </p:spPr>
        <p:txBody>
          <a:bodyPr>
            <a:noAutofit/>
          </a:bodyPr>
          <a:lstStyle/>
          <a:p>
            <a:pPr>
              <a:defRPr sz="900" b="0">
                <a:solidFill>
                  <a:srgbClr val="A9B5A5"/>
                </a:solidFill>
                <a:latin typeface="Arial"/>
                <a:ea typeface="Arial"/>
                <a:cs typeface="Arial"/>
              </a:defRPr>
            </a:pPr>
            <a:r>
              <a:rPr sz="900" b="0">
                <a:solidFill>
                  <a:srgbClr val="A9B5A5"/>
                </a:solidFill>
                <a:latin typeface="Arial"/>
                <a:ea typeface="Arial"/>
                <a:cs typeface="Arial"/>
              </a:rPr>
              <a:t>Wind + rainfall</a:t>
            </a:r>
          </a:p>
        </p:txBody>
      </p:sp>
      <p:sp>
        <p:nvSpPr>
          <p:cNvPr id="11" name="Rectangle: Rounded Corners 10">
            <a:extLst>
              <a:ext uri="{FF2B5EF4-FFF2-40B4-BE49-F238E27FC236}">
                <a16:creationId xmlns:a16="http://schemas.microsoft.com/office/drawing/2014/main" id="{C076B8E4-515F-4B8D-9463-9B969E8DAA30}"/>
              </a:ext>
            </a:extLst>
          </p:cNvPr>
          <p:cNvSpPr>
            <a:spLocks noGrp="1"/>
          </p:cNvSpPr>
          <p:nvPr/>
        </p:nvSpPr>
        <p:spPr>
          <a:xfrm>
            <a:off x="7791450" y="3143250"/>
            <a:ext cx="3238500" cy="552450"/>
          </a:xfrm>
          <a:prstGeom prst="roundRect">
            <a:avLst>
              <a:gd name="adj" fmla="val 20690"/>
            </a:avLst>
          </a:prstGeom>
          <a:solidFill>
            <a:srgbClr val="1E2820"/>
          </a:solidFill>
          <a:ln w="9525">
            <a:solidFill>
              <a:srgbClr val="445242"/>
            </a:solidFill>
          </a:ln>
        </p:spPr>
        <p:txBody>
          <a:bodyPr/>
          <a:lstStyle/>
          <a:p>
            <a:endParaRPr lang="en-IN"/>
          </a:p>
        </p:txBody>
      </p:sp>
      <p:sp>
        <p:nvSpPr>
          <p:cNvPr id="12" name="Rectangle 11">
            <a:extLst>
              <a:ext uri="{FF2B5EF4-FFF2-40B4-BE49-F238E27FC236}">
                <a16:creationId xmlns:a16="http://schemas.microsoft.com/office/drawing/2014/main" id="{7F161A81-6066-4B0C-AF01-BF36F4F1ED96}"/>
              </a:ext>
            </a:extLst>
          </p:cNvPr>
          <p:cNvSpPr>
            <a:spLocks noGrp="1"/>
          </p:cNvSpPr>
          <p:nvPr/>
        </p:nvSpPr>
        <p:spPr>
          <a:xfrm>
            <a:off x="8001000" y="3267075"/>
            <a:ext cx="1524000" cy="190500"/>
          </a:xfrm>
          <a:prstGeom prst="rect">
            <a:avLst/>
          </a:prstGeom>
          <a:noFill/>
          <a:ln w="0">
            <a:noFill/>
          </a:ln>
        </p:spPr>
        <p:txBody>
          <a:bodyPr>
            <a:noAutofit/>
          </a:bodyPr>
          <a:lstStyle/>
          <a:p>
            <a:pPr>
              <a:defRPr sz="1125" b="1">
                <a:solidFill>
                  <a:srgbClr val="F3F6EF"/>
                </a:solidFill>
                <a:latin typeface="Arial"/>
                <a:ea typeface="Arial"/>
                <a:cs typeface="Arial"/>
              </a:defRPr>
            </a:pPr>
            <a:r>
              <a:rPr sz="1125" b="1">
                <a:solidFill>
                  <a:srgbClr val="F3F6EF"/>
                </a:solidFill>
                <a:latin typeface="Arial"/>
                <a:ea typeface="Arial"/>
                <a:cs typeface="Arial"/>
              </a:rPr>
              <a:t>Asset signals</a:t>
            </a:r>
          </a:p>
        </p:txBody>
      </p:sp>
      <p:sp>
        <p:nvSpPr>
          <p:cNvPr id="13" name="Rectangle 12">
            <a:extLst>
              <a:ext uri="{FF2B5EF4-FFF2-40B4-BE49-F238E27FC236}">
                <a16:creationId xmlns:a16="http://schemas.microsoft.com/office/drawing/2014/main" id="{067F4449-133B-4F8C-B982-6068A3163F4A}"/>
              </a:ext>
            </a:extLst>
          </p:cNvPr>
          <p:cNvSpPr>
            <a:spLocks noGrp="1"/>
          </p:cNvSpPr>
          <p:nvPr/>
        </p:nvSpPr>
        <p:spPr>
          <a:xfrm>
            <a:off x="8001000" y="3495675"/>
            <a:ext cx="2286000" cy="171450"/>
          </a:xfrm>
          <a:prstGeom prst="rect">
            <a:avLst/>
          </a:prstGeom>
          <a:noFill/>
          <a:ln w="0">
            <a:noFill/>
          </a:ln>
        </p:spPr>
        <p:txBody>
          <a:bodyPr>
            <a:noAutofit/>
          </a:bodyPr>
          <a:lstStyle/>
          <a:p>
            <a:pPr>
              <a:defRPr sz="900" b="0">
                <a:solidFill>
                  <a:srgbClr val="A9B5A5"/>
                </a:solidFill>
                <a:latin typeface="Arial"/>
                <a:ea typeface="Arial"/>
                <a:cs typeface="Arial"/>
              </a:defRPr>
            </a:pPr>
            <a:r>
              <a:rPr sz="900" b="0">
                <a:solidFill>
                  <a:srgbClr val="A9B5A5"/>
                </a:solidFill>
                <a:latin typeface="Arial"/>
                <a:ea typeface="Arial"/>
                <a:cs typeface="Arial"/>
              </a:rPr>
              <a:t>Sensor snapshot</a:t>
            </a:r>
          </a:p>
        </p:txBody>
      </p:sp>
      <p:sp>
        <p:nvSpPr>
          <p:cNvPr id="14" name="Rectangle: Rounded Corners 13">
            <a:extLst>
              <a:ext uri="{FF2B5EF4-FFF2-40B4-BE49-F238E27FC236}">
                <a16:creationId xmlns:a16="http://schemas.microsoft.com/office/drawing/2014/main" id="{1EBF9CF5-7ADF-42BF-B879-9184E428BBCA}"/>
              </a:ext>
            </a:extLst>
          </p:cNvPr>
          <p:cNvSpPr>
            <a:spLocks noGrp="1"/>
          </p:cNvSpPr>
          <p:nvPr/>
        </p:nvSpPr>
        <p:spPr>
          <a:xfrm>
            <a:off x="7791450" y="3905250"/>
            <a:ext cx="3238500" cy="552450"/>
          </a:xfrm>
          <a:prstGeom prst="roundRect">
            <a:avLst>
              <a:gd name="adj" fmla="val 20690"/>
            </a:avLst>
          </a:prstGeom>
          <a:solidFill>
            <a:srgbClr val="1E2820"/>
          </a:solidFill>
          <a:ln w="9525">
            <a:solidFill>
              <a:srgbClr val="445242"/>
            </a:solidFill>
          </a:ln>
        </p:spPr>
        <p:txBody>
          <a:bodyPr/>
          <a:lstStyle/>
          <a:p>
            <a:endParaRPr lang="en-IN"/>
          </a:p>
        </p:txBody>
      </p:sp>
      <p:sp>
        <p:nvSpPr>
          <p:cNvPr id="15" name="Rectangle 14">
            <a:extLst>
              <a:ext uri="{FF2B5EF4-FFF2-40B4-BE49-F238E27FC236}">
                <a16:creationId xmlns:a16="http://schemas.microsoft.com/office/drawing/2014/main" id="{491A3F31-FD79-4D0F-9A1B-79841C2B75EA}"/>
              </a:ext>
            </a:extLst>
          </p:cNvPr>
          <p:cNvSpPr>
            <a:spLocks noGrp="1"/>
          </p:cNvSpPr>
          <p:nvPr/>
        </p:nvSpPr>
        <p:spPr>
          <a:xfrm>
            <a:off x="8001000" y="4029075"/>
            <a:ext cx="1524000" cy="190500"/>
          </a:xfrm>
          <a:prstGeom prst="rect">
            <a:avLst/>
          </a:prstGeom>
          <a:noFill/>
          <a:ln w="0">
            <a:noFill/>
          </a:ln>
        </p:spPr>
        <p:txBody>
          <a:bodyPr>
            <a:noAutofit/>
          </a:bodyPr>
          <a:lstStyle/>
          <a:p>
            <a:pPr>
              <a:defRPr sz="1125" b="1">
                <a:solidFill>
                  <a:srgbClr val="F3F6EF"/>
                </a:solidFill>
                <a:latin typeface="Arial"/>
                <a:ea typeface="Arial"/>
                <a:cs typeface="Arial"/>
              </a:defRPr>
            </a:pPr>
            <a:r>
              <a:rPr sz="1125" b="1">
                <a:solidFill>
                  <a:srgbClr val="F3F6EF"/>
                </a:solidFill>
                <a:latin typeface="Arial"/>
                <a:ea typeface="Arial"/>
                <a:cs typeface="Arial"/>
              </a:rPr>
              <a:t>Resources</a:t>
            </a:r>
          </a:p>
        </p:txBody>
      </p:sp>
      <p:sp>
        <p:nvSpPr>
          <p:cNvPr id="16" name="Rectangle 15">
            <a:extLst>
              <a:ext uri="{FF2B5EF4-FFF2-40B4-BE49-F238E27FC236}">
                <a16:creationId xmlns:a16="http://schemas.microsoft.com/office/drawing/2014/main" id="{305B6D8B-45C7-4ABA-9DCA-7B26D7414FAE}"/>
              </a:ext>
            </a:extLst>
          </p:cNvPr>
          <p:cNvSpPr>
            <a:spLocks noGrp="1"/>
          </p:cNvSpPr>
          <p:nvPr/>
        </p:nvSpPr>
        <p:spPr>
          <a:xfrm>
            <a:off x="8001000" y="4257675"/>
            <a:ext cx="2286000" cy="171450"/>
          </a:xfrm>
          <a:prstGeom prst="rect">
            <a:avLst/>
          </a:prstGeom>
          <a:noFill/>
          <a:ln w="0">
            <a:noFill/>
          </a:ln>
        </p:spPr>
        <p:txBody>
          <a:bodyPr>
            <a:noAutofit/>
          </a:bodyPr>
          <a:lstStyle/>
          <a:p>
            <a:pPr>
              <a:defRPr sz="900" b="0">
                <a:solidFill>
                  <a:srgbClr val="A9B5A5"/>
                </a:solidFill>
                <a:latin typeface="Arial"/>
                <a:ea typeface="Arial"/>
                <a:cs typeface="Arial"/>
              </a:defRPr>
            </a:pPr>
            <a:r>
              <a:rPr sz="900" b="0">
                <a:solidFill>
                  <a:srgbClr val="A9B5A5"/>
                </a:solidFill>
                <a:latin typeface="Arial"/>
                <a:ea typeface="Arial"/>
                <a:cs typeface="Arial"/>
              </a:rPr>
              <a:t>Crew count + skills</a:t>
            </a:r>
          </a:p>
        </p:txBody>
      </p:sp>
      <p:sp>
        <p:nvSpPr>
          <p:cNvPr id="17" name="Rectangle 16">
            <a:extLst>
              <a:ext uri="{FF2B5EF4-FFF2-40B4-BE49-F238E27FC236}">
                <a16:creationId xmlns:a16="http://schemas.microsoft.com/office/drawing/2014/main" id="{D8E45628-C2F5-4C4F-8705-00278B1E47E1}"/>
              </a:ext>
            </a:extLst>
          </p:cNvPr>
          <p:cNvSpPr>
            <a:spLocks noGrp="1"/>
          </p:cNvSpPr>
          <p:nvPr/>
        </p:nvSpPr>
        <p:spPr>
          <a:xfrm>
            <a:off x="9334500" y="4762500"/>
            <a:ext cx="285750" cy="285750"/>
          </a:xfrm>
          <a:prstGeom prst="rect">
            <a:avLst/>
          </a:prstGeom>
          <a:noFill/>
          <a:ln w="0">
            <a:noFill/>
          </a:ln>
        </p:spPr>
        <p:txBody>
          <a:bodyPr>
            <a:noAutofit/>
          </a:bodyPr>
          <a:lstStyle/>
          <a:p>
            <a:pPr>
              <a:defRPr sz="1650" b="1">
                <a:solidFill>
                  <a:srgbClr val="CDEB85"/>
                </a:solidFill>
                <a:latin typeface="Arial"/>
                <a:ea typeface="Arial"/>
                <a:cs typeface="Arial"/>
              </a:defRPr>
            </a:pPr>
            <a:r>
              <a:rPr sz="1650" b="1">
                <a:solidFill>
                  <a:srgbClr val="CDEB85"/>
                </a:solidFill>
                <a:latin typeface="Arial"/>
                <a:ea typeface="Arial"/>
                <a:cs typeface="Arial"/>
              </a:rPr>
              <a:t>↓</a:t>
            </a:r>
          </a:p>
        </p:txBody>
      </p:sp>
      <p:sp>
        <p:nvSpPr>
          <p:cNvPr id="18" name="Rectangle: Rounded Corners 17">
            <a:extLst>
              <a:ext uri="{FF2B5EF4-FFF2-40B4-BE49-F238E27FC236}">
                <a16:creationId xmlns:a16="http://schemas.microsoft.com/office/drawing/2014/main" id="{04EAE43F-9459-46ED-912B-4E2CDBAA9013}"/>
              </a:ext>
            </a:extLst>
          </p:cNvPr>
          <p:cNvSpPr>
            <a:spLocks noGrp="1"/>
          </p:cNvSpPr>
          <p:nvPr/>
        </p:nvSpPr>
        <p:spPr>
          <a:xfrm>
            <a:off x="7791450" y="5095875"/>
            <a:ext cx="3238500" cy="638175"/>
          </a:xfrm>
          <a:prstGeom prst="roundRect">
            <a:avLst>
              <a:gd name="adj" fmla="val 17910"/>
            </a:avLst>
          </a:prstGeom>
          <a:solidFill>
            <a:srgbClr val="2C3826"/>
          </a:solidFill>
          <a:ln w="9525">
            <a:solidFill>
              <a:srgbClr val="5A7138"/>
            </a:solidFill>
          </a:ln>
        </p:spPr>
        <p:txBody>
          <a:bodyPr/>
          <a:lstStyle/>
          <a:p>
            <a:endParaRPr lang="en-IN"/>
          </a:p>
        </p:txBody>
      </p:sp>
      <p:sp>
        <p:nvSpPr>
          <p:cNvPr id="19" name="Rectangle 18">
            <a:extLst>
              <a:ext uri="{FF2B5EF4-FFF2-40B4-BE49-F238E27FC236}">
                <a16:creationId xmlns:a16="http://schemas.microsoft.com/office/drawing/2014/main" id="{72719185-021D-4E9B-A997-707B4739B03A}"/>
              </a:ext>
            </a:extLst>
          </p:cNvPr>
          <p:cNvSpPr>
            <a:spLocks noGrp="1"/>
          </p:cNvSpPr>
          <p:nvPr/>
        </p:nvSpPr>
        <p:spPr>
          <a:xfrm>
            <a:off x="8001000" y="5210175"/>
            <a:ext cx="952500" cy="171450"/>
          </a:xfrm>
          <a:prstGeom prst="rect">
            <a:avLst/>
          </a:prstGeom>
          <a:noFill/>
          <a:ln w="0">
            <a:noFill/>
          </a:ln>
        </p:spPr>
        <p:txBody>
          <a:bodyPr>
            <a:noAutofit/>
          </a:bodyPr>
          <a:lstStyle/>
          <a:p>
            <a:pPr>
              <a:defRPr sz="825" b="1">
                <a:solidFill>
                  <a:srgbClr val="CDEB85"/>
                </a:solidFill>
                <a:latin typeface="Arial"/>
                <a:ea typeface="Arial"/>
                <a:cs typeface="Arial"/>
              </a:defRPr>
            </a:pPr>
            <a:r>
              <a:rPr sz="825" b="1">
                <a:solidFill>
                  <a:srgbClr val="CDEB85"/>
                </a:solidFill>
                <a:latin typeface="Arial"/>
                <a:ea typeface="Arial"/>
                <a:cs typeface="Arial"/>
              </a:rPr>
              <a:t>OUTPUT</a:t>
            </a:r>
          </a:p>
        </p:txBody>
      </p:sp>
      <p:sp>
        <p:nvSpPr>
          <p:cNvPr id="20" name="Rectangle 19">
            <a:extLst>
              <a:ext uri="{FF2B5EF4-FFF2-40B4-BE49-F238E27FC236}">
                <a16:creationId xmlns:a16="http://schemas.microsoft.com/office/drawing/2014/main" id="{8270273B-6739-4B27-A94B-170E3106CBD8}"/>
              </a:ext>
            </a:extLst>
          </p:cNvPr>
          <p:cNvSpPr>
            <a:spLocks noGrp="1"/>
          </p:cNvSpPr>
          <p:nvPr/>
        </p:nvSpPr>
        <p:spPr>
          <a:xfrm>
            <a:off x="8001000" y="5448300"/>
            <a:ext cx="2667000" cy="190500"/>
          </a:xfrm>
          <a:prstGeom prst="rect">
            <a:avLst/>
          </a:prstGeom>
          <a:noFill/>
          <a:ln w="0">
            <a:noFill/>
          </a:ln>
        </p:spPr>
        <p:txBody>
          <a:bodyPr>
            <a:noAutofit/>
          </a:bodyPr>
          <a:lstStyle/>
          <a:p>
            <a:pPr>
              <a:defRPr sz="1200" b="1">
                <a:solidFill>
                  <a:srgbClr val="F3F6EF"/>
                </a:solidFill>
                <a:latin typeface="Arial"/>
                <a:ea typeface="Arial"/>
                <a:cs typeface="Arial"/>
              </a:defRPr>
            </a:pPr>
            <a:r>
              <a:rPr sz="1200" b="1">
                <a:solidFill>
                  <a:srgbClr val="F3F6EF"/>
                </a:solidFill>
                <a:latin typeface="Arial"/>
                <a:ea typeface="Arial"/>
                <a:cs typeface="Arial"/>
              </a:rPr>
              <a:t>Risk, priorities &amp; crews</a:t>
            </a:r>
          </a:p>
        </p:txBody>
      </p:sp>
    </p:spTree>
    <p:extLst>
      <p:ext uri="{BB962C8B-B14F-4D97-AF65-F5344CB8AC3E}">
        <p14:creationId xmlns:p14="http://schemas.microsoft.com/office/powerpoint/2010/main" val="18759220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11713"/>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74562BFD-DF0C-4375-A56B-0D7916BAEB07}"/>
              </a:ext>
            </a:extLst>
          </p:cNvPr>
          <p:cNvSpPr>
            <a:spLocks noGrp="1"/>
          </p:cNvSpPr>
          <p:nvPr/>
        </p:nvSpPr>
        <p:spPr>
          <a:xfrm>
            <a:off x="609600" y="361950"/>
            <a:ext cx="2000250" cy="171450"/>
          </a:xfrm>
          <a:prstGeom prst="rect">
            <a:avLst/>
          </a:prstGeom>
          <a:noFill/>
          <a:ln w="0">
            <a:noFill/>
          </a:ln>
        </p:spPr>
        <p:txBody>
          <a:bodyPr>
            <a:noAutofit/>
          </a:bodyPr>
          <a:lstStyle/>
          <a:p>
            <a:pPr>
              <a:defRPr sz="825" b="1">
                <a:solidFill>
                  <a:srgbClr val="CDEB85"/>
                </a:solidFill>
                <a:latin typeface="Arial"/>
                <a:ea typeface="Arial"/>
                <a:cs typeface="Arial"/>
              </a:defRPr>
            </a:pPr>
            <a:r>
              <a:rPr sz="825" b="1">
                <a:solidFill>
                  <a:srgbClr val="CDEB85"/>
                </a:solidFill>
                <a:latin typeface="Arial"/>
                <a:ea typeface="Arial"/>
                <a:cs typeface="Arial"/>
              </a:rPr>
              <a:t>IBM BOBATHON 2026</a:t>
            </a:r>
          </a:p>
        </p:txBody>
      </p:sp>
      <p:sp>
        <p:nvSpPr>
          <p:cNvPr id="2" name="Rectangle 1">
            <a:extLst>
              <a:ext uri="{FF2B5EF4-FFF2-40B4-BE49-F238E27FC236}">
                <a16:creationId xmlns:a16="http://schemas.microsoft.com/office/drawing/2014/main" id="{92ACCBEA-5D0B-47F7-B341-F588559367D2}"/>
              </a:ext>
            </a:extLst>
          </p:cNvPr>
          <p:cNvSpPr>
            <a:spLocks noGrp="1"/>
          </p:cNvSpPr>
          <p:nvPr/>
        </p:nvSpPr>
        <p:spPr>
          <a:xfrm>
            <a:off x="609600" y="704850"/>
            <a:ext cx="10287000" cy="590550"/>
          </a:xfrm>
          <a:prstGeom prst="rect">
            <a:avLst/>
          </a:prstGeom>
          <a:noFill/>
          <a:ln w="0">
            <a:noFill/>
          </a:ln>
        </p:spPr>
        <p:txBody>
          <a:bodyPr>
            <a:noAutofit/>
          </a:bodyPr>
          <a:lstStyle/>
          <a:p>
            <a:pPr>
              <a:defRPr sz="3150" b="1">
                <a:solidFill>
                  <a:srgbClr val="F3F6EF"/>
                </a:solidFill>
                <a:latin typeface="Arial"/>
                <a:ea typeface="Arial"/>
                <a:cs typeface="Arial"/>
              </a:defRPr>
            </a:pPr>
            <a:r>
              <a:rPr sz="3150" b="1">
                <a:solidFill>
                  <a:srgbClr val="F3F6EF"/>
                </a:solidFill>
                <a:latin typeface="Arial"/>
                <a:ea typeface="Arial"/>
                <a:cs typeface="Arial"/>
              </a:rPr>
              <a:t>Architecture</a:t>
            </a:r>
          </a:p>
        </p:txBody>
      </p:sp>
      <p:sp>
        <p:nvSpPr>
          <p:cNvPr id="3" name="Rectangle 2">
            <a:extLst>
              <a:ext uri="{FF2B5EF4-FFF2-40B4-BE49-F238E27FC236}">
                <a16:creationId xmlns:a16="http://schemas.microsoft.com/office/drawing/2014/main" id="{DD623645-75DB-41BE-AB5B-B262A67D83E1}"/>
              </a:ext>
            </a:extLst>
          </p:cNvPr>
          <p:cNvSpPr>
            <a:spLocks noGrp="1"/>
          </p:cNvSpPr>
          <p:nvPr/>
        </p:nvSpPr>
        <p:spPr>
          <a:xfrm>
            <a:off x="628650" y="1343025"/>
            <a:ext cx="9334500" cy="285750"/>
          </a:xfrm>
          <a:prstGeom prst="rect">
            <a:avLst/>
          </a:prstGeom>
          <a:noFill/>
          <a:ln w="0">
            <a:noFill/>
          </a:ln>
        </p:spPr>
        <p:txBody>
          <a:bodyPr>
            <a:noAutofit/>
          </a:bodyPr>
          <a:lstStyle/>
          <a:p>
            <a:pPr>
              <a:defRPr sz="1200" b="0">
                <a:solidFill>
                  <a:srgbClr val="A9B5A5"/>
                </a:solidFill>
                <a:latin typeface="Arial"/>
                <a:ea typeface="Arial"/>
                <a:cs typeface="Arial"/>
              </a:defRPr>
            </a:pPr>
            <a:r>
              <a:rPr sz="1200" b="0">
                <a:solidFill>
                  <a:srgbClr val="A9B5A5"/>
                </a:solidFill>
                <a:latin typeface="Arial"/>
                <a:ea typeface="Arial"/>
                <a:cs typeface="Arial"/>
              </a:rPr>
              <a:t>One Python engine, two interfaces, two evidence tracks.</a:t>
            </a:r>
          </a:p>
        </p:txBody>
      </p:sp>
      <p:sp>
        <p:nvSpPr>
          <p:cNvPr id="4" name="Rectangle 3">
            <a:extLst>
              <a:ext uri="{FF2B5EF4-FFF2-40B4-BE49-F238E27FC236}">
                <a16:creationId xmlns:a16="http://schemas.microsoft.com/office/drawing/2014/main" id="{5E3C7C9E-1D24-4C4C-82B7-37108C4F19B0}"/>
              </a:ext>
            </a:extLst>
          </p:cNvPr>
          <p:cNvSpPr>
            <a:spLocks noGrp="1"/>
          </p:cNvSpPr>
          <p:nvPr/>
        </p:nvSpPr>
        <p:spPr>
          <a:xfrm>
            <a:off x="609600" y="6419850"/>
            <a:ext cx="4572000" cy="171450"/>
          </a:xfrm>
          <a:prstGeom prst="rect">
            <a:avLst/>
          </a:prstGeom>
          <a:noFill/>
          <a:ln w="0">
            <a:noFill/>
          </a:ln>
        </p:spPr>
        <p:txBody>
          <a:bodyPr>
            <a:noAutofit/>
          </a:bodyPr>
          <a:lstStyle/>
          <a:p>
            <a:pPr>
              <a:defRPr sz="825" b="1">
                <a:solidFill>
                  <a:srgbClr val="A9B5A5"/>
                </a:solidFill>
                <a:latin typeface="Arial"/>
                <a:ea typeface="Arial"/>
                <a:cs typeface="Arial"/>
              </a:defRPr>
            </a:pPr>
            <a:r>
              <a:rPr sz="825" b="1">
                <a:solidFill>
                  <a:srgbClr val="A9B5A5"/>
                </a:solidFill>
                <a:latin typeface="Arial"/>
                <a:ea typeface="Arial"/>
                <a:cs typeface="Arial"/>
              </a:rPr>
              <a:t>GRIDWATCH / U1</a:t>
            </a:r>
          </a:p>
        </p:txBody>
      </p:sp>
      <p:sp>
        <p:nvSpPr>
          <p:cNvPr id="5" name="Rectangle 4">
            <a:extLst>
              <a:ext uri="{FF2B5EF4-FFF2-40B4-BE49-F238E27FC236}">
                <a16:creationId xmlns:a16="http://schemas.microsoft.com/office/drawing/2014/main" id="{99783431-C48F-4A02-8DDF-9D836AF0C428}"/>
              </a:ext>
            </a:extLst>
          </p:cNvPr>
          <p:cNvSpPr>
            <a:spLocks noGrp="1"/>
          </p:cNvSpPr>
          <p:nvPr/>
        </p:nvSpPr>
        <p:spPr>
          <a:xfrm>
            <a:off x="11239500" y="6419850"/>
            <a:ext cx="333375" cy="171450"/>
          </a:xfrm>
          <a:prstGeom prst="rect">
            <a:avLst/>
          </a:prstGeom>
          <a:noFill/>
          <a:ln w="0">
            <a:noFill/>
          </a:ln>
        </p:spPr>
        <p:txBody>
          <a:bodyPr>
            <a:noAutofit/>
          </a:bodyPr>
          <a:lstStyle/>
          <a:p>
            <a:pPr>
              <a:defRPr sz="825" b="1">
                <a:solidFill>
                  <a:srgbClr val="CDEB85"/>
                </a:solidFill>
                <a:latin typeface="Arial"/>
                <a:ea typeface="Arial"/>
                <a:cs typeface="Arial"/>
              </a:defRPr>
            </a:pPr>
            <a:r>
              <a:rPr sz="825" b="1">
                <a:solidFill>
                  <a:srgbClr val="CDEB85"/>
                </a:solidFill>
                <a:latin typeface="Arial"/>
                <a:ea typeface="Arial"/>
                <a:cs typeface="Arial"/>
              </a:rPr>
              <a:t>04</a:t>
            </a:r>
          </a:p>
        </p:txBody>
      </p:sp>
      <p:sp>
        <p:nvSpPr>
          <p:cNvPr id="6" name="Rectangle: Rounded Corners 5">
            <a:extLst>
              <a:ext uri="{FF2B5EF4-FFF2-40B4-BE49-F238E27FC236}">
                <a16:creationId xmlns:a16="http://schemas.microsoft.com/office/drawing/2014/main" id="{9CB2E68D-8D2B-4BAE-BB08-E1057D3C27DC}"/>
              </a:ext>
            </a:extLst>
          </p:cNvPr>
          <p:cNvSpPr>
            <a:spLocks noGrp="1"/>
          </p:cNvSpPr>
          <p:nvPr/>
        </p:nvSpPr>
        <p:spPr>
          <a:xfrm>
            <a:off x="609600" y="2428875"/>
            <a:ext cx="2238375" cy="1619250"/>
          </a:xfrm>
          <a:prstGeom prst="roundRect">
            <a:avLst>
              <a:gd name="adj" fmla="val 7059"/>
            </a:avLst>
          </a:prstGeom>
          <a:solidFill>
            <a:srgbClr val="1E2820"/>
          </a:solidFill>
          <a:ln w="9525">
            <a:solidFill>
              <a:srgbClr val="445242"/>
            </a:solidFill>
          </a:ln>
        </p:spPr>
        <p:txBody>
          <a:bodyPr/>
          <a:lstStyle/>
          <a:p>
            <a:endParaRPr lang="en-IN"/>
          </a:p>
        </p:txBody>
      </p:sp>
      <p:sp>
        <p:nvSpPr>
          <p:cNvPr id="7" name="Rectangle 6">
            <a:extLst>
              <a:ext uri="{FF2B5EF4-FFF2-40B4-BE49-F238E27FC236}">
                <a16:creationId xmlns:a16="http://schemas.microsoft.com/office/drawing/2014/main" id="{318C7CD4-1139-453A-9119-CC6B7324F8CE}"/>
              </a:ext>
            </a:extLst>
          </p:cNvPr>
          <p:cNvSpPr>
            <a:spLocks noGrp="1"/>
          </p:cNvSpPr>
          <p:nvPr/>
        </p:nvSpPr>
        <p:spPr>
          <a:xfrm>
            <a:off x="819150" y="2657475"/>
            <a:ext cx="333375" cy="171450"/>
          </a:xfrm>
          <a:prstGeom prst="rect">
            <a:avLst/>
          </a:prstGeom>
          <a:noFill/>
          <a:ln w="0">
            <a:noFill/>
          </a:ln>
        </p:spPr>
        <p:txBody>
          <a:bodyPr>
            <a:noAutofit/>
          </a:bodyPr>
          <a:lstStyle/>
          <a:p>
            <a:pPr>
              <a:defRPr sz="900" b="1">
                <a:solidFill>
                  <a:srgbClr val="CDEB85"/>
                </a:solidFill>
                <a:latin typeface="Arial"/>
                <a:ea typeface="Arial"/>
                <a:cs typeface="Arial"/>
              </a:defRPr>
            </a:pPr>
            <a:r>
              <a:rPr sz="900" b="1">
                <a:solidFill>
                  <a:srgbClr val="CDEB85"/>
                </a:solidFill>
                <a:latin typeface="Arial"/>
                <a:ea typeface="Arial"/>
                <a:cs typeface="Arial"/>
              </a:rPr>
              <a:t>01</a:t>
            </a:r>
          </a:p>
        </p:txBody>
      </p:sp>
      <p:sp>
        <p:nvSpPr>
          <p:cNvPr id="8" name="Rectangle 7">
            <a:extLst>
              <a:ext uri="{FF2B5EF4-FFF2-40B4-BE49-F238E27FC236}">
                <a16:creationId xmlns:a16="http://schemas.microsoft.com/office/drawing/2014/main" id="{1F5BE73C-43C6-42C2-BEC1-4D633936E93A}"/>
              </a:ext>
            </a:extLst>
          </p:cNvPr>
          <p:cNvSpPr>
            <a:spLocks noGrp="1"/>
          </p:cNvSpPr>
          <p:nvPr/>
        </p:nvSpPr>
        <p:spPr>
          <a:xfrm>
            <a:off x="819150" y="3038475"/>
            <a:ext cx="1809750" cy="304800"/>
          </a:xfrm>
          <a:prstGeom prst="rect">
            <a:avLst/>
          </a:prstGeom>
          <a:noFill/>
          <a:ln w="0">
            <a:noFill/>
          </a:ln>
        </p:spPr>
        <p:txBody>
          <a:bodyPr>
            <a:noAutofit/>
          </a:bodyPr>
          <a:lstStyle/>
          <a:p>
            <a:pPr>
              <a:defRPr sz="1350" b="1">
                <a:solidFill>
                  <a:srgbClr val="F3F6EF"/>
                </a:solidFill>
                <a:latin typeface="Arial"/>
                <a:ea typeface="Arial"/>
                <a:cs typeface="Arial"/>
              </a:defRPr>
            </a:pPr>
            <a:r>
              <a:rPr sz="1350" b="1">
                <a:solidFill>
                  <a:srgbClr val="F3F6EF"/>
                </a:solidFill>
                <a:latin typeface="Arial"/>
                <a:ea typeface="Arial"/>
                <a:cs typeface="Arial"/>
              </a:rPr>
              <a:t>ETTh1 observations</a:t>
            </a:r>
          </a:p>
        </p:txBody>
      </p:sp>
      <p:sp>
        <p:nvSpPr>
          <p:cNvPr id="9" name="Rectangle 8">
            <a:extLst>
              <a:ext uri="{FF2B5EF4-FFF2-40B4-BE49-F238E27FC236}">
                <a16:creationId xmlns:a16="http://schemas.microsoft.com/office/drawing/2014/main" id="{483C990A-FDA0-4271-84FA-07E3CCC269BB}"/>
              </a:ext>
            </a:extLst>
          </p:cNvPr>
          <p:cNvSpPr>
            <a:spLocks noGrp="1"/>
          </p:cNvSpPr>
          <p:nvPr/>
        </p:nvSpPr>
        <p:spPr>
          <a:xfrm>
            <a:off x="819150" y="3457575"/>
            <a:ext cx="1809750" cy="381000"/>
          </a:xfrm>
          <a:prstGeom prst="rect">
            <a:avLst/>
          </a:prstGeom>
          <a:noFill/>
          <a:ln w="0">
            <a:noFill/>
          </a:ln>
        </p:spPr>
        <p:txBody>
          <a:bodyPr>
            <a:noAutofit/>
          </a:bodyPr>
          <a:lstStyle/>
          <a:p>
            <a:pPr>
              <a:defRPr sz="975" b="0">
                <a:solidFill>
                  <a:srgbClr val="A9B5A5"/>
                </a:solidFill>
                <a:latin typeface="Arial"/>
                <a:ea typeface="Arial"/>
                <a:cs typeface="Arial"/>
              </a:defRPr>
            </a:pPr>
            <a:r>
              <a:rPr sz="975" b="0">
                <a:solidFill>
                  <a:srgbClr val="A9B5A5"/>
                </a:solidFill>
                <a:latin typeface="Arial"/>
                <a:ea typeface="Arial"/>
                <a:cs typeface="Arial"/>
              </a:rPr>
              <a:t>Real hourly transformer data</a:t>
            </a:r>
          </a:p>
        </p:txBody>
      </p:sp>
      <p:sp>
        <p:nvSpPr>
          <p:cNvPr id="10" name="Rectangle 9">
            <a:extLst>
              <a:ext uri="{FF2B5EF4-FFF2-40B4-BE49-F238E27FC236}">
                <a16:creationId xmlns:a16="http://schemas.microsoft.com/office/drawing/2014/main" id="{AAE00C4F-0069-4E52-85CE-D480BAB666C7}"/>
              </a:ext>
            </a:extLst>
          </p:cNvPr>
          <p:cNvSpPr>
            <a:spLocks noGrp="1"/>
          </p:cNvSpPr>
          <p:nvPr/>
        </p:nvSpPr>
        <p:spPr>
          <a:xfrm>
            <a:off x="2914650" y="3048000"/>
            <a:ext cx="381000" cy="285750"/>
          </a:xfrm>
          <a:prstGeom prst="rect">
            <a:avLst/>
          </a:prstGeom>
          <a:noFill/>
          <a:ln w="0">
            <a:noFill/>
          </a:ln>
        </p:spPr>
        <p:txBody>
          <a:bodyPr>
            <a:noAutofit/>
          </a:bodyPr>
          <a:lstStyle/>
          <a:p>
            <a:pPr>
              <a:defRPr sz="2025" b="1">
                <a:solidFill>
                  <a:srgbClr val="CDEB85"/>
                </a:solidFill>
                <a:latin typeface="Arial"/>
                <a:ea typeface="Arial"/>
                <a:cs typeface="Arial"/>
              </a:defRPr>
            </a:pPr>
            <a:r>
              <a:rPr sz="2025" b="1">
                <a:solidFill>
                  <a:srgbClr val="CDEB85"/>
                </a:solidFill>
                <a:latin typeface="Arial"/>
                <a:ea typeface="Arial"/>
                <a:cs typeface="Arial"/>
              </a:rPr>
              <a:t>→</a:t>
            </a:r>
          </a:p>
        </p:txBody>
      </p:sp>
      <p:sp>
        <p:nvSpPr>
          <p:cNvPr id="11" name="Rectangle: Rounded Corners 10">
            <a:extLst>
              <a:ext uri="{FF2B5EF4-FFF2-40B4-BE49-F238E27FC236}">
                <a16:creationId xmlns:a16="http://schemas.microsoft.com/office/drawing/2014/main" id="{0028C92F-B968-4323-817D-98AFD1DA9A6C}"/>
              </a:ext>
            </a:extLst>
          </p:cNvPr>
          <p:cNvSpPr>
            <a:spLocks noGrp="1"/>
          </p:cNvSpPr>
          <p:nvPr/>
        </p:nvSpPr>
        <p:spPr>
          <a:xfrm>
            <a:off x="3409950" y="2428875"/>
            <a:ext cx="2238375" cy="1619250"/>
          </a:xfrm>
          <a:prstGeom prst="roundRect">
            <a:avLst>
              <a:gd name="adj" fmla="val 7059"/>
            </a:avLst>
          </a:prstGeom>
          <a:solidFill>
            <a:srgbClr val="1E2820"/>
          </a:solidFill>
          <a:ln w="9525">
            <a:solidFill>
              <a:srgbClr val="445242"/>
            </a:solidFill>
          </a:ln>
        </p:spPr>
        <p:txBody>
          <a:bodyPr/>
          <a:lstStyle/>
          <a:p>
            <a:endParaRPr lang="en-IN"/>
          </a:p>
        </p:txBody>
      </p:sp>
      <p:sp>
        <p:nvSpPr>
          <p:cNvPr id="12" name="Rectangle 11">
            <a:extLst>
              <a:ext uri="{FF2B5EF4-FFF2-40B4-BE49-F238E27FC236}">
                <a16:creationId xmlns:a16="http://schemas.microsoft.com/office/drawing/2014/main" id="{8BA09079-0376-4929-9046-B2E9DEF3D486}"/>
              </a:ext>
            </a:extLst>
          </p:cNvPr>
          <p:cNvSpPr>
            <a:spLocks noGrp="1"/>
          </p:cNvSpPr>
          <p:nvPr/>
        </p:nvSpPr>
        <p:spPr>
          <a:xfrm>
            <a:off x="3619500" y="2657475"/>
            <a:ext cx="333375" cy="171450"/>
          </a:xfrm>
          <a:prstGeom prst="rect">
            <a:avLst/>
          </a:prstGeom>
          <a:noFill/>
          <a:ln w="0">
            <a:noFill/>
          </a:ln>
        </p:spPr>
        <p:txBody>
          <a:bodyPr>
            <a:noAutofit/>
          </a:bodyPr>
          <a:lstStyle/>
          <a:p>
            <a:pPr>
              <a:defRPr sz="900" b="1">
                <a:solidFill>
                  <a:srgbClr val="CDEB85"/>
                </a:solidFill>
                <a:latin typeface="Arial"/>
                <a:ea typeface="Arial"/>
                <a:cs typeface="Arial"/>
              </a:defRPr>
            </a:pPr>
            <a:r>
              <a:rPr sz="900" b="1">
                <a:solidFill>
                  <a:srgbClr val="CDEB85"/>
                </a:solidFill>
                <a:latin typeface="Arial"/>
                <a:ea typeface="Arial"/>
                <a:cs typeface="Arial"/>
              </a:rPr>
              <a:t>02</a:t>
            </a:r>
          </a:p>
        </p:txBody>
      </p:sp>
      <p:sp>
        <p:nvSpPr>
          <p:cNvPr id="13" name="Rectangle 12">
            <a:extLst>
              <a:ext uri="{FF2B5EF4-FFF2-40B4-BE49-F238E27FC236}">
                <a16:creationId xmlns:a16="http://schemas.microsoft.com/office/drawing/2014/main" id="{3AE0A761-014E-4E97-8697-2FA3D4B339B0}"/>
              </a:ext>
            </a:extLst>
          </p:cNvPr>
          <p:cNvSpPr>
            <a:spLocks noGrp="1"/>
          </p:cNvSpPr>
          <p:nvPr/>
        </p:nvSpPr>
        <p:spPr>
          <a:xfrm>
            <a:off x="3619500" y="3038475"/>
            <a:ext cx="1809750" cy="304800"/>
          </a:xfrm>
          <a:prstGeom prst="rect">
            <a:avLst/>
          </a:prstGeom>
          <a:noFill/>
          <a:ln w="0">
            <a:noFill/>
          </a:ln>
        </p:spPr>
        <p:txBody>
          <a:bodyPr>
            <a:noAutofit/>
          </a:bodyPr>
          <a:lstStyle/>
          <a:p>
            <a:pPr>
              <a:defRPr sz="1350" b="1">
                <a:solidFill>
                  <a:srgbClr val="F3F6EF"/>
                </a:solidFill>
                <a:latin typeface="Arial"/>
                <a:ea typeface="Arial"/>
                <a:cs typeface="Arial"/>
              </a:defRPr>
            </a:pPr>
            <a:r>
              <a:rPr sz="1350" b="1">
                <a:solidFill>
                  <a:srgbClr val="F3F6EF"/>
                </a:solidFill>
                <a:latin typeface="Arial"/>
                <a:ea typeface="Arial"/>
                <a:cs typeface="Arial"/>
              </a:rPr>
              <a:t>Failure simulator</a:t>
            </a:r>
          </a:p>
        </p:txBody>
      </p:sp>
      <p:sp>
        <p:nvSpPr>
          <p:cNvPr id="14" name="Rectangle 13">
            <a:extLst>
              <a:ext uri="{FF2B5EF4-FFF2-40B4-BE49-F238E27FC236}">
                <a16:creationId xmlns:a16="http://schemas.microsoft.com/office/drawing/2014/main" id="{5CD4BC2C-8368-4CCE-A668-E1EED794D08A}"/>
              </a:ext>
            </a:extLst>
          </p:cNvPr>
          <p:cNvSpPr>
            <a:spLocks noGrp="1"/>
          </p:cNvSpPr>
          <p:nvPr/>
        </p:nvSpPr>
        <p:spPr>
          <a:xfrm>
            <a:off x="3619500" y="3457575"/>
            <a:ext cx="1809750" cy="381000"/>
          </a:xfrm>
          <a:prstGeom prst="rect">
            <a:avLst/>
          </a:prstGeom>
          <a:noFill/>
          <a:ln w="0">
            <a:noFill/>
          </a:ln>
        </p:spPr>
        <p:txBody>
          <a:bodyPr>
            <a:noAutofit/>
          </a:bodyPr>
          <a:lstStyle/>
          <a:p>
            <a:pPr>
              <a:defRPr sz="975" b="0">
                <a:solidFill>
                  <a:srgbClr val="A9B5A5"/>
                </a:solidFill>
                <a:latin typeface="Arial"/>
                <a:ea typeface="Arial"/>
                <a:cs typeface="Arial"/>
              </a:defRPr>
            </a:pPr>
            <a:r>
              <a:rPr sz="975" b="0">
                <a:solidFill>
                  <a:srgbClr val="A9B5A5"/>
                </a:solidFill>
                <a:latin typeface="Arial"/>
                <a:ea typeface="Arial"/>
                <a:cs typeface="Arial"/>
              </a:rPr>
              <a:t>Synthetic sensor + weather events</a:t>
            </a:r>
          </a:p>
        </p:txBody>
      </p:sp>
      <p:sp>
        <p:nvSpPr>
          <p:cNvPr id="15" name="Rectangle 14">
            <a:extLst>
              <a:ext uri="{FF2B5EF4-FFF2-40B4-BE49-F238E27FC236}">
                <a16:creationId xmlns:a16="http://schemas.microsoft.com/office/drawing/2014/main" id="{89974F02-2CE6-452A-B4CF-8F649D479D18}"/>
              </a:ext>
            </a:extLst>
          </p:cNvPr>
          <p:cNvSpPr>
            <a:spLocks noGrp="1"/>
          </p:cNvSpPr>
          <p:nvPr/>
        </p:nvSpPr>
        <p:spPr>
          <a:xfrm>
            <a:off x="5715000" y="3048000"/>
            <a:ext cx="381000" cy="285750"/>
          </a:xfrm>
          <a:prstGeom prst="rect">
            <a:avLst/>
          </a:prstGeom>
          <a:noFill/>
          <a:ln w="0">
            <a:noFill/>
          </a:ln>
        </p:spPr>
        <p:txBody>
          <a:bodyPr>
            <a:noAutofit/>
          </a:bodyPr>
          <a:lstStyle/>
          <a:p>
            <a:pPr>
              <a:defRPr sz="2025" b="1">
                <a:solidFill>
                  <a:srgbClr val="CDEB85"/>
                </a:solidFill>
                <a:latin typeface="Arial"/>
                <a:ea typeface="Arial"/>
                <a:cs typeface="Arial"/>
              </a:defRPr>
            </a:pPr>
            <a:r>
              <a:rPr sz="2025" b="1">
                <a:solidFill>
                  <a:srgbClr val="CDEB85"/>
                </a:solidFill>
                <a:latin typeface="Arial"/>
                <a:ea typeface="Arial"/>
                <a:cs typeface="Arial"/>
              </a:rPr>
              <a:t>→</a:t>
            </a:r>
          </a:p>
        </p:txBody>
      </p:sp>
      <p:sp>
        <p:nvSpPr>
          <p:cNvPr id="16" name="Rectangle: Rounded Corners 15">
            <a:extLst>
              <a:ext uri="{FF2B5EF4-FFF2-40B4-BE49-F238E27FC236}">
                <a16:creationId xmlns:a16="http://schemas.microsoft.com/office/drawing/2014/main" id="{7784D64C-D7D0-436A-AB52-9DC2A5A45821}"/>
              </a:ext>
            </a:extLst>
          </p:cNvPr>
          <p:cNvSpPr>
            <a:spLocks noGrp="1"/>
          </p:cNvSpPr>
          <p:nvPr/>
        </p:nvSpPr>
        <p:spPr>
          <a:xfrm>
            <a:off x="6210300" y="2428875"/>
            <a:ext cx="2238375" cy="1619250"/>
          </a:xfrm>
          <a:prstGeom prst="roundRect">
            <a:avLst>
              <a:gd name="adj" fmla="val 7059"/>
            </a:avLst>
          </a:prstGeom>
          <a:solidFill>
            <a:srgbClr val="2C3826"/>
          </a:solidFill>
          <a:ln w="9525">
            <a:solidFill>
              <a:srgbClr val="718B44"/>
            </a:solidFill>
          </a:ln>
        </p:spPr>
        <p:txBody>
          <a:bodyPr/>
          <a:lstStyle/>
          <a:p>
            <a:endParaRPr lang="en-IN"/>
          </a:p>
        </p:txBody>
      </p:sp>
      <p:sp>
        <p:nvSpPr>
          <p:cNvPr id="17" name="Rectangle 16">
            <a:extLst>
              <a:ext uri="{FF2B5EF4-FFF2-40B4-BE49-F238E27FC236}">
                <a16:creationId xmlns:a16="http://schemas.microsoft.com/office/drawing/2014/main" id="{A198B4D7-9581-4C56-97B5-4BD448D014D9}"/>
              </a:ext>
            </a:extLst>
          </p:cNvPr>
          <p:cNvSpPr>
            <a:spLocks noGrp="1"/>
          </p:cNvSpPr>
          <p:nvPr/>
        </p:nvSpPr>
        <p:spPr>
          <a:xfrm>
            <a:off x="6419850" y="2657475"/>
            <a:ext cx="333375" cy="171450"/>
          </a:xfrm>
          <a:prstGeom prst="rect">
            <a:avLst/>
          </a:prstGeom>
          <a:noFill/>
          <a:ln w="0">
            <a:noFill/>
          </a:ln>
        </p:spPr>
        <p:txBody>
          <a:bodyPr>
            <a:noAutofit/>
          </a:bodyPr>
          <a:lstStyle/>
          <a:p>
            <a:pPr>
              <a:defRPr sz="900" b="1">
                <a:solidFill>
                  <a:srgbClr val="CDEB85"/>
                </a:solidFill>
                <a:latin typeface="Arial"/>
                <a:ea typeface="Arial"/>
                <a:cs typeface="Arial"/>
              </a:defRPr>
            </a:pPr>
            <a:r>
              <a:rPr sz="900" b="1">
                <a:solidFill>
                  <a:srgbClr val="CDEB85"/>
                </a:solidFill>
                <a:latin typeface="Arial"/>
                <a:ea typeface="Arial"/>
                <a:cs typeface="Arial"/>
              </a:rPr>
              <a:t>03</a:t>
            </a:r>
          </a:p>
        </p:txBody>
      </p:sp>
      <p:sp>
        <p:nvSpPr>
          <p:cNvPr id="18" name="Rectangle 17">
            <a:extLst>
              <a:ext uri="{FF2B5EF4-FFF2-40B4-BE49-F238E27FC236}">
                <a16:creationId xmlns:a16="http://schemas.microsoft.com/office/drawing/2014/main" id="{D4BF5011-D47B-4742-A619-5BF6BCB30FD5}"/>
              </a:ext>
            </a:extLst>
          </p:cNvPr>
          <p:cNvSpPr>
            <a:spLocks noGrp="1"/>
          </p:cNvSpPr>
          <p:nvPr/>
        </p:nvSpPr>
        <p:spPr>
          <a:xfrm>
            <a:off x="6419850" y="3038475"/>
            <a:ext cx="1809750" cy="304800"/>
          </a:xfrm>
          <a:prstGeom prst="rect">
            <a:avLst/>
          </a:prstGeom>
          <a:noFill/>
          <a:ln w="0">
            <a:noFill/>
          </a:ln>
        </p:spPr>
        <p:txBody>
          <a:bodyPr>
            <a:noAutofit/>
          </a:bodyPr>
          <a:lstStyle/>
          <a:p>
            <a:pPr>
              <a:defRPr sz="1350" b="1">
                <a:solidFill>
                  <a:srgbClr val="F3F6EF"/>
                </a:solidFill>
                <a:latin typeface="Arial"/>
                <a:ea typeface="Arial"/>
                <a:cs typeface="Arial"/>
              </a:defRPr>
            </a:pPr>
            <a:r>
              <a:rPr sz="1350" b="1">
                <a:solidFill>
                  <a:srgbClr val="F3F6EF"/>
                </a:solidFill>
                <a:latin typeface="Arial"/>
                <a:ea typeface="Arial"/>
                <a:cs typeface="Arial"/>
              </a:rPr>
              <a:t>Shared advisor</a:t>
            </a:r>
          </a:p>
        </p:txBody>
      </p:sp>
      <p:sp>
        <p:nvSpPr>
          <p:cNvPr id="19" name="Rectangle 18">
            <a:extLst>
              <a:ext uri="{FF2B5EF4-FFF2-40B4-BE49-F238E27FC236}">
                <a16:creationId xmlns:a16="http://schemas.microsoft.com/office/drawing/2014/main" id="{20379F89-5006-4092-9BCD-A0B4C3914BF1}"/>
              </a:ext>
            </a:extLst>
          </p:cNvPr>
          <p:cNvSpPr>
            <a:spLocks noGrp="1"/>
          </p:cNvSpPr>
          <p:nvPr/>
        </p:nvSpPr>
        <p:spPr>
          <a:xfrm>
            <a:off x="6419850" y="3457575"/>
            <a:ext cx="1809750" cy="381000"/>
          </a:xfrm>
          <a:prstGeom prst="rect">
            <a:avLst/>
          </a:prstGeom>
          <a:noFill/>
          <a:ln w="0">
            <a:noFill/>
          </a:ln>
        </p:spPr>
        <p:txBody>
          <a:bodyPr>
            <a:noAutofit/>
          </a:bodyPr>
          <a:lstStyle/>
          <a:p>
            <a:pPr>
              <a:defRPr sz="975" b="0">
                <a:solidFill>
                  <a:srgbClr val="A9B5A5"/>
                </a:solidFill>
                <a:latin typeface="Arial"/>
                <a:ea typeface="Arial"/>
                <a:cs typeface="Arial"/>
              </a:defRPr>
            </a:pPr>
            <a:r>
              <a:rPr sz="975" b="0">
                <a:solidFill>
                  <a:srgbClr val="A9B5A5"/>
                </a:solidFill>
                <a:latin typeface="Arial"/>
                <a:ea typeface="Arial"/>
                <a:cs typeface="Arial"/>
              </a:rPr>
              <a:t>Risk, impact and crew plan</a:t>
            </a:r>
          </a:p>
        </p:txBody>
      </p:sp>
      <p:sp>
        <p:nvSpPr>
          <p:cNvPr id="20" name="Rectangle 19">
            <a:extLst>
              <a:ext uri="{FF2B5EF4-FFF2-40B4-BE49-F238E27FC236}">
                <a16:creationId xmlns:a16="http://schemas.microsoft.com/office/drawing/2014/main" id="{D524D9CE-3A17-4CAC-91D9-DBFCA39C8043}"/>
              </a:ext>
            </a:extLst>
          </p:cNvPr>
          <p:cNvSpPr>
            <a:spLocks noGrp="1"/>
          </p:cNvSpPr>
          <p:nvPr/>
        </p:nvSpPr>
        <p:spPr>
          <a:xfrm>
            <a:off x="8515350" y="3048000"/>
            <a:ext cx="381000" cy="285750"/>
          </a:xfrm>
          <a:prstGeom prst="rect">
            <a:avLst/>
          </a:prstGeom>
          <a:noFill/>
          <a:ln w="0">
            <a:noFill/>
          </a:ln>
        </p:spPr>
        <p:txBody>
          <a:bodyPr>
            <a:noAutofit/>
          </a:bodyPr>
          <a:lstStyle/>
          <a:p>
            <a:pPr>
              <a:defRPr sz="2025" b="1">
                <a:solidFill>
                  <a:srgbClr val="CDEB85"/>
                </a:solidFill>
                <a:latin typeface="Arial"/>
                <a:ea typeface="Arial"/>
                <a:cs typeface="Arial"/>
              </a:defRPr>
            </a:pPr>
            <a:r>
              <a:rPr sz="2025" b="1">
                <a:solidFill>
                  <a:srgbClr val="CDEB85"/>
                </a:solidFill>
                <a:latin typeface="Arial"/>
                <a:ea typeface="Arial"/>
                <a:cs typeface="Arial"/>
              </a:rPr>
              <a:t>→</a:t>
            </a:r>
          </a:p>
        </p:txBody>
      </p:sp>
      <p:sp>
        <p:nvSpPr>
          <p:cNvPr id="21" name="Rectangle: Rounded Corners 20">
            <a:extLst>
              <a:ext uri="{FF2B5EF4-FFF2-40B4-BE49-F238E27FC236}">
                <a16:creationId xmlns:a16="http://schemas.microsoft.com/office/drawing/2014/main" id="{76DFD5D1-189F-4C42-829D-05BDA06D6568}"/>
              </a:ext>
            </a:extLst>
          </p:cNvPr>
          <p:cNvSpPr>
            <a:spLocks noGrp="1"/>
          </p:cNvSpPr>
          <p:nvPr/>
        </p:nvSpPr>
        <p:spPr>
          <a:xfrm>
            <a:off x="9010650" y="2428875"/>
            <a:ext cx="2238375" cy="1619250"/>
          </a:xfrm>
          <a:prstGeom prst="roundRect">
            <a:avLst>
              <a:gd name="adj" fmla="val 7059"/>
            </a:avLst>
          </a:prstGeom>
          <a:solidFill>
            <a:srgbClr val="1E2820"/>
          </a:solidFill>
          <a:ln w="9525">
            <a:solidFill>
              <a:srgbClr val="445242"/>
            </a:solidFill>
          </a:ln>
        </p:spPr>
        <p:txBody>
          <a:bodyPr/>
          <a:lstStyle/>
          <a:p>
            <a:endParaRPr lang="en-IN"/>
          </a:p>
        </p:txBody>
      </p:sp>
      <p:sp>
        <p:nvSpPr>
          <p:cNvPr id="22" name="Rectangle 21">
            <a:extLst>
              <a:ext uri="{FF2B5EF4-FFF2-40B4-BE49-F238E27FC236}">
                <a16:creationId xmlns:a16="http://schemas.microsoft.com/office/drawing/2014/main" id="{731FE32E-33E1-4ED2-AF40-2D75DF762BE9}"/>
              </a:ext>
            </a:extLst>
          </p:cNvPr>
          <p:cNvSpPr>
            <a:spLocks noGrp="1"/>
          </p:cNvSpPr>
          <p:nvPr/>
        </p:nvSpPr>
        <p:spPr>
          <a:xfrm>
            <a:off x="9220200" y="2657475"/>
            <a:ext cx="333375" cy="171450"/>
          </a:xfrm>
          <a:prstGeom prst="rect">
            <a:avLst/>
          </a:prstGeom>
          <a:noFill/>
          <a:ln w="0">
            <a:noFill/>
          </a:ln>
        </p:spPr>
        <p:txBody>
          <a:bodyPr>
            <a:noAutofit/>
          </a:bodyPr>
          <a:lstStyle/>
          <a:p>
            <a:pPr>
              <a:defRPr sz="900" b="1">
                <a:solidFill>
                  <a:srgbClr val="CDEB85"/>
                </a:solidFill>
                <a:latin typeface="Arial"/>
                <a:ea typeface="Arial"/>
                <a:cs typeface="Arial"/>
              </a:defRPr>
            </a:pPr>
            <a:r>
              <a:rPr sz="900" b="1">
                <a:solidFill>
                  <a:srgbClr val="CDEB85"/>
                </a:solidFill>
                <a:latin typeface="Arial"/>
                <a:ea typeface="Arial"/>
                <a:cs typeface="Arial"/>
              </a:rPr>
              <a:t>04</a:t>
            </a:r>
          </a:p>
        </p:txBody>
      </p:sp>
      <p:sp>
        <p:nvSpPr>
          <p:cNvPr id="23" name="Rectangle 22">
            <a:extLst>
              <a:ext uri="{FF2B5EF4-FFF2-40B4-BE49-F238E27FC236}">
                <a16:creationId xmlns:a16="http://schemas.microsoft.com/office/drawing/2014/main" id="{945985E2-B18C-415D-8E7D-9960538541E3}"/>
              </a:ext>
            </a:extLst>
          </p:cNvPr>
          <p:cNvSpPr>
            <a:spLocks noGrp="1"/>
          </p:cNvSpPr>
          <p:nvPr/>
        </p:nvSpPr>
        <p:spPr>
          <a:xfrm>
            <a:off x="9220200" y="3038475"/>
            <a:ext cx="1809750" cy="304800"/>
          </a:xfrm>
          <a:prstGeom prst="rect">
            <a:avLst/>
          </a:prstGeom>
          <a:noFill/>
          <a:ln w="0">
            <a:noFill/>
          </a:ln>
        </p:spPr>
        <p:txBody>
          <a:bodyPr>
            <a:noAutofit/>
          </a:bodyPr>
          <a:lstStyle/>
          <a:p>
            <a:pPr>
              <a:defRPr sz="1350" b="1">
                <a:solidFill>
                  <a:srgbClr val="F3F6EF"/>
                </a:solidFill>
                <a:latin typeface="Arial"/>
                <a:ea typeface="Arial"/>
                <a:cs typeface="Arial"/>
              </a:defRPr>
            </a:pPr>
            <a:r>
              <a:rPr sz="1350" b="1" dirty="0">
                <a:solidFill>
                  <a:srgbClr val="F3F6EF"/>
                </a:solidFill>
                <a:latin typeface="Arial"/>
                <a:ea typeface="Arial"/>
                <a:cs typeface="Arial"/>
              </a:rPr>
              <a:t>Operator surfaces</a:t>
            </a:r>
          </a:p>
        </p:txBody>
      </p:sp>
      <p:sp>
        <p:nvSpPr>
          <p:cNvPr id="24" name="Rectangle 23">
            <a:extLst>
              <a:ext uri="{FF2B5EF4-FFF2-40B4-BE49-F238E27FC236}">
                <a16:creationId xmlns:a16="http://schemas.microsoft.com/office/drawing/2014/main" id="{76966C0D-88A8-4888-B539-3347829F0422}"/>
              </a:ext>
            </a:extLst>
          </p:cNvPr>
          <p:cNvSpPr>
            <a:spLocks noGrp="1"/>
          </p:cNvSpPr>
          <p:nvPr/>
        </p:nvSpPr>
        <p:spPr>
          <a:xfrm>
            <a:off x="9220200" y="3457575"/>
            <a:ext cx="1809750" cy="381000"/>
          </a:xfrm>
          <a:prstGeom prst="rect">
            <a:avLst/>
          </a:prstGeom>
          <a:noFill/>
          <a:ln w="0">
            <a:noFill/>
          </a:ln>
        </p:spPr>
        <p:txBody>
          <a:bodyPr>
            <a:noAutofit/>
          </a:bodyPr>
          <a:lstStyle/>
          <a:p>
            <a:pPr>
              <a:defRPr sz="975" b="0">
                <a:solidFill>
                  <a:srgbClr val="A9B5A5"/>
                </a:solidFill>
                <a:latin typeface="Arial"/>
                <a:ea typeface="Arial"/>
                <a:cs typeface="Arial"/>
              </a:defRPr>
            </a:pPr>
            <a:r>
              <a:rPr sz="975" b="0">
                <a:solidFill>
                  <a:srgbClr val="A9B5A5"/>
                </a:solidFill>
                <a:latin typeface="Arial"/>
                <a:ea typeface="Arial"/>
                <a:cs typeface="Arial"/>
              </a:rPr>
              <a:t>Browser dashboard + IBM Bob MCP</a:t>
            </a:r>
          </a:p>
        </p:txBody>
      </p:sp>
      <p:sp>
        <p:nvSpPr>
          <p:cNvPr id="25" name="Rectangle 24">
            <a:extLst>
              <a:ext uri="{FF2B5EF4-FFF2-40B4-BE49-F238E27FC236}">
                <a16:creationId xmlns:a16="http://schemas.microsoft.com/office/drawing/2014/main" id="{2049F731-D691-4777-9F3A-8F8C709B1BD8}"/>
              </a:ext>
            </a:extLst>
          </p:cNvPr>
          <p:cNvSpPr>
            <a:spLocks noGrp="1"/>
          </p:cNvSpPr>
          <p:nvPr/>
        </p:nvSpPr>
        <p:spPr>
          <a:xfrm>
            <a:off x="628650" y="4762500"/>
            <a:ext cx="10001250" cy="304800"/>
          </a:xfrm>
          <a:prstGeom prst="rect">
            <a:avLst/>
          </a:prstGeom>
          <a:noFill/>
          <a:ln w="0">
            <a:noFill/>
          </a:ln>
        </p:spPr>
        <p:txBody>
          <a:bodyPr>
            <a:noAutofit/>
          </a:bodyPr>
          <a:lstStyle/>
          <a:p>
            <a:pPr>
              <a:defRPr sz="1500" b="1">
                <a:solidFill>
                  <a:srgbClr val="F3F6EF"/>
                </a:solidFill>
                <a:latin typeface="Arial"/>
                <a:ea typeface="Arial"/>
                <a:cs typeface="Arial"/>
              </a:defRPr>
            </a:pPr>
            <a:r>
              <a:rPr sz="1500" b="1">
                <a:solidFill>
                  <a:srgbClr val="F3F6EF"/>
                </a:solidFill>
                <a:latin typeface="Arial"/>
                <a:ea typeface="Arial"/>
                <a:cs typeface="Arial"/>
              </a:rPr>
              <a:t>Models are trained first. The advisor is the shared contract between prediction and action.</a:t>
            </a:r>
          </a:p>
        </p:txBody>
      </p:sp>
      <p:sp>
        <p:nvSpPr>
          <p:cNvPr id="26" name="Rectangle 25">
            <a:extLst>
              <a:ext uri="{FF2B5EF4-FFF2-40B4-BE49-F238E27FC236}">
                <a16:creationId xmlns:a16="http://schemas.microsoft.com/office/drawing/2014/main" id="{506FA515-F60B-4D34-ABDD-A97BFD404F7E}"/>
              </a:ext>
            </a:extLst>
          </p:cNvPr>
          <p:cNvSpPr>
            <a:spLocks noGrp="1"/>
          </p:cNvSpPr>
          <p:nvPr/>
        </p:nvSpPr>
        <p:spPr>
          <a:xfrm>
            <a:off x="638175" y="5219700"/>
            <a:ext cx="9334500" cy="219075"/>
          </a:xfrm>
          <a:prstGeom prst="rect">
            <a:avLst/>
          </a:prstGeom>
          <a:noFill/>
          <a:ln w="0">
            <a:noFill/>
          </a:ln>
        </p:spPr>
        <p:txBody>
          <a:bodyPr>
            <a:noAutofit/>
          </a:bodyPr>
          <a:lstStyle/>
          <a:p>
            <a:pPr>
              <a:defRPr sz="1050" b="0">
                <a:solidFill>
                  <a:srgbClr val="A9B5A5"/>
                </a:solidFill>
                <a:latin typeface="Arial"/>
                <a:ea typeface="Arial"/>
                <a:cs typeface="Arial"/>
              </a:defRPr>
            </a:pPr>
            <a:r>
              <a:rPr sz="1050" b="0">
                <a:solidFill>
                  <a:srgbClr val="A9B5A5"/>
                </a:solidFill>
                <a:latin typeface="Arial"/>
                <a:ea typeface="Arial"/>
                <a:cs typeface="Arial"/>
              </a:rPr>
              <a:t>REAL DATA → temperature forecast     |     SYNTHETIC DATA → failure demonstration</a:t>
            </a:r>
          </a:p>
        </p:txBody>
      </p:sp>
    </p:spTree>
    <p:extLst>
      <p:ext uri="{BB962C8B-B14F-4D97-AF65-F5344CB8AC3E}">
        <p14:creationId xmlns:p14="http://schemas.microsoft.com/office/powerpoint/2010/main" val="6184116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11713"/>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4268EC16-EBC0-45A2-9D61-C217E97CB31A}"/>
              </a:ext>
            </a:extLst>
          </p:cNvPr>
          <p:cNvSpPr>
            <a:spLocks noGrp="1"/>
          </p:cNvSpPr>
          <p:nvPr/>
        </p:nvSpPr>
        <p:spPr>
          <a:xfrm>
            <a:off x="609600" y="361950"/>
            <a:ext cx="2000250" cy="171450"/>
          </a:xfrm>
          <a:prstGeom prst="rect">
            <a:avLst/>
          </a:prstGeom>
          <a:noFill/>
          <a:ln w="0">
            <a:noFill/>
          </a:ln>
        </p:spPr>
        <p:txBody>
          <a:bodyPr>
            <a:noAutofit/>
          </a:bodyPr>
          <a:lstStyle/>
          <a:p>
            <a:pPr>
              <a:defRPr sz="825" b="1">
                <a:solidFill>
                  <a:srgbClr val="CDEB85"/>
                </a:solidFill>
                <a:latin typeface="Arial"/>
                <a:ea typeface="Arial"/>
                <a:cs typeface="Arial"/>
              </a:defRPr>
            </a:pPr>
            <a:r>
              <a:rPr sz="825" b="1">
                <a:solidFill>
                  <a:srgbClr val="CDEB85"/>
                </a:solidFill>
                <a:latin typeface="Arial"/>
                <a:ea typeface="Arial"/>
                <a:cs typeface="Arial"/>
              </a:rPr>
              <a:t>IBM BOBATHON 2026</a:t>
            </a:r>
          </a:p>
        </p:txBody>
      </p:sp>
      <p:sp>
        <p:nvSpPr>
          <p:cNvPr id="2" name="Rectangle 1">
            <a:extLst>
              <a:ext uri="{FF2B5EF4-FFF2-40B4-BE49-F238E27FC236}">
                <a16:creationId xmlns:a16="http://schemas.microsoft.com/office/drawing/2014/main" id="{ACD7D074-964A-4AE7-AFAD-7DBEBD1EB449}"/>
              </a:ext>
            </a:extLst>
          </p:cNvPr>
          <p:cNvSpPr>
            <a:spLocks noGrp="1"/>
          </p:cNvSpPr>
          <p:nvPr/>
        </p:nvSpPr>
        <p:spPr>
          <a:xfrm>
            <a:off x="609600" y="704850"/>
            <a:ext cx="10287000" cy="590550"/>
          </a:xfrm>
          <a:prstGeom prst="rect">
            <a:avLst/>
          </a:prstGeom>
          <a:noFill/>
          <a:ln w="0">
            <a:noFill/>
          </a:ln>
        </p:spPr>
        <p:txBody>
          <a:bodyPr>
            <a:noAutofit/>
          </a:bodyPr>
          <a:lstStyle/>
          <a:p>
            <a:pPr>
              <a:defRPr sz="3150" b="1">
                <a:solidFill>
                  <a:srgbClr val="F3F6EF"/>
                </a:solidFill>
                <a:latin typeface="Arial"/>
                <a:ea typeface="Arial"/>
                <a:cs typeface="Arial"/>
              </a:defRPr>
            </a:pPr>
            <a:r>
              <a:rPr sz="3150" b="1">
                <a:solidFill>
                  <a:srgbClr val="F3F6EF"/>
                </a:solidFill>
                <a:latin typeface="Arial"/>
                <a:ea typeface="Arial"/>
                <a:cs typeface="Arial"/>
              </a:rPr>
              <a:t>Demo: from storm scenario to crew plan</a:t>
            </a:r>
          </a:p>
        </p:txBody>
      </p:sp>
      <p:sp>
        <p:nvSpPr>
          <p:cNvPr id="3" name="Rectangle 2">
            <a:extLst>
              <a:ext uri="{FF2B5EF4-FFF2-40B4-BE49-F238E27FC236}">
                <a16:creationId xmlns:a16="http://schemas.microsoft.com/office/drawing/2014/main" id="{879500B2-172D-48AD-9F8F-B930810F1470}"/>
              </a:ext>
            </a:extLst>
          </p:cNvPr>
          <p:cNvSpPr>
            <a:spLocks noGrp="1"/>
          </p:cNvSpPr>
          <p:nvPr/>
        </p:nvSpPr>
        <p:spPr>
          <a:xfrm>
            <a:off x="628650" y="1343025"/>
            <a:ext cx="9334500" cy="285750"/>
          </a:xfrm>
          <a:prstGeom prst="rect">
            <a:avLst/>
          </a:prstGeom>
          <a:noFill/>
          <a:ln w="0">
            <a:noFill/>
          </a:ln>
        </p:spPr>
        <p:txBody>
          <a:bodyPr>
            <a:noAutofit/>
          </a:bodyPr>
          <a:lstStyle/>
          <a:p>
            <a:pPr>
              <a:defRPr sz="1200" b="0">
                <a:solidFill>
                  <a:srgbClr val="A9B5A5"/>
                </a:solidFill>
                <a:latin typeface="Arial"/>
                <a:ea typeface="Arial"/>
                <a:cs typeface="Arial"/>
              </a:defRPr>
            </a:pPr>
            <a:r>
              <a:rPr sz="1200" b="0">
                <a:solidFill>
                  <a:srgbClr val="A9B5A5"/>
                </a:solidFill>
                <a:latin typeface="Arial"/>
                <a:ea typeface="Arial"/>
                <a:cs typeface="Arial"/>
              </a:rPr>
              <a:t>The same asset risk can produce a different work queue when capacity changes.</a:t>
            </a:r>
          </a:p>
        </p:txBody>
      </p:sp>
      <p:sp>
        <p:nvSpPr>
          <p:cNvPr id="4" name="Rectangle 3">
            <a:extLst>
              <a:ext uri="{FF2B5EF4-FFF2-40B4-BE49-F238E27FC236}">
                <a16:creationId xmlns:a16="http://schemas.microsoft.com/office/drawing/2014/main" id="{9FAFC24A-B548-4153-AFD8-62BBAD665C98}"/>
              </a:ext>
            </a:extLst>
          </p:cNvPr>
          <p:cNvSpPr>
            <a:spLocks noGrp="1"/>
          </p:cNvSpPr>
          <p:nvPr/>
        </p:nvSpPr>
        <p:spPr>
          <a:xfrm>
            <a:off x="609600" y="6419850"/>
            <a:ext cx="4572000" cy="171450"/>
          </a:xfrm>
          <a:prstGeom prst="rect">
            <a:avLst/>
          </a:prstGeom>
          <a:noFill/>
          <a:ln w="0">
            <a:noFill/>
          </a:ln>
        </p:spPr>
        <p:txBody>
          <a:bodyPr>
            <a:noAutofit/>
          </a:bodyPr>
          <a:lstStyle/>
          <a:p>
            <a:pPr>
              <a:defRPr sz="825" b="1">
                <a:solidFill>
                  <a:srgbClr val="A9B5A5"/>
                </a:solidFill>
                <a:latin typeface="Arial"/>
                <a:ea typeface="Arial"/>
                <a:cs typeface="Arial"/>
              </a:defRPr>
            </a:pPr>
            <a:r>
              <a:rPr sz="825" b="1">
                <a:solidFill>
                  <a:srgbClr val="A9B5A5"/>
                </a:solidFill>
                <a:latin typeface="Arial"/>
                <a:ea typeface="Arial"/>
                <a:cs typeface="Arial"/>
              </a:rPr>
              <a:t>GRIDWATCH / U1</a:t>
            </a:r>
          </a:p>
        </p:txBody>
      </p:sp>
      <p:sp>
        <p:nvSpPr>
          <p:cNvPr id="5" name="Rectangle 4">
            <a:extLst>
              <a:ext uri="{FF2B5EF4-FFF2-40B4-BE49-F238E27FC236}">
                <a16:creationId xmlns:a16="http://schemas.microsoft.com/office/drawing/2014/main" id="{FCEC1526-83D1-4D62-8D82-57E8F0570671}"/>
              </a:ext>
            </a:extLst>
          </p:cNvPr>
          <p:cNvSpPr>
            <a:spLocks noGrp="1"/>
          </p:cNvSpPr>
          <p:nvPr/>
        </p:nvSpPr>
        <p:spPr>
          <a:xfrm>
            <a:off x="11239500" y="6419850"/>
            <a:ext cx="333375" cy="171450"/>
          </a:xfrm>
          <a:prstGeom prst="rect">
            <a:avLst/>
          </a:prstGeom>
          <a:noFill/>
          <a:ln w="0">
            <a:noFill/>
          </a:ln>
        </p:spPr>
        <p:txBody>
          <a:bodyPr>
            <a:noAutofit/>
          </a:bodyPr>
          <a:lstStyle/>
          <a:p>
            <a:pPr>
              <a:defRPr sz="825" b="1">
                <a:solidFill>
                  <a:srgbClr val="CDEB85"/>
                </a:solidFill>
                <a:latin typeface="Arial"/>
                <a:ea typeface="Arial"/>
                <a:cs typeface="Arial"/>
              </a:defRPr>
            </a:pPr>
            <a:r>
              <a:rPr sz="825" b="1">
                <a:solidFill>
                  <a:srgbClr val="CDEB85"/>
                </a:solidFill>
                <a:latin typeface="Arial"/>
                <a:ea typeface="Arial"/>
                <a:cs typeface="Arial"/>
              </a:rPr>
              <a:t>05</a:t>
            </a:r>
          </a:p>
        </p:txBody>
      </p:sp>
      <p:pic>
        <p:nvPicPr>
          <p:cNvPr id="24" name="Picture 23"/>
          <p:cNvPicPr>
            <a:picLocks noChangeAspect="1"/>
          </p:cNvPicPr>
          <p:nvPr/>
        </p:nvPicPr>
        <p:blipFill>
          <a:blip r:embed="rId3"/>
          <a:srcRect l="575" r="575"/>
          <a:stretch>
            <a:fillRect/>
          </a:stretch>
        </p:blipFill>
        <p:spPr>
          <a:xfrm>
            <a:off x="609600" y="2038350"/>
            <a:ext cx="4095750" cy="2762250"/>
          </a:xfrm>
          <a:prstGeom prst="roundRect">
            <a:avLst>
              <a:gd name="adj" fmla="val 4138"/>
            </a:avLst>
          </a:prstGeom>
        </p:spPr>
      </p:pic>
      <p:sp>
        <p:nvSpPr>
          <p:cNvPr id="7" name="Rectangle: Rounded Corners 6">
            <a:extLst>
              <a:ext uri="{FF2B5EF4-FFF2-40B4-BE49-F238E27FC236}">
                <a16:creationId xmlns:a16="http://schemas.microsoft.com/office/drawing/2014/main" id="{355B446A-FC5E-4585-9161-9C1BBF8761D6}"/>
              </a:ext>
            </a:extLst>
          </p:cNvPr>
          <p:cNvSpPr>
            <a:spLocks noGrp="1"/>
          </p:cNvSpPr>
          <p:nvPr/>
        </p:nvSpPr>
        <p:spPr>
          <a:xfrm>
            <a:off x="5095875" y="2038350"/>
            <a:ext cx="6477000" cy="2762250"/>
          </a:xfrm>
          <a:prstGeom prst="roundRect">
            <a:avLst>
              <a:gd name="adj" fmla="val 4138"/>
            </a:avLst>
          </a:prstGeom>
          <a:solidFill>
            <a:srgbClr val="1E2820"/>
          </a:solidFill>
          <a:ln w="9525">
            <a:solidFill>
              <a:srgbClr val="445242"/>
            </a:solidFill>
          </a:ln>
        </p:spPr>
        <p:txBody>
          <a:bodyPr/>
          <a:lstStyle/>
          <a:p>
            <a:endParaRPr lang="en-IN"/>
          </a:p>
        </p:txBody>
      </p:sp>
      <p:sp>
        <p:nvSpPr>
          <p:cNvPr id="8" name="Rectangle 7">
            <a:extLst>
              <a:ext uri="{FF2B5EF4-FFF2-40B4-BE49-F238E27FC236}">
                <a16:creationId xmlns:a16="http://schemas.microsoft.com/office/drawing/2014/main" id="{5FF07D84-7C6C-4179-8C90-9463D83ECE50}"/>
              </a:ext>
            </a:extLst>
          </p:cNvPr>
          <p:cNvSpPr>
            <a:spLocks noGrp="1"/>
          </p:cNvSpPr>
          <p:nvPr/>
        </p:nvSpPr>
        <p:spPr>
          <a:xfrm>
            <a:off x="5381625" y="2305050"/>
            <a:ext cx="1524000" cy="171450"/>
          </a:xfrm>
          <a:prstGeom prst="rect">
            <a:avLst/>
          </a:prstGeom>
          <a:noFill/>
          <a:ln w="0">
            <a:noFill/>
          </a:ln>
        </p:spPr>
        <p:txBody>
          <a:bodyPr>
            <a:noAutofit/>
          </a:bodyPr>
          <a:lstStyle/>
          <a:p>
            <a:pPr>
              <a:defRPr sz="825" b="1">
                <a:solidFill>
                  <a:srgbClr val="CDEB85"/>
                </a:solidFill>
                <a:latin typeface="Arial"/>
                <a:ea typeface="Arial"/>
                <a:cs typeface="Arial"/>
              </a:defRPr>
            </a:pPr>
            <a:r>
              <a:rPr sz="825" b="1">
                <a:solidFill>
                  <a:srgbClr val="CDEB85"/>
                </a:solidFill>
                <a:latin typeface="Arial"/>
                <a:ea typeface="Arial"/>
                <a:cs typeface="Arial"/>
              </a:rPr>
              <a:t>STORM SCENARIO</a:t>
            </a:r>
          </a:p>
        </p:txBody>
      </p:sp>
      <p:sp>
        <p:nvSpPr>
          <p:cNvPr id="9" name="Rectangle 8">
            <a:extLst>
              <a:ext uri="{FF2B5EF4-FFF2-40B4-BE49-F238E27FC236}">
                <a16:creationId xmlns:a16="http://schemas.microsoft.com/office/drawing/2014/main" id="{E14023A8-F7C5-4608-9853-52F43F898BFF}"/>
              </a:ext>
            </a:extLst>
          </p:cNvPr>
          <p:cNvSpPr>
            <a:spLocks noGrp="1"/>
          </p:cNvSpPr>
          <p:nvPr/>
        </p:nvSpPr>
        <p:spPr>
          <a:xfrm>
            <a:off x="5381625" y="2609850"/>
            <a:ext cx="4762500" cy="333375"/>
          </a:xfrm>
          <a:prstGeom prst="rect">
            <a:avLst/>
          </a:prstGeom>
          <a:noFill/>
          <a:ln w="0">
            <a:noFill/>
          </a:ln>
        </p:spPr>
        <p:txBody>
          <a:bodyPr>
            <a:noAutofit/>
          </a:bodyPr>
          <a:lstStyle/>
          <a:p>
            <a:pPr>
              <a:defRPr sz="1875" b="1">
                <a:solidFill>
                  <a:srgbClr val="F3F6EF"/>
                </a:solidFill>
                <a:latin typeface="Arial"/>
                <a:ea typeface="Arial"/>
                <a:cs typeface="Arial"/>
              </a:defRPr>
            </a:pPr>
            <a:r>
              <a:rPr sz="1875" b="1">
                <a:solidFill>
                  <a:srgbClr val="F3F6EF"/>
                </a:solidFill>
                <a:latin typeface="Arial"/>
                <a:ea typeface="Arial"/>
                <a:cs typeface="Arial"/>
              </a:rPr>
              <a:t>85 km/h wind  ·  65 mm rain</a:t>
            </a:r>
          </a:p>
        </p:txBody>
      </p:sp>
      <p:sp>
        <p:nvSpPr>
          <p:cNvPr id="10" name="Rectangle 9">
            <a:extLst>
              <a:ext uri="{FF2B5EF4-FFF2-40B4-BE49-F238E27FC236}">
                <a16:creationId xmlns:a16="http://schemas.microsoft.com/office/drawing/2014/main" id="{A594AA6B-97BC-4D63-99B5-0E153E969309}"/>
              </a:ext>
            </a:extLst>
          </p:cNvPr>
          <p:cNvSpPr>
            <a:spLocks noGrp="1"/>
          </p:cNvSpPr>
          <p:nvPr/>
        </p:nvSpPr>
        <p:spPr>
          <a:xfrm>
            <a:off x="5381625" y="3238500"/>
            <a:ext cx="1714500" cy="381000"/>
          </a:xfrm>
          <a:prstGeom prst="rect">
            <a:avLst/>
          </a:prstGeom>
          <a:noFill/>
          <a:ln w="0">
            <a:noFill/>
          </a:ln>
        </p:spPr>
        <p:txBody>
          <a:bodyPr>
            <a:noAutofit/>
          </a:bodyPr>
          <a:lstStyle/>
          <a:p>
            <a:pPr>
              <a:defRPr sz="2250" b="1">
                <a:solidFill>
                  <a:srgbClr val="CDEB85"/>
                </a:solidFill>
                <a:latin typeface="Arial"/>
                <a:ea typeface="Arial"/>
                <a:cs typeface="Arial"/>
              </a:defRPr>
            </a:pPr>
            <a:r>
              <a:rPr sz="2250" b="1">
                <a:solidFill>
                  <a:srgbClr val="CDEB85"/>
                </a:solidFill>
                <a:latin typeface="Arial"/>
                <a:ea typeface="Arial"/>
                <a:cs typeface="Arial"/>
              </a:rPr>
              <a:t>10 / 12</a:t>
            </a:r>
          </a:p>
        </p:txBody>
      </p:sp>
      <p:sp>
        <p:nvSpPr>
          <p:cNvPr id="11" name="Rectangle 10">
            <a:extLst>
              <a:ext uri="{FF2B5EF4-FFF2-40B4-BE49-F238E27FC236}">
                <a16:creationId xmlns:a16="http://schemas.microsoft.com/office/drawing/2014/main" id="{499C1526-8811-4255-AC86-36A1259C126F}"/>
              </a:ext>
            </a:extLst>
          </p:cNvPr>
          <p:cNvSpPr>
            <a:spLocks noGrp="1"/>
          </p:cNvSpPr>
          <p:nvPr/>
        </p:nvSpPr>
        <p:spPr>
          <a:xfrm>
            <a:off x="5381625" y="3667125"/>
            <a:ext cx="1714500" cy="247650"/>
          </a:xfrm>
          <a:prstGeom prst="rect">
            <a:avLst/>
          </a:prstGeom>
          <a:noFill/>
          <a:ln w="0">
            <a:noFill/>
          </a:ln>
        </p:spPr>
        <p:txBody>
          <a:bodyPr>
            <a:noAutofit/>
          </a:bodyPr>
          <a:lstStyle/>
          <a:p>
            <a:pPr>
              <a:defRPr sz="900" b="0">
                <a:solidFill>
                  <a:srgbClr val="A9B5A5"/>
                </a:solidFill>
                <a:latin typeface="Arial"/>
                <a:ea typeface="Arial"/>
                <a:cs typeface="Arial"/>
              </a:defRPr>
            </a:pPr>
            <a:r>
              <a:rPr sz="900" b="0">
                <a:solidFill>
                  <a:srgbClr val="A9B5A5"/>
                </a:solidFill>
                <a:latin typeface="Arial"/>
                <a:ea typeface="Arial"/>
                <a:cs typeface="Arial"/>
              </a:rPr>
              <a:t>assets flagged</a:t>
            </a:r>
          </a:p>
        </p:txBody>
      </p:sp>
      <p:sp>
        <p:nvSpPr>
          <p:cNvPr id="12" name="Rectangle 11">
            <a:extLst>
              <a:ext uri="{FF2B5EF4-FFF2-40B4-BE49-F238E27FC236}">
                <a16:creationId xmlns:a16="http://schemas.microsoft.com/office/drawing/2014/main" id="{488B7C4F-995C-4E85-9964-06854AA0F78B}"/>
              </a:ext>
            </a:extLst>
          </p:cNvPr>
          <p:cNvSpPr>
            <a:spLocks noGrp="1"/>
          </p:cNvSpPr>
          <p:nvPr/>
        </p:nvSpPr>
        <p:spPr>
          <a:xfrm>
            <a:off x="7381875" y="3238500"/>
            <a:ext cx="1714500" cy="381000"/>
          </a:xfrm>
          <a:prstGeom prst="rect">
            <a:avLst/>
          </a:prstGeom>
          <a:noFill/>
          <a:ln w="0">
            <a:noFill/>
          </a:ln>
        </p:spPr>
        <p:txBody>
          <a:bodyPr>
            <a:noAutofit/>
          </a:bodyPr>
          <a:lstStyle/>
          <a:p>
            <a:pPr>
              <a:defRPr sz="2250" b="1">
                <a:solidFill>
                  <a:srgbClr val="CDEB85"/>
                </a:solidFill>
                <a:latin typeface="Arial"/>
                <a:ea typeface="Arial"/>
                <a:cs typeface="Arial"/>
              </a:defRPr>
            </a:pPr>
            <a:r>
              <a:rPr sz="2250" b="1">
                <a:solidFill>
                  <a:srgbClr val="CDEB85"/>
                </a:solidFill>
                <a:latin typeface="Arial"/>
                <a:ea typeface="Arial"/>
                <a:cs typeface="Arial"/>
              </a:rPr>
              <a:t>38,904</a:t>
            </a:r>
          </a:p>
        </p:txBody>
      </p:sp>
      <p:sp>
        <p:nvSpPr>
          <p:cNvPr id="13" name="Rectangle 12">
            <a:extLst>
              <a:ext uri="{FF2B5EF4-FFF2-40B4-BE49-F238E27FC236}">
                <a16:creationId xmlns:a16="http://schemas.microsoft.com/office/drawing/2014/main" id="{70CB17BD-8A39-4983-A3AE-21BC3BF680F9}"/>
              </a:ext>
            </a:extLst>
          </p:cNvPr>
          <p:cNvSpPr>
            <a:spLocks noGrp="1"/>
          </p:cNvSpPr>
          <p:nvPr/>
        </p:nvSpPr>
        <p:spPr>
          <a:xfrm>
            <a:off x="7381875" y="3667125"/>
            <a:ext cx="1714500" cy="247650"/>
          </a:xfrm>
          <a:prstGeom prst="rect">
            <a:avLst/>
          </a:prstGeom>
          <a:noFill/>
          <a:ln w="0">
            <a:noFill/>
          </a:ln>
        </p:spPr>
        <p:txBody>
          <a:bodyPr>
            <a:noAutofit/>
          </a:bodyPr>
          <a:lstStyle/>
          <a:p>
            <a:pPr>
              <a:defRPr sz="900" b="0">
                <a:solidFill>
                  <a:srgbClr val="A9B5A5"/>
                </a:solidFill>
                <a:latin typeface="Arial"/>
                <a:ea typeface="Arial"/>
                <a:cs typeface="Arial"/>
              </a:defRPr>
            </a:pPr>
            <a:r>
              <a:rPr sz="900" b="0">
                <a:solidFill>
                  <a:srgbClr val="A9B5A5"/>
                </a:solidFill>
                <a:latin typeface="Arial"/>
                <a:ea typeface="Arial"/>
                <a:cs typeface="Arial"/>
              </a:rPr>
              <a:t>risk-weighted exposure</a:t>
            </a:r>
          </a:p>
        </p:txBody>
      </p:sp>
      <p:sp>
        <p:nvSpPr>
          <p:cNvPr id="14" name="Rectangle 13">
            <a:extLst>
              <a:ext uri="{FF2B5EF4-FFF2-40B4-BE49-F238E27FC236}">
                <a16:creationId xmlns:a16="http://schemas.microsoft.com/office/drawing/2014/main" id="{A13580EE-CF5F-4FD9-8F42-79241ADDE550}"/>
              </a:ext>
            </a:extLst>
          </p:cNvPr>
          <p:cNvSpPr>
            <a:spLocks noGrp="1"/>
          </p:cNvSpPr>
          <p:nvPr/>
        </p:nvSpPr>
        <p:spPr>
          <a:xfrm>
            <a:off x="9382125" y="3238500"/>
            <a:ext cx="1714500" cy="381000"/>
          </a:xfrm>
          <a:prstGeom prst="rect">
            <a:avLst/>
          </a:prstGeom>
          <a:noFill/>
          <a:ln w="0">
            <a:noFill/>
          </a:ln>
        </p:spPr>
        <p:txBody>
          <a:bodyPr>
            <a:noAutofit/>
          </a:bodyPr>
          <a:lstStyle/>
          <a:p>
            <a:pPr>
              <a:defRPr sz="2250" b="1">
                <a:solidFill>
                  <a:srgbClr val="E39B5D"/>
                </a:solidFill>
                <a:latin typeface="Arial"/>
                <a:ea typeface="Arial"/>
                <a:cs typeface="Arial"/>
              </a:defRPr>
            </a:pPr>
            <a:r>
              <a:rPr sz="2250" b="1">
                <a:solidFill>
                  <a:srgbClr val="E39B5D"/>
                </a:solidFill>
                <a:latin typeface="Arial"/>
                <a:ea typeface="Arial"/>
                <a:cs typeface="Arial"/>
              </a:rPr>
              <a:t>6</a:t>
            </a:r>
          </a:p>
        </p:txBody>
      </p:sp>
      <p:sp>
        <p:nvSpPr>
          <p:cNvPr id="15" name="Rectangle 14">
            <a:extLst>
              <a:ext uri="{FF2B5EF4-FFF2-40B4-BE49-F238E27FC236}">
                <a16:creationId xmlns:a16="http://schemas.microsoft.com/office/drawing/2014/main" id="{8AB19D2A-BD6A-4E29-9BB9-0ED049815F24}"/>
              </a:ext>
            </a:extLst>
          </p:cNvPr>
          <p:cNvSpPr>
            <a:spLocks noGrp="1"/>
          </p:cNvSpPr>
          <p:nvPr/>
        </p:nvSpPr>
        <p:spPr>
          <a:xfrm>
            <a:off x="9382125" y="3667125"/>
            <a:ext cx="1714500" cy="247650"/>
          </a:xfrm>
          <a:prstGeom prst="rect">
            <a:avLst/>
          </a:prstGeom>
          <a:noFill/>
          <a:ln w="0">
            <a:noFill/>
          </a:ln>
        </p:spPr>
        <p:txBody>
          <a:bodyPr>
            <a:noAutofit/>
          </a:bodyPr>
          <a:lstStyle/>
          <a:p>
            <a:pPr>
              <a:defRPr sz="900" b="0">
                <a:solidFill>
                  <a:srgbClr val="A9B5A5"/>
                </a:solidFill>
                <a:latin typeface="Arial"/>
                <a:ea typeface="Arial"/>
                <a:cs typeface="Arial"/>
              </a:defRPr>
            </a:pPr>
            <a:r>
              <a:rPr sz="900" b="0">
                <a:solidFill>
                  <a:srgbClr val="A9B5A5"/>
                </a:solidFill>
                <a:latin typeface="Arial"/>
                <a:ea typeface="Arial"/>
                <a:cs typeface="Arial"/>
              </a:rPr>
              <a:t>jobs unassigned with 3 crews</a:t>
            </a:r>
          </a:p>
        </p:txBody>
      </p:sp>
      <p:sp>
        <p:nvSpPr>
          <p:cNvPr id="16" name="Rectangle 15">
            <a:extLst>
              <a:ext uri="{FF2B5EF4-FFF2-40B4-BE49-F238E27FC236}">
                <a16:creationId xmlns:a16="http://schemas.microsoft.com/office/drawing/2014/main" id="{3159AECA-4F2B-4441-A83E-D58082FA50D4}"/>
              </a:ext>
            </a:extLst>
          </p:cNvPr>
          <p:cNvSpPr>
            <a:spLocks noGrp="1"/>
          </p:cNvSpPr>
          <p:nvPr/>
        </p:nvSpPr>
        <p:spPr>
          <a:xfrm>
            <a:off x="5381625" y="4324350"/>
            <a:ext cx="5334000" cy="238125"/>
          </a:xfrm>
          <a:prstGeom prst="rect">
            <a:avLst/>
          </a:prstGeom>
          <a:noFill/>
          <a:ln w="0">
            <a:noFill/>
          </a:ln>
        </p:spPr>
        <p:txBody>
          <a:bodyPr>
            <a:noAutofit/>
          </a:bodyPr>
          <a:lstStyle/>
          <a:p>
            <a:pPr>
              <a:defRPr sz="1125" b="1">
                <a:solidFill>
                  <a:srgbClr val="F3F6EF"/>
                </a:solidFill>
                <a:latin typeface="Arial"/>
                <a:ea typeface="Arial"/>
                <a:cs typeface="Arial"/>
              </a:defRPr>
            </a:pPr>
            <a:r>
              <a:rPr sz="1125" b="1">
                <a:solidFill>
                  <a:srgbClr val="F3F6EF"/>
                </a:solidFill>
                <a:latin typeface="Arial"/>
                <a:ea typeface="Arial"/>
                <a:cs typeface="Arial"/>
              </a:rPr>
              <a:t>Add three crews → unassigned jobs fall to 1. Risk does not change; response capacity does.</a:t>
            </a:r>
          </a:p>
        </p:txBody>
      </p:sp>
      <p:sp>
        <p:nvSpPr>
          <p:cNvPr id="17" name="Rectangle: Rounded Corners 16">
            <a:extLst>
              <a:ext uri="{FF2B5EF4-FFF2-40B4-BE49-F238E27FC236}">
                <a16:creationId xmlns:a16="http://schemas.microsoft.com/office/drawing/2014/main" id="{D1F74678-6B57-4A00-85BD-9624F24B56CE}"/>
              </a:ext>
            </a:extLst>
          </p:cNvPr>
          <p:cNvSpPr>
            <a:spLocks noGrp="1"/>
          </p:cNvSpPr>
          <p:nvPr/>
        </p:nvSpPr>
        <p:spPr>
          <a:xfrm>
            <a:off x="609600" y="5286375"/>
            <a:ext cx="10953750" cy="523875"/>
          </a:xfrm>
          <a:prstGeom prst="roundRect">
            <a:avLst>
              <a:gd name="adj" fmla="val 21818"/>
            </a:avLst>
          </a:prstGeom>
          <a:solidFill>
            <a:srgbClr val="2C3826"/>
          </a:solidFill>
          <a:ln w="9525">
            <a:solidFill>
              <a:srgbClr val="5A7138"/>
            </a:solidFill>
          </a:ln>
        </p:spPr>
        <p:txBody>
          <a:bodyPr/>
          <a:lstStyle/>
          <a:p>
            <a:endParaRPr lang="en-IN"/>
          </a:p>
        </p:txBody>
      </p:sp>
      <p:sp>
        <p:nvSpPr>
          <p:cNvPr id="18" name="Rectangle 17">
            <a:extLst>
              <a:ext uri="{FF2B5EF4-FFF2-40B4-BE49-F238E27FC236}">
                <a16:creationId xmlns:a16="http://schemas.microsoft.com/office/drawing/2014/main" id="{880D21C3-5E64-4B15-9B29-8DC13FBB0646}"/>
              </a:ext>
            </a:extLst>
          </p:cNvPr>
          <p:cNvSpPr>
            <a:spLocks noGrp="1"/>
          </p:cNvSpPr>
          <p:nvPr/>
        </p:nvSpPr>
        <p:spPr>
          <a:xfrm>
            <a:off x="828675" y="5448300"/>
            <a:ext cx="10382250" cy="200025"/>
          </a:xfrm>
          <a:prstGeom prst="rect">
            <a:avLst/>
          </a:prstGeom>
          <a:noFill/>
          <a:ln w="0">
            <a:noFill/>
          </a:ln>
        </p:spPr>
        <p:txBody>
          <a:bodyPr>
            <a:noAutofit/>
          </a:bodyPr>
          <a:lstStyle/>
          <a:p>
            <a:pPr>
              <a:defRPr sz="1050" b="0">
                <a:solidFill>
                  <a:srgbClr val="F3F6EF"/>
                </a:solidFill>
                <a:latin typeface="Arial"/>
                <a:ea typeface="Arial"/>
                <a:cs typeface="Arial"/>
              </a:defRPr>
            </a:pPr>
            <a:r>
              <a:rPr sz="1050" b="0">
                <a:solidFill>
                  <a:srgbClr val="F3F6EF"/>
                </a:solidFill>
                <a:latin typeface="Arial"/>
                <a:ea typeface="Arial"/>
                <a:cs typeface="Arial"/>
              </a:rPr>
              <a:t>Operator review remains required. The planner does not dispatch crews or optimize road routes.</a:t>
            </a:r>
          </a:p>
        </p:txBody>
      </p:sp>
    </p:spTree>
    <p:extLst>
      <p:ext uri="{BB962C8B-B14F-4D97-AF65-F5344CB8AC3E}">
        <p14:creationId xmlns:p14="http://schemas.microsoft.com/office/powerpoint/2010/main" val="9962907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11713"/>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6C1550CA-EED3-4F80-AFB4-5A96291B62DA}"/>
              </a:ext>
            </a:extLst>
          </p:cNvPr>
          <p:cNvSpPr>
            <a:spLocks noGrp="1"/>
          </p:cNvSpPr>
          <p:nvPr/>
        </p:nvSpPr>
        <p:spPr>
          <a:xfrm>
            <a:off x="609600" y="361950"/>
            <a:ext cx="2000250" cy="171450"/>
          </a:xfrm>
          <a:prstGeom prst="rect">
            <a:avLst/>
          </a:prstGeom>
          <a:noFill/>
          <a:ln w="0">
            <a:noFill/>
          </a:ln>
        </p:spPr>
        <p:txBody>
          <a:bodyPr>
            <a:noAutofit/>
          </a:bodyPr>
          <a:lstStyle/>
          <a:p>
            <a:pPr>
              <a:defRPr sz="825" b="1">
                <a:solidFill>
                  <a:srgbClr val="CDEB85"/>
                </a:solidFill>
                <a:latin typeface="Arial"/>
                <a:ea typeface="Arial"/>
                <a:cs typeface="Arial"/>
              </a:defRPr>
            </a:pPr>
            <a:r>
              <a:rPr sz="825" b="1">
                <a:solidFill>
                  <a:srgbClr val="CDEB85"/>
                </a:solidFill>
                <a:latin typeface="Arial"/>
                <a:ea typeface="Arial"/>
                <a:cs typeface="Arial"/>
              </a:rPr>
              <a:t>IBM BOBATHON 2026</a:t>
            </a:r>
          </a:p>
        </p:txBody>
      </p:sp>
      <p:sp>
        <p:nvSpPr>
          <p:cNvPr id="2" name="Rectangle 1">
            <a:extLst>
              <a:ext uri="{FF2B5EF4-FFF2-40B4-BE49-F238E27FC236}">
                <a16:creationId xmlns:a16="http://schemas.microsoft.com/office/drawing/2014/main" id="{C46AA5FB-AE18-4D3E-8CCB-4A56368BC337}"/>
              </a:ext>
            </a:extLst>
          </p:cNvPr>
          <p:cNvSpPr>
            <a:spLocks noGrp="1"/>
          </p:cNvSpPr>
          <p:nvPr/>
        </p:nvSpPr>
        <p:spPr>
          <a:xfrm>
            <a:off x="609600" y="704850"/>
            <a:ext cx="10287000" cy="590550"/>
          </a:xfrm>
          <a:prstGeom prst="rect">
            <a:avLst/>
          </a:prstGeom>
          <a:noFill/>
          <a:ln w="0">
            <a:noFill/>
          </a:ln>
        </p:spPr>
        <p:txBody>
          <a:bodyPr>
            <a:noAutofit/>
          </a:bodyPr>
          <a:lstStyle/>
          <a:p>
            <a:pPr>
              <a:defRPr sz="3150" b="1">
                <a:solidFill>
                  <a:srgbClr val="F3F6EF"/>
                </a:solidFill>
                <a:latin typeface="Arial"/>
                <a:ea typeface="Arial"/>
                <a:cs typeface="Arial"/>
              </a:defRPr>
            </a:pPr>
            <a:r>
              <a:rPr sz="3150" b="1">
                <a:solidFill>
                  <a:srgbClr val="F3F6EF"/>
                </a:solidFill>
                <a:latin typeface="Arial"/>
                <a:ea typeface="Arial"/>
                <a:cs typeface="Arial"/>
              </a:rPr>
              <a:t>IBM Bob integration</a:t>
            </a:r>
          </a:p>
        </p:txBody>
      </p:sp>
      <p:sp>
        <p:nvSpPr>
          <p:cNvPr id="3" name="Rectangle 2">
            <a:extLst>
              <a:ext uri="{FF2B5EF4-FFF2-40B4-BE49-F238E27FC236}">
                <a16:creationId xmlns:a16="http://schemas.microsoft.com/office/drawing/2014/main" id="{D2E3A333-610B-4402-B809-E617F6C8A7F5}"/>
              </a:ext>
            </a:extLst>
          </p:cNvPr>
          <p:cNvSpPr>
            <a:spLocks noGrp="1"/>
          </p:cNvSpPr>
          <p:nvPr/>
        </p:nvSpPr>
        <p:spPr>
          <a:xfrm>
            <a:off x="628650" y="1343025"/>
            <a:ext cx="9334500" cy="285750"/>
          </a:xfrm>
          <a:prstGeom prst="rect">
            <a:avLst/>
          </a:prstGeom>
          <a:noFill/>
          <a:ln w="0">
            <a:noFill/>
          </a:ln>
        </p:spPr>
        <p:txBody>
          <a:bodyPr>
            <a:noAutofit/>
          </a:bodyPr>
          <a:lstStyle/>
          <a:p>
            <a:pPr>
              <a:defRPr sz="1200" b="0">
                <a:solidFill>
                  <a:srgbClr val="A9B5A5"/>
                </a:solidFill>
                <a:latin typeface="Arial"/>
                <a:ea typeface="Arial"/>
                <a:cs typeface="Arial"/>
              </a:defRPr>
            </a:pPr>
            <a:r>
              <a:rPr sz="1200" b="0">
                <a:solidFill>
                  <a:srgbClr val="A9B5A5"/>
                </a:solidFill>
                <a:latin typeface="Arial"/>
                <a:ea typeface="Arial"/>
                <a:cs typeface="Arial"/>
              </a:rPr>
              <a:t>Bob explains the model-backed result through the Model Context Protocol.</a:t>
            </a:r>
          </a:p>
        </p:txBody>
      </p:sp>
      <p:sp>
        <p:nvSpPr>
          <p:cNvPr id="4" name="Rectangle 3">
            <a:extLst>
              <a:ext uri="{FF2B5EF4-FFF2-40B4-BE49-F238E27FC236}">
                <a16:creationId xmlns:a16="http://schemas.microsoft.com/office/drawing/2014/main" id="{A7BC8305-C93F-4879-B210-9632A5F3BF31}"/>
              </a:ext>
            </a:extLst>
          </p:cNvPr>
          <p:cNvSpPr>
            <a:spLocks noGrp="1"/>
          </p:cNvSpPr>
          <p:nvPr/>
        </p:nvSpPr>
        <p:spPr>
          <a:xfrm>
            <a:off x="609600" y="6419850"/>
            <a:ext cx="4572000" cy="171450"/>
          </a:xfrm>
          <a:prstGeom prst="rect">
            <a:avLst/>
          </a:prstGeom>
          <a:noFill/>
          <a:ln w="0">
            <a:noFill/>
          </a:ln>
        </p:spPr>
        <p:txBody>
          <a:bodyPr>
            <a:noAutofit/>
          </a:bodyPr>
          <a:lstStyle/>
          <a:p>
            <a:pPr>
              <a:defRPr sz="825" b="1">
                <a:solidFill>
                  <a:srgbClr val="A9B5A5"/>
                </a:solidFill>
                <a:latin typeface="Arial"/>
                <a:ea typeface="Arial"/>
                <a:cs typeface="Arial"/>
              </a:defRPr>
            </a:pPr>
            <a:r>
              <a:rPr sz="825" b="1">
                <a:solidFill>
                  <a:srgbClr val="A9B5A5"/>
                </a:solidFill>
                <a:latin typeface="Arial"/>
                <a:ea typeface="Arial"/>
                <a:cs typeface="Arial"/>
              </a:rPr>
              <a:t>GRIDWATCH / U1</a:t>
            </a:r>
          </a:p>
        </p:txBody>
      </p:sp>
      <p:sp>
        <p:nvSpPr>
          <p:cNvPr id="5" name="Rectangle 4">
            <a:extLst>
              <a:ext uri="{FF2B5EF4-FFF2-40B4-BE49-F238E27FC236}">
                <a16:creationId xmlns:a16="http://schemas.microsoft.com/office/drawing/2014/main" id="{444E114C-C8D7-4C09-B390-DBEF44CFD311}"/>
              </a:ext>
            </a:extLst>
          </p:cNvPr>
          <p:cNvSpPr>
            <a:spLocks noGrp="1"/>
          </p:cNvSpPr>
          <p:nvPr/>
        </p:nvSpPr>
        <p:spPr>
          <a:xfrm>
            <a:off x="11239500" y="6419850"/>
            <a:ext cx="333375" cy="171450"/>
          </a:xfrm>
          <a:prstGeom prst="rect">
            <a:avLst/>
          </a:prstGeom>
          <a:noFill/>
          <a:ln w="0">
            <a:noFill/>
          </a:ln>
        </p:spPr>
        <p:txBody>
          <a:bodyPr>
            <a:noAutofit/>
          </a:bodyPr>
          <a:lstStyle/>
          <a:p>
            <a:pPr>
              <a:defRPr sz="825" b="1">
                <a:solidFill>
                  <a:srgbClr val="CDEB85"/>
                </a:solidFill>
                <a:latin typeface="Arial"/>
                <a:ea typeface="Arial"/>
                <a:cs typeface="Arial"/>
              </a:defRPr>
            </a:pPr>
            <a:r>
              <a:rPr sz="825" b="1">
                <a:solidFill>
                  <a:srgbClr val="CDEB85"/>
                </a:solidFill>
                <a:latin typeface="Arial"/>
                <a:ea typeface="Arial"/>
                <a:cs typeface="Arial"/>
              </a:rPr>
              <a:t>06</a:t>
            </a:r>
          </a:p>
        </p:txBody>
      </p:sp>
      <p:sp>
        <p:nvSpPr>
          <p:cNvPr id="6" name="Rectangle: Rounded Corners 5">
            <a:extLst>
              <a:ext uri="{FF2B5EF4-FFF2-40B4-BE49-F238E27FC236}">
                <a16:creationId xmlns:a16="http://schemas.microsoft.com/office/drawing/2014/main" id="{15023D14-924B-4912-85B0-27404FFA3C03}"/>
              </a:ext>
            </a:extLst>
          </p:cNvPr>
          <p:cNvSpPr>
            <a:spLocks noGrp="1"/>
          </p:cNvSpPr>
          <p:nvPr/>
        </p:nvSpPr>
        <p:spPr>
          <a:xfrm>
            <a:off x="609600" y="2066925"/>
            <a:ext cx="5048250" cy="3476625"/>
          </a:xfrm>
          <a:prstGeom prst="roundRect">
            <a:avLst>
              <a:gd name="adj" fmla="val 3288"/>
            </a:avLst>
          </a:prstGeom>
          <a:solidFill>
            <a:srgbClr val="1E2820"/>
          </a:solidFill>
          <a:ln w="9525">
            <a:solidFill>
              <a:srgbClr val="445242"/>
            </a:solidFill>
          </a:ln>
        </p:spPr>
        <p:txBody>
          <a:bodyPr/>
          <a:lstStyle/>
          <a:p>
            <a:endParaRPr lang="en-IN"/>
          </a:p>
        </p:txBody>
      </p:sp>
      <p:sp>
        <p:nvSpPr>
          <p:cNvPr id="7" name="Rectangle 6">
            <a:extLst>
              <a:ext uri="{FF2B5EF4-FFF2-40B4-BE49-F238E27FC236}">
                <a16:creationId xmlns:a16="http://schemas.microsoft.com/office/drawing/2014/main" id="{4CADBA7B-AA21-425C-99C5-A0825478FA40}"/>
              </a:ext>
            </a:extLst>
          </p:cNvPr>
          <p:cNvSpPr>
            <a:spLocks noGrp="1"/>
          </p:cNvSpPr>
          <p:nvPr/>
        </p:nvSpPr>
        <p:spPr>
          <a:xfrm>
            <a:off x="904875" y="2400300"/>
            <a:ext cx="2286000" cy="190500"/>
          </a:xfrm>
          <a:prstGeom prst="rect">
            <a:avLst/>
          </a:prstGeom>
          <a:noFill/>
          <a:ln w="0">
            <a:noFill/>
          </a:ln>
        </p:spPr>
        <p:txBody>
          <a:bodyPr>
            <a:noAutofit/>
          </a:bodyPr>
          <a:lstStyle/>
          <a:p>
            <a:pPr>
              <a:defRPr sz="825" b="1">
                <a:solidFill>
                  <a:srgbClr val="CDEB85"/>
                </a:solidFill>
                <a:latin typeface="Arial"/>
                <a:ea typeface="Arial"/>
                <a:cs typeface="Arial"/>
              </a:defRPr>
            </a:pPr>
            <a:r>
              <a:rPr sz="825" b="1">
                <a:solidFill>
                  <a:srgbClr val="CDEB85"/>
                </a:solidFill>
                <a:latin typeface="Arial"/>
                <a:ea typeface="Arial"/>
                <a:cs typeface="Arial"/>
              </a:rPr>
              <a:t>LOCAL MCP SERVER</a:t>
            </a:r>
          </a:p>
        </p:txBody>
      </p:sp>
      <p:sp>
        <p:nvSpPr>
          <p:cNvPr id="8" name="Rectangle 7">
            <a:extLst>
              <a:ext uri="{FF2B5EF4-FFF2-40B4-BE49-F238E27FC236}">
                <a16:creationId xmlns:a16="http://schemas.microsoft.com/office/drawing/2014/main" id="{3E2CF2BA-7B46-4D56-BF73-9032B38E94AA}"/>
              </a:ext>
            </a:extLst>
          </p:cNvPr>
          <p:cNvSpPr>
            <a:spLocks noGrp="1"/>
          </p:cNvSpPr>
          <p:nvPr/>
        </p:nvSpPr>
        <p:spPr>
          <a:xfrm>
            <a:off x="904875" y="2771775"/>
            <a:ext cx="3238500" cy="400050"/>
          </a:xfrm>
          <a:prstGeom prst="rect">
            <a:avLst/>
          </a:prstGeom>
          <a:noFill/>
          <a:ln w="0">
            <a:noFill/>
          </a:ln>
        </p:spPr>
        <p:txBody>
          <a:bodyPr>
            <a:noAutofit/>
          </a:bodyPr>
          <a:lstStyle/>
          <a:p>
            <a:pPr>
              <a:defRPr sz="2250" b="1">
                <a:solidFill>
                  <a:srgbClr val="F3F6EF"/>
                </a:solidFill>
                <a:latin typeface="Arial"/>
                <a:ea typeface="Arial"/>
                <a:cs typeface="Arial"/>
              </a:defRPr>
            </a:pPr>
            <a:r>
              <a:rPr sz="2250" b="1">
                <a:solidFill>
                  <a:srgbClr val="F3F6EF"/>
                </a:solidFill>
                <a:latin typeface="Arial"/>
                <a:ea typeface="Arial"/>
                <a:cs typeface="Arial"/>
              </a:rPr>
              <a:t>GridWatch tools</a:t>
            </a:r>
          </a:p>
        </p:txBody>
      </p:sp>
      <p:sp>
        <p:nvSpPr>
          <p:cNvPr id="9" name="Rectangle 8">
            <a:extLst>
              <a:ext uri="{FF2B5EF4-FFF2-40B4-BE49-F238E27FC236}">
                <a16:creationId xmlns:a16="http://schemas.microsoft.com/office/drawing/2014/main" id="{0D8D7E44-2D72-4814-98EA-CC94DDE6ABE4}"/>
              </a:ext>
            </a:extLst>
          </p:cNvPr>
          <p:cNvSpPr>
            <a:spLocks noGrp="1"/>
          </p:cNvSpPr>
          <p:nvPr/>
        </p:nvSpPr>
        <p:spPr>
          <a:xfrm>
            <a:off x="904875" y="3476625"/>
            <a:ext cx="2857500" cy="238125"/>
          </a:xfrm>
          <a:prstGeom prst="rect">
            <a:avLst/>
          </a:prstGeom>
          <a:noFill/>
          <a:ln w="0">
            <a:noFill/>
          </a:ln>
        </p:spPr>
        <p:txBody>
          <a:bodyPr>
            <a:noAutofit/>
          </a:bodyPr>
          <a:lstStyle/>
          <a:p>
            <a:pPr>
              <a:defRPr sz="1425" b="1">
                <a:solidFill>
                  <a:srgbClr val="CDEB85"/>
                </a:solidFill>
                <a:latin typeface="Arial"/>
                <a:ea typeface="Arial"/>
                <a:cs typeface="Arial"/>
              </a:defRPr>
            </a:pPr>
            <a:r>
              <a:rPr sz="1425" b="1">
                <a:solidFill>
                  <a:srgbClr val="CDEB85"/>
                </a:solidFill>
                <a:latin typeface="Arial"/>
                <a:ea typeface="Arial"/>
                <a:cs typeface="Arial"/>
              </a:rPr>
              <a:t>assess_grid_risk</a:t>
            </a:r>
          </a:p>
        </p:txBody>
      </p:sp>
      <p:sp>
        <p:nvSpPr>
          <p:cNvPr id="10" name="Rectangle 9">
            <a:extLst>
              <a:ext uri="{FF2B5EF4-FFF2-40B4-BE49-F238E27FC236}">
                <a16:creationId xmlns:a16="http://schemas.microsoft.com/office/drawing/2014/main" id="{8EFEC49C-90F6-46AA-A068-192028E12A13}"/>
              </a:ext>
            </a:extLst>
          </p:cNvPr>
          <p:cNvSpPr>
            <a:spLocks noGrp="1"/>
          </p:cNvSpPr>
          <p:nvPr/>
        </p:nvSpPr>
        <p:spPr>
          <a:xfrm>
            <a:off x="904875" y="3781425"/>
            <a:ext cx="3333750" cy="228600"/>
          </a:xfrm>
          <a:prstGeom prst="rect">
            <a:avLst/>
          </a:prstGeom>
          <a:noFill/>
          <a:ln w="0">
            <a:noFill/>
          </a:ln>
        </p:spPr>
        <p:txBody>
          <a:bodyPr>
            <a:noAutofit/>
          </a:bodyPr>
          <a:lstStyle/>
          <a:p>
            <a:pPr>
              <a:defRPr sz="1050" b="0">
                <a:solidFill>
                  <a:srgbClr val="A9B5A5"/>
                </a:solidFill>
                <a:latin typeface="Arial"/>
                <a:ea typeface="Arial"/>
                <a:cs typeface="Arial"/>
              </a:defRPr>
            </a:pPr>
            <a:r>
              <a:rPr sz="1050" b="0">
                <a:solidFill>
                  <a:srgbClr val="A9B5A5"/>
                </a:solidFill>
                <a:latin typeface="Arial"/>
                <a:ea typeface="Arial"/>
                <a:cs typeface="Arial"/>
              </a:rPr>
              <a:t>Probabilities · evidence · crew plan</a:t>
            </a:r>
          </a:p>
        </p:txBody>
      </p:sp>
      <p:sp>
        <p:nvSpPr>
          <p:cNvPr id="11" name="Rectangle 10">
            <a:extLst>
              <a:ext uri="{FF2B5EF4-FFF2-40B4-BE49-F238E27FC236}">
                <a16:creationId xmlns:a16="http://schemas.microsoft.com/office/drawing/2014/main" id="{60C63EEE-BDCC-49C8-BF10-227856196648}"/>
              </a:ext>
            </a:extLst>
          </p:cNvPr>
          <p:cNvSpPr>
            <a:spLocks noGrp="1"/>
          </p:cNvSpPr>
          <p:nvPr/>
        </p:nvSpPr>
        <p:spPr>
          <a:xfrm>
            <a:off x="904875" y="4343400"/>
            <a:ext cx="3238500" cy="238125"/>
          </a:xfrm>
          <a:prstGeom prst="rect">
            <a:avLst/>
          </a:prstGeom>
          <a:noFill/>
          <a:ln w="0">
            <a:noFill/>
          </a:ln>
        </p:spPr>
        <p:txBody>
          <a:bodyPr>
            <a:noAutofit/>
          </a:bodyPr>
          <a:lstStyle/>
          <a:p>
            <a:pPr>
              <a:defRPr sz="1425" b="1">
                <a:solidFill>
                  <a:srgbClr val="CDEB85"/>
                </a:solidFill>
                <a:latin typeface="Arial"/>
                <a:ea typeface="Arial"/>
                <a:cs typeface="Arial"/>
              </a:defRPr>
            </a:pPr>
            <a:r>
              <a:rPr sz="1425" b="1">
                <a:solidFill>
                  <a:srgbClr val="CDEB85"/>
                </a:solidFill>
                <a:latin typeface="Arial"/>
                <a:ea typeface="Arial"/>
                <a:cs typeface="Arial"/>
              </a:rPr>
              <a:t>get_model_evaluation</a:t>
            </a:r>
          </a:p>
        </p:txBody>
      </p:sp>
      <p:sp>
        <p:nvSpPr>
          <p:cNvPr id="12" name="Rectangle 11">
            <a:extLst>
              <a:ext uri="{FF2B5EF4-FFF2-40B4-BE49-F238E27FC236}">
                <a16:creationId xmlns:a16="http://schemas.microsoft.com/office/drawing/2014/main" id="{E803581E-C20A-445C-8B36-ABA97DF212BE}"/>
              </a:ext>
            </a:extLst>
          </p:cNvPr>
          <p:cNvSpPr>
            <a:spLocks noGrp="1"/>
          </p:cNvSpPr>
          <p:nvPr/>
        </p:nvSpPr>
        <p:spPr>
          <a:xfrm>
            <a:off x="904875" y="4648200"/>
            <a:ext cx="3524250" cy="228600"/>
          </a:xfrm>
          <a:prstGeom prst="rect">
            <a:avLst/>
          </a:prstGeom>
          <a:noFill/>
          <a:ln w="0">
            <a:noFill/>
          </a:ln>
        </p:spPr>
        <p:txBody>
          <a:bodyPr>
            <a:noAutofit/>
          </a:bodyPr>
          <a:lstStyle/>
          <a:p>
            <a:pPr>
              <a:defRPr sz="1050" b="0">
                <a:solidFill>
                  <a:srgbClr val="A9B5A5"/>
                </a:solidFill>
                <a:latin typeface="Arial"/>
                <a:ea typeface="Arial"/>
                <a:cs typeface="Arial"/>
              </a:defRPr>
            </a:pPr>
            <a:r>
              <a:rPr sz="1050" b="0">
                <a:solidFill>
                  <a:srgbClr val="A9B5A5"/>
                </a:solidFill>
                <a:latin typeface="Arial"/>
                <a:ea typeface="Arial"/>
                <a:cs typeface="Arial"/>
              </a:rPr>
              <a:t>Holdout metrics · provenance · limits</a:t>
            </a:r>
          </a:p>
        </p:txBody>
      </p:sp>
      <p:sp>
        <p:nvSpPr>
          <p:cNvPr id="13" name="Rectangle 12">
            <a:extLst>
              <a:ext uri="{FF2B5EF4-FFF2-40B4-BE49-F238E27FC236}">
                <a16:creationId xmlns:a16="http://schemas.microsoft.com/office/drawing/2014/main" id="{EDFB2BAB-7038-4250-B3E6-364ACCD0BCE7}"/>
              </a:ext>
            </a:extLst>
          </p:cNvPr>
          <p:cNvSpPr>
            <a:spLocks noGrp="1"/>
          </p:cNvSpPr>
          <p:nvPr/>
        </p:nvSpPr>
        <p:spPr>
          <a:xfrm>
            <a:off x="6858000" y="2381250"/>
            <a:ext cx="2095500" cy="400050"/>
          </a:xfrm>
          <a:prstGeom prst="rect">
            <a:avLst/>
          </a:prstGeom>
          <a:noFill/>
          <a:ln w="0">
            <a:noFill/>
          </a:ln>
        </p:spPr>
        <p:txBody>
          <a:bodyPr>
            <a:noAutofit/>
          </a:bodyPr>
          <a:lstStyle/>
          <a:p>
            <a:pPr>
              <a:defRPr sz="2400" b="1">
                <a:solidFill>
                  <a:srgbClr val="F3F6EF"/>
                </a:solidFill>
                <a:latin typeface="Arial"/>
                <a:ea typeface="Arial"/>
                <a:cs typeface="Arial"/>
              </a:defRPr>
            </a:pPr>
            <a:r>
              <a:rPr sz="2400" b="1">
                <a:solidFill>
                  <a:srgbClr val="F3F6EF"/>
                </a:solidFill>
                <a:latin typeface="Arial"/>
                <a:ea typeface="Arial"/>
                <a:cs typeface="Arial"/>
              </a:rPr>
              <a:t>IBM Bob</a:t>
            </a:r>
          </a:p>
        </p:txBody>
      </p:sp>
      <p:sp>
        <p:nvSpPr>
          <p:cNvPr id="14" name="Rectangle 13">
            <a:extLst>
              <a:ext uri="{FF2B5EF4-FFF2-40B4-BE49-F238E27FC236}">
                <a16:creationId xmlns:a16="http://schemas.microsoft.com/office/drawing/2014/main" id="{A576FEE7-4F32-40F3-A8B1-184242975378}"/>
              </a:ext>
            </a:extLst>
          </p:cNvPr>
          <p:cNvSpPr>
            <a:spLocks noGrp="1"/>
          </p:cNvSpPr>
          <p:nvPr/>
        </p:nvSpPr>
        <p:spPr>
          <a:xfrm>
            <a:off x="6048375" y="3352800"/>
            <a:ext cx="428625" cy="333375"/>
          </a:xfrm>
          <a:prstGeom prst="rect">
            <a:avLst/>
          </a:prstGeom>
          <a:noFill/>
          <a:ln w="0">
            <a:noFill/>
          </a:ln>
        </p:spPr>
        <p:txBody>
          <a:bodyPr>
            <a:noAutofit/>
          </a:bodyPr>
          <a:lstStyle/>
          <a:p>
            <a:pPr>
              <a:defRPr sz="2100" b="1">
                <a:solidFill>
                  <a:srgbClr val="CDEB85"/>
                </a:solidFill>
                <a:latin typeface="Arial"/>
                <a:ea typeface="Arial"/>
                <a:cs typeface="Arial"/>
              </a:defRPr>
            </a:pPr>
            <a:r>
              <a:rPr sz="2100" b="1">
                <a:solidFill>
                  <a:srgbClr val="CDEB85"/>
                </a:solidFill>
                <a:latin typeface="Arial"/>
                <a:ea typeface="Arial"/>
                <a:cs typeface="Arial"/>
              </a:rPr>
              <a:t>→</a:t>
            </a:r>
          </a:p>
        </p:txBody>
      </p:sp>
      <p:sp>
        <p:nvSpPr>
          <p:cNvPr id="15" name="Rectangle: Rounded Corners 14">
            <a:extLst>
              <a:ext uri="{FF2B5EF4-FFF2-40B4-BE49-F238E27FC236}">
                <a16:creationId xmlns:a16="http://schemas.microsoft.com/office/drawing/2014/main" id="{A89BDE1F-490A-41C3-9D0A-76F8D1D154D0}"/>
              </a:ext>
            </a:extLst>
          </p:cNvPr>
          <p:cNvSpPr>
            <a:spLocks noGrp="1"/>
          </p:cNvSpPr>
          <p:nvPr/>
        </p:nvSpPr>
        <p:spPr>
          <a:xfrm>
            <a:off x="6858000" y="3009900"/>
            <a:ext cx="4143375" cy="1447800"/>
          </a:xfrm>
          <a:prstGeom prst="roundRect">
            <a:avLst>
              <a:gd name="adj" fmla="val 7895"/>
            </a:avLst>
          </a:prstGeom>
          <a:solidFill>
            <a:srgbClr val="2C3826"/>
          </a:solidFill>
          <a:ln w="9525">
            <a:solidFill>
              <a:srgbClr val="5A7138"/>
            </a:solidFill>
          </a:ln>
        </p:spPr>
        <p:txBody>
          <a:bodyPr/>
          <a:lstStyle/>
          <a:p>
            <a:endParaRPr lang="en-IN"/>
          </a:p>
        </p:txBody>
      </p:sp>
      <p:sp>
        <p:nvSpPr>
          <p:cNvPr id="16" name="Rectangle 15">
            <a:extLst>
              <a:ext uri="{FF2B5EF4-FFF2-40B4-BE49-F238E27FC236}">
                <a16:creationId xmlns:a16="http://schemas.microsoft.com/office/drawing/2014/main" id="{6E4D9DC4-DD4A-41E7-B0F1-91779A6DE1A8}"/>
              </a:ext>
            </a:extLst>
          </p:cNvPr>
          <p:cNvSpPr>
            <a:spLocks noGrp="1"/>
          </p:cNvSpPr>
          <p:nvPr/>
        </p:nvSpPr>
        <p:spPr>
          <a:xfrm>
            <a:off x="7153275" y="3286125"/>
            <a:ext cx="3143250" cy="247650"/>
          </a:xfrm>
          <a:prstGeom prst="rect">
            <a:avLst/>
          </a:prstGeom>
          <a:noFill/>
          <a:ln w="0">
            <a:noFill/>
          </a:ln>
        </p:spPr>
        <p:txBody>
          <a:bodyPr>
            <a:noAutofit/>
          </a:bodyPr>
          <a:lstStyle/>
          <a:p>
            <a:pPr>
              <a:defRPr sz="1650" b="1">
                <a:solidFill>
                  <a:srgbClr val="F3F6EF"/>
                </a:solidFill>
                <a:latin typeface="Arial"/>
                <a:ea typeface="Arial"/>
                <a:cs typeface="Arial"/>
              </a:defRPr>
            </a:pPr>
            <a:r>
              <a:rPr sz="1650" b="1">
                <a:solidFill>
                  <a:srgbClr val="F3F6EF"/>
                </a:solidFill>
                <a:latin typeface="Arial"/>
                <a:ea typeface="Arial"/>
                <a:cs typeface="Arial"/>
              </a:rPr>
              <a:t>A grounded operator brief</a:t>
            </a:r>
          </a:p>
        </p:txBody>
      </p:sp>
      <p:sp>
        <p:nvSpPr>
          <p:cNvPr id="17" name="Rectangle 16">
            <a:extLst>
              <a:ext uri="{FF2B5EF4-FFF2-40B4-BE49-F238E27FC236}">
                <a16:creationId xmlns:a16="http://schemas.microsoft.com/office/drawing/2014/main" id="{2CFD9BAE-5056-41F5-AB21-385E06E1B8F5}"/>
              </a:ext>
            </a:extLst>
          </p:cNvPr>
          <p:cNvSpPr>
            <a:spLocks noGrp="1"/>
          </p:cNvSpPr>
          <p:nvPr/>
        </p:nvSpPr>
        <p:spPr>
          <a:xfrm>
            <a:off x="7153275" y="3714750"/>
            <a:ext cx="3048000" cy="685800"/>
          </a:xfrm>
          <a:prstGeom prst="rect">
            <a:avLst/>
          </a:prstGeom>
          <a:noFill/>
          <a:ln w="0">
            <a:noFill/>
          </a:ln>
        </p:spPr>
        <p:txBody>
          <a:bodyPr>
            <a:noAutofit/>
          </a:bodyPr>
          <a:lstStyle/>
          <a:p>
            <a:pPr>
              <a:defRPr sz="1125" b="0">
                <a:solidFill>
                  <a:srgbClr val="A9B5A5"/>
                </a:solidFill>
                <a:latin typeface="Arial"/>
                <a:ea typeface="Arial"/>
                <a:cs typeface="Arial"/>
              </a:defRPr>
            </a:pPr>
            <a:r>
              <a:rPr sz="1125" b="0">
                <a:solidFill>
                  <a:srgbClr val="A9B5A5"/>
                </a:solidFill>
                <a:latin typeface="Arial"/>
                <a:ea typeface="Arial"/>
                <a:cs typeface="Arial"/>
              </a:rPr>
              <a:t>Top priorities</a:t>
            </a:r>
          </a:p>
          <a:p>
            <a:pPr>
              <a:defRPr sz="1125" b="0">
                <a:solidFill>
                  <a:srgbClr val="A9B5A5"/>
                </a:solidFill>
                <a:latin typeface="Arial"/>
                <a:ea typeface="Arial"/>
                <a:cs typeface="Arial"/>
              </a:defRPr>
            </a:pPr>
            <a:r>
              <a:rPr sz="1125" b="0">
                <a:solidFill>
                  <a:srgbClr val="A9B5A5"/>
                </a:solidFill>
                <a:latin typeface="Arial"/>
                <a:ea typeface="Arial"/>
                <a:cs typeface="Arial"/>
              </a:rPr>
              <a:t>Why they are high risk</a:t>
            </a:r>
          </a:p>
          <a:p>
            <a:pPr>
              <a:defRPr sz="1125" b="0">
                <a:solidFill>
                  <a:srgbClr val="A9B5A5"/>
                </a:solidFill>
                <a:latin typeface="Arial"/>
                <a:ea typeface="Arial"/>
                <a:cs typeface="Arial"/>
              </a:defRPr>
            </a:pPr>
            <a:r>
              <a:rPr sz="1125" b="0">
                <a:solidFill>
                  <a:srgbClr val="A9B5A5"/>
                </a:solidFill>
                <a:latin typeface="Arial"/>
                <a:ea typeface="Arial"/>
                <a:cs typeface="Arial"/>
              </a:rPr>
              <a:t>Which crews are available</a:t>
            </a:r>
          </a:p>
          <a:p>
            <a:pPr>
              <a:defRPr sz="1125" b="0">
                <a:solidFill>
                  <a:srgbClr val="A9B5A5"/>
                </a:solidFill>
                <a:latin typeface="Arial"/>
                <a:ea typeface="Arial"/>
                <a:cs typeface="Arial"/>
              </a:defRPr>
            </a:pPr>
            <a:r>
              <a:rPr sz="1125" b="0">
                <a:solidFill>
                  <a:srgbClr val="A9B5A5"/>
                </a:solidFill>
                <a:latin typeface="Arial"/>
                <a:ea typeface="Arial"/>
                <a:cs typeface="Arial"/>
              </a:rPr>
              <a:t>What remains unassigned</a:t>
            </a:r>
          </a:p>
        </p:txBody>
      </p:sp>
      <p:sp>
        <p:nvSpPr>
          <p:cNvPr id="18" name="Rectangle 17">
            <a:extLst>
              <a:ext uri="{FF2B5EF4-FFF2-40B4-BE49-F238E27FC236}">
                <a16:creationId xmlns:a16="http://schemas.microsoft.com/office/drawing/2014/main" id="{1C23F85B-C07F-4BF4-B8C9-5F30CCECB03F}"/>
              </a:ext>
            </a:extLst>
          </p:cNvPr>
          <p:cNvSpPr>
            <a:spLocks noGrp="1"/>
          </p:cNvSpPr>
          <p:nvPr/>
        </p:nvSpPr>
        <p:spPr>
          <a:xfrm>
            <a:off x="6858000" y="4924425"/>
            <a:ext cx="4000500" cy="209550"/>
          </a:xfrm>
          <a:prstGeom prst="rect">
            <a:avLst/>
          </a:prstGeom>
          <a:noFill/>
          <a:ln w="0">
            <a:noFill/>
          </a:ln>
        </p:spPr>
        <p:txBody>
          <a:bodyPr>
            <a:noAutofit/>
          </a:bodyPr>
          <a:lstStyle/>
          <a:p>
            <a:pPr>
              <a:defRPr sz="975" b="0">
                <a:solidFill>
                  <a:srgbClr val="A9B5A5"/>
                </a:solidFill>
                <a:latin typeface="Arial"/>
                <a:ea typeface="Arial"/>
                <a:cs typeface="Arial"/>
              </a:defRPr>
            </a:pPr>
            <a:r>
              <a:rPr sz="975" b="0">
                <a:solidFill>
                  <a:srgbClr val="A9B5A5"/>
                </a:solidFill>
                <a:latin typeface="Arial"/>
                <a:ea typeface="Arial"/>
                <a:cs typeface="Arial"/>
              </a:rPr>
              <a:t>MCP handshake + both tool calls passed protocol tests.</a:t>
            </a:r>
          </a:p>
        </p:txBody>
      </p:sp>
    </p:spTree>
    <p:extLst>
      <p:ext uri="{BB962C8B-B14F-4D97-AF65-F5344CB8AC3E}">
        <p14:creationId xmlns:p14="http://schemas.microsoft.com/office/powerpoint/2010/main" val="3673595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11713"/>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F0C4C979-9ACF-4DD9-A462-55FFBD4533BA}"/>
              </a:ext>
            </a:extLst>
          </p:cNvPr>
          <p:cNvSpPr>
            <a:spLocks noGrp="1"/>
          </p:cNvSpPr>
          <p:nvPr/>
        </p:nvSpPr>
        <p:spPr>
          <a:xfrm>
            <a:off x="609600" y="361950"/>
            <a:ext cx="2000250" cy="171450"/>
          </a:xfrm>
          <a:prstGeom prst="rect">
            <a:avLst/>
          </a:prstGeom>
          <a:noFill/>
          <a:ln w="0">
            <a:noFill/>
          </a:ln>
        </p:spPr>
        <p:txBody>
          <a:bodyPr>
            <a:noAutofit/>
          </a:bodyPr>
          <a:lstStyle/>
          <a:p>
            <a:pPr>
              <a:defRPr sz="825" b="1">
                <a:solidFill>
                  <a:srgbClr val="CDEB85"/>
                </a:solidFill>
                <a:latin typeface="Arial"/>
                <a:ea typeface="Arial"/>
                <a:cs typeface="Arial"/>
              </a:defRPr>
            </a:pPr>
            <a:r>
              <a:rPr sz="825" b="1">
                <a:solidFill>
                  <a:srgbClr val="CDEB85"/>
                </a:solidFill>
                <a:latin typeface="Arial"/>
                <a:ea typeface="Arial"/>
                <a:cs typeface="Arial"/>
              </a:rPr>
              <a:t>IBM BOBATHON 2026</a:t>
            </a:r>
          </a:p>
        </p:txBody>
      </p:sp>
      <p:sp>
        <p:nvSpPr>
          <p:cNvPr id="2" name="Rectangle 1">
            <a:extLst>
              <a:ext uri="{FF2B5EF4-FFF2-40B4-BE49-F238E27FC236}">
                <a16:creationId xmlns:a16="http://schemas.microsoft.com/office/drawing/2014/main" id="{92249D0B-FB9F-4F01-91F3-C1BECF9F3C56}"/>
              </a:ext>
            </a:extLst>
          </p:cNvPr>
          <p:cNvSpPr>
            <a:spLocks noGrp="1"/>
          </p:cNvSpPr>
          <p:nvPr/>
        </p:nvSpPr>
        <p:spPr>
          <a:xfrm>
            <a:off x="609600" y="704850"/>
            <a:ext cx="10287000" cy="590550"/>
          </a:xfrm>
          <a:prstGeom prst="rect">
            <a:avLst/>
          </a:prstGeom>
          <a:noFill/>
          <a:ln w="0">
            <a:noFill/>
          </a:ln>
        </p:spPr>
        <p:txBody>
          <a:bodyPr>
            <a:noAutofit/>
          </a:bodyPr>
          <a:lstStyle/>
          <a:p>
            <a:pPr>
              <a:defRPr sz="3150" b="1">
                <a:solidFill>
                  <a:srgbClr val="F3F6EF"/>
                </a:solidFill>
                <a:latin typeface="Arial"/>
                <a:ea typeface="Arial"/>
                <a:cs typeface="Arial"/>
              </a:defRPr>
            </a:pPr>
            <a:r>
              <a:rPr sz="3150" b="1">
                <a:solidFill>
                  <a:srgbClr val="F3F6EF"/>
                </a:solidFill>
                <a:latin typeface="Arial"/>
                <a:ea typeface="Arial"/>
                <a:cs typeface="Arial"/>
              </a:rPr>
              <a:t>Results and impact</a:t>
            </a:r>
          </a:p>
        </p:txBody>
      </p:sp>
      <p:sp>
        <p:nvSpPr>
          <p:cNvPr id="3" name="Rectangle 2">
            <a:extLst>
              <a:ext uri="{FF2B5EF4-FFF2-40B4-BE49-F238E27FC236}">
                <a16:creationId xmlns:a16="http://schemas.microsoft.com/office/drawing/2014/main" id="{52A15706-8FFA-4C9C-908D-FEC817CF5F26}"/>
              </a:ext>
            </a:extLst>
          </p:cNvPr>
          <p:cNvSpPr>
            <a:spLocks noGrp="1"/>
          </p:cNvSpPr>
          <p:nvPr/>
        </p:nvSpPr>
        <p:spPr>
          <a:xfrm>
            <a:off x="628650" y="1343025"/>
            <a:ext cx="9334500" cy="285750"/>
          </a:xfrm>
          <a:prstGeom prst="rect">
            <a:avLst/>
          </a:prstGeom>
          <a:noFill/>
          <a:ln w="0">
            <a:noFill/>
          </a:ln>
        </p:spPr>
        <p:txBody>
          <a:bodyPr>
            <a:noAutofit/>
          </a:bodyPr>
          <a:lstStyle/>
          <a:p>
            <a:pPr>
              <a:defRPr sz="1200" b="0">
                <a:solidFill>
                  <a:srgbClr val="A9B5A5"/>
                </a:solidFill>
                <a:latin typeface="Arial"/>
                <a:ea typeface="Arial"/>
                <a:cs typeface="Arial"/>
              </a:defRPr>
            </a:pPr>
            <a:r>
              <a:rPr sz="1200" b="0">
                <a:solidFill>
                  <a:srgbClr val="A9B5A5"/>
                </a:solidFill>
                <a:latin typeface="Arial"/>
                <a:ea typeface="Arial"/>
                <a:cs typeface="Arial"/>
              </a:rPr>
              <a:t>Measured evidence, with the boundary between demonstration and deployment kept visible.</a:t>
            </a:r>
          </a:p>
        </p:txBody>
      </p:sp>
      <p:sp>
        <p:nvSpPr>
          <p:cNvPr id="4" name="Rectangle 3">
            <a:extLst>
              <a:ext uri="{FF2B5EF4-FFF2-40B4-BE49-F238E27FC236}">
                <a16:creationId xmlns:a16="http://schemas.microsoft.com/office/drawing/2014/main" id="{55A19AA2-7A9D-429C-B937-10D9308E7D65}"/>
              </a:ext>
            </a:extLst>
          </p:cNvPr>
          <p:cNvSpPr>
            <a:spLocks noGrp="1"/>
          </p:cNvSpPr>
          <p:nvPr/>
        </p:nvSpPr>
        <p:spPr>
          <a:xfrm>
            <a:off x="609600" y="6419850"/>
            <a:ext cx="4572000" cy="171450"/>
          </a:xfrm>
          <a:prstGeom prst="rect">
            <a:avLst/>
          </a:prstGeom>
          <a:noFill/>
          <a:ln w="0">
            <a:noFill/>
          </a:ln>
        </p:spPr>
        <p:txBody>
          <a:bodyPr>
            <a:noAutofit/>
          </a:bodyPr>
          <a:lstStyle/>
          <a:p>
            <a:pPr>
              <a:defRPr sz="825" b="1">
                <a:solidFill>
                  <a:srgbClr val="A9B5A5"/>
                </a:solidFill>
                <a:latin typeface="Arial"/>
                <a:ea typeface="Arial"/>
                <a:cs typeface="Arial"/>
              </a:defRPr>
            </a:pPr>
            <a:r>
              <a:rPr sz="825" b="1">
                <a:solidFill>
                  <a:srgbClr val="A9B5A5"/>
                </a:solidFill>
                <a:latin typeface="Arial"/>
                <a:ea typeface="Arial"/>
                <a:cs typeface="Arial"/>
              </a:rPr>
              <a:t>GRIDWATCH / U1</a:t>
            </a:r>
          </a:p>
        </p:txBody>
      </p:sp>
      <p:sp>
        <p:nvSpPr>
          <p:cNvPr id="5" name="Rectangle 4">
            <a:extLst>
              <a:ext uri="{FF2B5EF4-FFF2-40B4-BE49-F238E27FC236}">
                <a16:creationId xmlns:a16="http://schemas.microsoft.com/office/drawing/2014/main" id="{C95ECAF7-4704-4930-87C6-0B1B28AE3229}"/>
              </a:ext>
            </a:extLst>
          </p:cNvPr>
          <p:cNvSpPr>
            <a:spLocks noGrp="1"/>
          </p:cNvSpPr>
          <p:nvPr/>
        </p:nvSpPr>
        <p:spPr>
          <a:xfrm>
            <a:off x="11239500" y="6419850"/>
            <a:ext cx="333375" cy="171450"/>
          </a:xfrm>
          <a:prstGeom prst="rect">
            <a:avLst/>
          </a:prstGeom>
          <a:noFill/>
          <a:ln w="0">
            <a:noFill/>
          </a:ln>
        </p:spPr>
        <p:txBody>
          <a:bodyPr>
            <a:noAutofit/>
          </a:bodyPr>
          <a:lstStyle/>
          <a:p>
            <a:pPr>
              <a:defRPr sz="825" b="1">
                <a:solidFill>
                  <a:srgbClr val="CDEB85"/>
                </a:solidFill>
                <a:latin typeface="Arial"/>
                <a:ea typeface="Arial"/>
                <a:cs typeface="Arial"/>
              </a:defRPr>
            </a:pPr>
            <a:r>
              <a:rPr sz="825" b="1">
                <a:solidFill>
                  <a:srgbClr val="CDEB85"/>
                </a:solidFill>
                <a:latin typeface="Arial"/>
                <a:ea typeface="Arial"/>
                <a:cs typeface="Arial"/>
              </a:rPr>
              <a:t>07</a:t>
            </a:r>
          </a:p>
        </p:txBody>
      </p:sp>
      <p:sp>
        <p:nvSpPr>
          <p:cNvPr id="6" name="Rectangle 5">
            <a:extLst>
              <a:ext uri="{FF2B5EF4-FFF2-40B4-BE49-F238E27FC236}">
                <a16:creationId xmlns:a16="http://schemas.microsoft.com/office/drawing/2014/main" id="{E595DCF5-7203-41C6-BF39-A04E663C0F5E}"/>
              </a:ext>
            </a:extLst>
          </p:cNvPr>
          <p:cNvSpPr>
            <a:spLocks noGrp="1"/>
          </p:cNvSpPr>
          <p:nvPr/>
        </p:nvSpPr>
        <p:spPr>
          <a:xfrm>
            <a:off x="609600" y="2057400"/>
            <a:ext cx="3333750" cy="190500"/>
          </a:xfrm>
          <a:prstGeom prst="rect">
            <a:avLst/>
          </a:prstGeom>
          <a:noFill/>
          <a:ln w="0">
            <a:noFill/>
          </a:ln>
        </p:spPr>
        <p:txBody>
          <a:bodyPr>
            <a:noAutofit/>
          </a:bodyPr>
          <a:lstStyle/>
          <a:p>
            <a:pPr>
              <a:defRPr sz="825" b="1">
                <a:solidFill>
                  <a:srgbClr val="CDEB85"/>
                </a:solidFill>
                <a:latin typeface="Arial"/>
                <a:ea typeface="Arial"/>
                <a:cs typeface="Arial"/>
              </a:defRPr>
            </a:pPr>
            <a:r>
              <a:rPr sz="825" b="1">
                <a:solidFill>
                  <a:srgbClr val="CDEB85"/>
                </a:solidFill>
                <a:latin typeface="Arial"/>
                <a:ea typeface="Arial"/>
                <a:cs typeface="Arial"/>
              </a:rPr>
              <a:t>REAL TEMPERATURE FORECAST</a:t>
            </a:r>
          </a:p>
        </p:txBody>
      </p:sp>
      <p:sp>
        <p:nvSpPr>
          <p:cNvPr id="7" name="Rectangle 6">
            <a:extLst>
              <a:ext uri="{FF2B5EF4-FFF2-40B4-BE49-F238E27FC236}">
                <a16:creationId xmlns:a16="http://schemas.microsoft.com/office/drawing/2014/main" id="{49CC060D-3368-446E-A5B8-EA645CB46982}"/>
              </a:ext>
            </a:extLst>
          </p:cNvPr>
          <p:cNvSpPr>
            <a:spLocks noGrp="1"/>
          </p:cNvSpPr>
          <p:nvPr/>
        </p:nvSpPr>
        <p:spPr>
          <a:xfrm>
            <a:off x="609600" y="2419350"/>
            <a:ext cx="2381250" cy="523875"/>
          </a:xfrm>
          <a:prstGeom prst="rect">
            <a:avLst/>
          </a:prstGeom>
          <a:noFill/>
          <a:ln w="0">
            <a:noFill/>
          </a:ln>
        </p:spPr>
        <p:txBody>
          <a:bodyPr>
            <a:noAutofit/>
          </a:bodyPr>
          <a:lstStyle/>
          <a:p>
            <a:pPr>
              <a:defRPr sz="3600" b="1">
                <a:solidFill>
                  <a:srgbClr val="F3F6EF"/>
                </a:solidFill>
                <a:latin typeface="Arial"/>
                <a:ea typeface="Arial"/>
                <a:cs typeface="Arial"/>
              </a:defRPr>
            </a:pPr>
            <a:r>
              <a:rPr sz="3600" b="1">
                <a:solidFill>
                  <a:srgbClr val="F3F6EF"/>
                </a:solidFill>
                <a:latin typeface="Arial"/>
                <a:ea typeface="Arial"/>
                <a:cs typeface="Arial"/>
              </a:rPr>
              <a:t>1.63°C</a:t>
            </a:r>
          </a:p>
        </p:txBody>
      </p:sp>
      <p:sp>
        <p:nvSpPr>
          <p:cNvPr id="8" name="Rectangle 7">
            <a:extLst>
              <a:ext uri="{FF2B5EF4-FFF2-40B4-BE49-F238E27FC236}">
                <a16:creationId xmlns:a16="http://schemas.microsoft.com/office/drawing/2014/main" id="{ED00DC0B-030E-43DE-970D-7862512BB699}"/>
              </a:ext>
            </a:extLst>
          </p:cNvPr>
          <p:cNvSpPr>
            <a:spLocks noGrp="1"/>
          </p:cNvSpPr>
          <p:nvPr/>
        </p:nvSpPr>
        <p:spPr>
          <a:xfrm>
            <a:off x="628650" y="2990850"/>
            <a:ext cx="2857500" cy="190500"/>
          </a:xfrm>
          <a:prstGeom prst="rect">
            <a:avLst/>
          </a:prstGeom>
          <a:noFill/>
          <a:ln w="0">
            <a:noFill/>
          </a:ln>
        </p:spPr>
        <p:txBody>
          <a:bodyPr>
            <a:noAutofit/>
          </a:bodyPr>
          <a:lstStyle/>
          <a:p>
            <a:pPr>
              <a:defRPr sz="1050" b="0">
                <a:solidFill>
                  <a:srgbClr val="A9B5A5"/>
                </a:solidFill>
                <a:latin typeface="Arial"/>
                <a:ea typeface="Arial"/>
                <a:cs typeface="Arial"/>
              </a:defRPr>
            </a:pPr>
            <a:r>
              <a:rPr sz="1050" b="0">
                <a:solidFill>
                  <a:srgbClr val="A9B5A5"/>
                </a:solidFill>
                <a:latin typeface="Arial"/>
                <a:ea typeface="Arial"/>
                <a:cs typeface="Arial"/>
              </a:rPr>
              <a:t>test MAE  ·  Ridge Regression</a:t>
            </a:r>
          </a:p>
        </p:txBody>
      </p:sp>
      <p:sp>
        <p:nvSpPr>
          <p:cNvPr id="9" name="Rectangle 8">
            <a:extLst>
              <a:ext uri="{FF2B5EF4-FFF2-40B4-BE49-F238E27FC236}">
                <a16:creationId xmlns:a16="http://schemas.microsoft.com/office/drawing/2014/main" id="{854E2AC8-5664-4B69-8C21-8B17E8C647C3}"/>
              </a:ext>
            </a:extLst>
          </p:cNvPr>
          <p:cNvSpPr>
            <a:spLocks noGrp="1"/>
          </p:cNvSpPr>
          <p:nvPr/>
        </p:nvSpPr>
        <p:spPr>
          <a:xfrm>
            <a:off x="628650" y="3295650"/>
            <a:ext cx="3143250" cy="209550"/>
          </a:xfrm>
          <a:prstGeom prst="rect">
            <a:avLst/>
          </a:prstGeom>
          <a:noFill/>
          <a:ln w="0">
            <a:noFill/>
          </a:ln>
        </p:spPr>
        <p:txBody>
          <a:bodyPr>
            <a:noAutofit/>
          </a:bodyPr>
          <a:lstStyle/>
          <a:p>
            <a:pPr>
              <a:defRPr sz="1200" b="0">
                <a:solidFill>
                  <a:srgbClr val="F3F6EF"/>
                </a:solidFill>
                <a:latin typeface="Arial"/>
                <a:ea typeface="Arial"/>
                <a:cs typeface="Arial"/>
              </a:defRPr>
            </a:pPr>
            <a:r>
              <a:rPr sz="1200" b="0">
                <a:solidFill>
                  <a:srgbClr val="F3F6EF"/>
                </a:solidFill>
                <a:latin typeface="Arial"/>
                <a:ea typeface="Arial"/>
                <a:cs typeface="Arial"/>
              </a:rPr>
              <a:t>vs 1.71°C persistence baseline</a:t>
            </a:r>
          </a:p>
        </p:txBody>
      </p:sp>
      <p:sp>
        <p:nvSpPr>
          <p:cNvPr id="10" name="Rectangle 9">
            <a:extLst>
              <a:ext uri="{FF2B5EF4-FFF2-40B4-BE49-F238E27FC236}">
                <a16:creationId xmlns:a16="http://schemas.microsoft.com/office/drawing/2014/main" id="{FA9516E7-1116-477C-8FC0-89F1BC0D4889}"/>
              </a:ext>
            </a:extLst>
          </p:cNvPr>
          <p:cNvSpPr>
            <a:spLocks noGrp="1"/>
          </p:cNvSpPr>
          <p:nvPr/>
        </p:nvSpPr>
        <p:spPr>
          <a:xfrm>
            <a:off x="609600" y="3905250"/>
            <a:ext cx="3333750" cy="190500"/>
          </a:xfrm>
          <a:prstGeom prst="rect">
            <a:avLst/>
          </a:prstGeom>
          <a:noFill/>
          <a:ln w="0">
            <a:noFill/>
          </a:ln>
        </p:spPr>
        <p:txBody>
          <a:bodyPr>
            <a:noAutofit/>
          </a:bodyPr>
          <a:lstStyle/>
          <a:p>
            <a:pPr>
              <a:defRPr sz="825" b="1">
                <a:solidFill>
                  <a:srgbClr val="CDEB85"/>
                </a:solidFill>
                <a:latin typeface="Arial"/>
                <a:ea typeface="Arial"/>
                <a:cs typeface="Arial"/>
              </a:defRPr>
            </a:pPr>
            <a:r>
              <a:rPr sz="825" b="1">
                <a:solidFill>
                  <a:srgbClr val="CDEB85"/>
                </a:solidFill>
                <a:latin typeface="Arial"/>
                <a:ea typeface="Arial"/>
                <a:cs typeface="Arial"/>
              </a:rPr>
              <a:t>SYNTHETIC FAILURE CLASSIFIER</a:t>
            </a:r>
          </a:p>
        </p:txBody>
      </p:sp>
      <p:sp>
        <p:nvSpPr>
          <p:cNvPr id="11" name="Rectangle 10">
            <a:extLst>
              <a:ext uri="{FF2B5EF4-FFF2-40B4-BE49-F238E27FC236}">
                <a16:creationId xmlns:a16="http://schemas.microsoft.com/office/drawing/2014/main" id="{A3625760-E6D9-4033-A88F-B99BAEC3FBA5}"/>
              </a:ext>
            </a:extLst>
          </p:cNvPr>
          <p:cNvSpPr>
            <a:spLocks noGrp="1"/>
          </p:cNvSpPr>
          <p:nvPr/>
        </p:nvSpPr>
        <p:spPr>
          <a:xfrm>
            <a:off x="609600" y="4276725"/>
            <a:ext cx="2571750" cy="523875"/>
          </a:xfrm>
          <a:prstGeom prst="rect">
            <a:avLst/>
          </a:prstGeom>
          <a:noFill/>
          <a:ln w="0">
            <a:noFill/>
          </a:ln>
        </p:spPr>
        <p:txBody>
          <a:bodyPr>
            <a:noAutofit/>
          </a:bodyPr>
          <a:lstStyle/>
          <a:p>
            <a:pPr>
              <a:defRPr sz="3600" b="1">
                <a:solidFill>
                  <a:srgbClr val="F3F6EF"/>
                </a:solidFill>
                <a:latin typeface="Arial"/>
                <a:ea typeface="Arial"/>
                <a:cs typeface="Arial"/>
              </a:defRPr>
            </a:pPr>
            <a:r>
              <a:rPr sz="3600" b="1">
                <a:solidFill>
                  <a:srgbClr val="F3F6EF"/>
                </a:solidFill>
                <a:latin typeface="Arial"/>
                <a:ea typeface="Arial"/>
                <a:cs typeface="Arial"/>
              </a:rPr>
              <a:t>72.03%</a:t>
            </a:r>
          </a:p>
        </p:txBody>
      </p:sp>
      <p:sp>
        <p:nvSpPr>
          <p:cNvPr id="12" name="Rectangle 11">
            <a:extLst>
              <a:ext uri="{FF2B5EF4-FFF2-40B4-BE49-F238E27FC236}">
                <a16:creationId xmlns:a16="http://schemas.microsoft.com/office/drawing/2014/main" id="{D2432EEB-61FD-488E-AC1E-251627E63022}"/>
              </a:ext>
            </a:extLst>
          </p:cNvPr>
          <p:cNvSpPr>
            <a:spLocks noGrp="1"/>
          </p:cNvSpPr>
          <p:nvPr/>
        </p:nvSpPr>
        <p:spPr>
          <a:xfrm>
            <a:off x="628650" y="4848225"/>
            <a:ext cx="3333750" cy="190500"/>
          </a:xfrm>
          <a:prstGeom prst="rect">
            <a:avLst/>
          </a:prstGeom>
          <a:noFill/>
          <a:ln w="0">
            <a:noFill/>
          </a:ln>
        </p:spPr>
        <p:txBody>
          <a:bodyPr>
            <a:noAutofit/>
          </a:bodyPr>
          <a:lstStyle/>
          <a:p>
            <a:pPr>
              <a:defRPr sz="1050" b="0">
                <a:solidFill>
                  <a:srgbClr val="A9B5A5"/>
                </a:solidFill>
                <a:latin typeface="Arial"/>
                <a:ea typeface="Arial"/>
                <a:cs typeface="Arial"/>
              </a:defRPr>
            </a:pPr>
            <a:r>
              <a:rPr sz="1050" b="0">
                <a:solidFill>
                  <a:srgbClr val="A9B5A5"/>
                </a:solidFill>
                <a:latin typeface="Arial"/>
                <a:ea typeface="Arial"/>
                <a:cs typeface="Arial"/>
              </a:rPr>
              <a:t>test accuracy  ·  Logistic Regression</a:t>
            </a:r>
          </a:p>
        </p:txBody>
      </p:sp>
      <p:sp>
        <p:nvSpPr>
          <p:cNvPr id="13" name="Rectangle 12">
            <a:extLst>
              <a:ext uri="{FF2B5EF4-FFF2-40B4-BE49-F238E27FC236}">
                <a16:creationId xmlns:a16="http://schemas.microsoft.com/office/drawing/2014/main" id="{4CA05BE1-EE88-4985-84AE-8C425395F431}"/>
              </a:ext>
            </a:extLst>
          </p:cNvPr>
          <p:cNvSpPr>
            <a:spLocks noGrp="1"/>
          </p:cNvSpPr>
          <p:nvPr/>
        </p:nvSpPr>
        <p:spPr>
          <a:xfrm>
            <a:off x="628650" y="5153025"/>
            <a:ext cx="3619500" cy="209550"/>
          </a:xfrm>
          <a:prstGeom prst="rect">
            <a:avLst/>
          </a:prstGeom>
          <a:noFill/>
          <a:ln w="0">
            <a:noFill/>
          </a:ln>
        </p:spPr>
        <p:txBody>
          <a:bodyPr>
            <a:noAutofit/>
          </a:bodyPr>
          <a:lstStyle/>
          <a:p>
            <a:pPr>
              <a:defRPr sz="1200" b="0">
                <a:solidFill>
                  <a:srgbClr val="F3F6EF"/>
                </a:solidFill>
                <a:latin typeface="Arial"/>
                <a:ea typeface="Arial"/>
                <a:cs typeface="Arial"/>
              </a:defRPr>
            </a:pPr>
            <a:r>
              <a:rPr sz="1200" b="0">
                <a:solidFill>
                  <a:srgbClr val="F3F6EF"/>
                </a:solidFill>
                <a:latin typeface="Arial"/>
                <a:ea typeface="Arial"/>
                <a:cs typeface="Arial"/>
              </a:rPr>
              <a:t>80.72% recall at the 35% alert threshold</a:t>
            </a:r>
          </a:p>
        </p:txBody>
      </p:sp>
      <p:sp>
        <p:nvSpPr>
          <p:cNvPr id="14" name="Rectangle: Rounded Corners 13">
            <a:extLst>
              <a:ext uri="{FF2B5EF4-FFF2-40B4-BE49-F238E27FC236}">
                <a16:creationId xmlns:a16="http://schemas.microsoft.com/office/drawing/2014/main" id="{D491A1A8-1E75-4090-991B-C2554727A443}"/>
              </a:ext>
            </a:extLst>
          </p:cNvPr>
          <p:cNvSpPr>
            <a:spLocks noGrp="1"/>
          </p:cNvSpPr>
          <p:nvPr/>
        </p:nvSpPr>
        <p:spPr>
          <a:xfrm>
            <a:off x="5286375" y="2095500"/>
            <a:ext cx="5953125" cy="3143250"/>
          </a:xfrm>
          <a:prstGeom prst="roundRect">
            <a:avLst>
              <a:gd name="adj" fmla="val 3636"/>
            </a:avLst>
          </a:prstGeom>
          <a:solidFill>
            <a:srgbClr val="1E2820"/>
          </a:solidFill>
          <a:ln w="9525">
            <a:solidFill>
              <a:srgbClr val="445242"/>
            </a:solidFill>
          </a:ln>
        </p:spPr>
        <p:txBody>
          <a:bodyPr/>
          <a:lstStyle/>
          <a:p>
            <a:endParaRPr lang="en-IN"/>
          </a:p>
        </p:txBody>
      </p:sp>
      <p:sp>
        <p:nvSpPr>
          <p:cNvPr id="15" name="Rectangle 14">
            <a:extLst>
              <a:ext uri="{FF2B5EF4-FFF2-40B4-BE49-F238E27FC236}">
                <a16:creationId xmlns:a16="http://schemas.microsoft.com/office/drawing/2014/main" id="{EA18A294-D0DC-4BE6-B296-1809C44B5600}"/>
              </a:ext>
            </a:extLst>
          </p:cNvPr>
          <p:cNvSpPr>
            <a:spLocks noGrp="1"/>
          </p:cNvSpPr>
          <p:nvPr/>
        </p:nvSpPr>
        <p:spPr>
          <a:xfrm>
            <a:off x="5572125" y="2362200"/>
            <a:ext cx="3810000" cy="190500"/>
          </a:xfrm>
          <a:prstGeom prst="rect">
            <a:avLst/>
          </a:prstGeom>
          <a:noFill/>
          <a:ln w="0">
            <a:noFill/>
          </a:ln>
        </p:spPr>
        <p:txBody>
          <a:bodyPr>
            <a:noAutofit/>
          </a:bodyPr>
          <a:lstStyle/>
          <a:p>
            <a:pPr>
              <a:defRPr sz="825" b="1">
                <a:solidFill>
                  <a:srgbClr val="CDEB85"/>
                </a:solidFill>
                <a:latin typeface="Arial"/>
                <a:ea typeface="Arial"/>
                <a:cs typeface="Arial"/>
              </a:defRPr>
            </a:pPr>
            <a:r>
              <a:rPr sz="825" b="1">
                <a:solidFill>
                  <a:srgbClr val="CDEB85"/>
                </a:solidFill>
                <a:latin typeface="Arial"/>
                <a:ea typeface="Arial"/>
                <a:cs typeface="Arial"/>
              </a:rPr>
              <a:t>GRIDWATCH  vs  BASELINE</a:t>
            </a:r>
          </a:p>
        </p:txBody>
      </p:sp>
      <p:sp>
        <p:nvSpPr>
          <p:cNvPr id="16" name="Rectangle 15">
            <a:extLst>
              <a:ext uri="{FF2B5EF4-FFF2-40B4-BE49-F238E27FC236}">
                <a16:creationId xmlns:a16="http://schemas.microsoft.com/office/drawing/2014/main" id="{38382D83-D5CD-4C25-BDC4-5C1290505344}"/>
              </a:ext>
            </a:extLst>
          </p:cNvPr>
          <p:cNvSpPr>
            <a:spLocks noGrp="1"/>
          </p:cNvSpPr>
          <p:nvPr/>
        </p:nvSpPr>
        <p:spPr>
          <a:xfrm>
            <a:off x="5572125" y="2781300"/>
            <a:ext cx="1905000" cy="190500"/>
          </a:xfrm>
          <a:prstGeom prst="rect">
            <a:avLst/>
          </a:prstGeom>
          <a:noFill/>
          <a:ln w="0">
            <a:noFill/>
          </a:ln>
        </p:spPr>
        <p:txBody>
          <a:bodyPr>
            <a:noAutofit/>
          </a:bodyPr>
          <a:lstStyle/>
          <a:p>
            <a:pPr>
              <a:defRPr sz="1050" b="0">
                <a:solidFill>
                  <a:srgbClr val="A9B5A5"/>
                </a:solidFill>
                <a:latin typeface="Arial"/>
                <a:ea typeface="Arial"/>
                <a:cs typeface="Arial"/>
              </a:defRPr>
            </a:pPr>
            <a:r>
              <a:rPr sz="1050" b="0">
                <a:solidFill>
                  <a:srgbClr val="A9B5A5"/>
                </a:solidFill>
                <a:latin typeface="Arial"/>
                <a:ea typeface="Arial"/>
                <a:cs typeface="Arial"/>
              </a:rPr>
              <a:t>Temperature MAE (°C)</a:t>
            </a:r>
          </a:p>
        </p:txBody>
      </p:sp>
      <p:sp>
        <p:nvSpPr>
          <p:cNvPr id="17" name="Rectangle: Rounded Corners 16">
            <a:extLst>
              <a:ext uri="{FF2B5EF4-FFF2-40B4-BE49-F238E27FC236}">
                <a16:creationId xmlns:a16="http://schemas.microsoft.com/office/drawing/2014/main" id="{9541594D-AD89-41A6-881E-E9C30BE781CB}"/>
              </a:ext>
            </a:extLst>
          </p:cNvPr>
          <p:cNvSpPr>
            <a:spLocks noGrp="1"/>
          </p:cNvSpPr>
          <p:nvPr/>
        </p:nvSpPr>
        <p:spPr>
          <a:xfrm>
            <a:off x="7810500" y="2800350"/>
            <a:ext cx="1619250" cy="190500"/>
          </a:xfrm>
          <a:prstGeom prst="roundRect">
            <a:avLst>
              <a:gd name="adj" fmla="val 50000"/>
            </a:avLst>
          </a:prstGeom>
          <a:solidFill>
            <a:srgbClr val="CDEB85"/>
          </a:solidFill>
          <a:ln w="9525">
            <a:solidFill>
              <a:srgbClr val="CDEB85"/>
            </a:solidFill>
          </a:ln>
        </p:spPr>
        <p:txBody>
          <a:bodyPr/>
          <a:lstStyle/>
          <a:p>
            <a:endParaRPr lang="en-IN"/>
          </a:p>
        </p:txBody>
      </p:sp>
      <p:sp>
        <p:nvSpPr>
          <p:cNvPr id="18" name="Rectangle: Rounded Corners 17">
            <a:extLst>
              <a:ext uri="{FF2B5EF4-FFF2-40B4-BE49-F238E27FC236}">
                <a16:creationId xmlns:a16="http://schemas.microsoft.com/office/drawing/2014/main" id="{E9BBCF63-7A8F-40FE-B33E-E33C337E83CD}"/>
              </a:ext>
            </a:extLst>
          </p:cNvPr>
          <p:cNvSpPr>
            <a:spLocks noGrp="1"/>
          </p:cNvSpPr>
          <p:nvPr/>
        </p:nvSpPr>
        <p:spPr>
          <a:xfrm>
            <a:off x="7810500" y="3105150"/>
            <a:ext cx="1695450" cy="190500"/>
          </a:xfrm>
          <a:prstGeom prst="roundRect">
            <a:avLst>
              <a:gd name="adj" fmla="val 50000"/>
            </a:avLst>
          </a:prstGeom>
          <a:solidFill>
            <a:srgbClr val="6F7D72"/>
          </a:solidFill>
          <a:ln w="9525">
            <a:solidFill>
              <a:srgbClr val="6F7D72"/>
            </a:solidFill>
          </a:ln>
        </p:spPr>
        <p:txBody>
          <a:bodyPr/>
          <a:lstStyle/>
          <a:p>
            <a:endParaRPr lang="en-IN"/>
          </a:p>
        </p:txBody>
      </p:sp>
      <p:sp>
        <p:nvSpPr>
          <p:cNvPr id="19" name="Rectangle 18">
            <a:extLst>
              <a:ext uri="{FF2B5EF4-FFF2-40B4-BE49-F238E27FC236}">
                <a16:creationId xmlns:a16="http://schemas.microsoft.com/office/drawing/2014/main" id="{62198D19-2AED-4814-839E-CA52C10E509E}"/>
              </a:ext>
            </a:extLst>
          </p:cNvPr>
          <p:cNvSpPr>
            <a:spLocks noGrp="1"/>
          </p:cNvSpPr>
          <p:nvPr/>
        </p:nvSpPr>
        <p:spPr>
          <a:xfrm>
            <a:off x="9620250" y="2781300"/>
            <a:ext cx="666750" cy="190500"/>
          </a:xfrm>
          <a:prstGeom prst="rect">
            <a:avLst/>
          </a:prstGeom>
          <a:noFill/>
          <a:ln w="0">
            <a:noFill/>
          </a:ln>
        </p:spPr>
        <p:txBody>
          <a:bodyPr>
            <a:noAutofit/>
          </a:bodyPr>
          <a:lstStyle/>
          <a:p>
            <a:pPr>
              <a:defRPr sz="1050" b="1">
                <a:solidFill>
                  <a:srgbClr val="F3F6EF"/>
                </a:solidFill>
                <a:latin typeface="Arial"/>
                <a:ea typeface="Arial"/>
                <a:cs typeface="Arial"/>
              </a:defRPr>
            </a:pPr>
            <a:r>
              <a:rPr sz="1050" b="1">
                <a:solidFill>
                  <a:srgbClr val="F3F6EF"/>
                </a:solidFill>
                <a:latin typeface="Arial"/>
                <a:ea typeface="Arial"/>
                <a:cs typeface="Arial"/>
              </a:rPr>
              <a:t>1.63</a:t>
            </a:r>
          </a:p>
        </p:txBody>
      </p:sp>
      <p:sp>
        <p:nvSpPr>
          <p:cNvPr id="20" name="Rectangle 19">
            <a:extLst>
              <a:ext uri="{FF2B5EF4-FFF2-40B4-BE49-F238E27FC236}">
                <a16:creationId xmlns:a16="http://schemas.microsoft.com/office/drawing/2014/main" id="{6FCE1F2E-D276-4A89-9137-A8B3E52EEF19}"/>
              </a:ext>
            </a:extLst>
          </p:cNvPr>
          <p:cNvSpPr>
            <a:spLocks noGrp="1"/>
          </p:cNvSpPr>
          <p:nvPr/>
        </p:nvSpPr>
        <p:spPr>
          <a:xfrm>
            <a:off x="9620250" y="3086100"/>
            <a:ext cx="666750" cy="190500"/>
          </a:xfrm>
          <a:prstGeom prst="rect">
            <a:avLst/>
          </a:prstGeom>
          <a:noFill/>
          <a:ln w="0">
            <a:noFill/>
          </a:ln>
        </p:spPr>
        <p:txBody>
          <a:bodyPr>
            <a:noAutofit/>
          </a:bodyPr>
          <a:lstStyle/>
          <a:p>
            <a:pPr>
              <a:defRPr sz="1050" b="1">
                <a:solidFill>
                  <a:srgbClr val="F3F6EF"/>
                </a:solidFill>
                <a:latin typeface="Arial"/>
                <a:ea typeface="Arial"/>
                <a:cs typeface="Arial"/>
              </a:defRPr>
            </a:pPr>
            <a:r>
              <a:rPr sz="1050" b="1">
                <a:solidFill>
                  <a:srgbClr val="F3F6EF"/>
                </a:solidFill>
                <a:latin typeface="Arial"/>
                <a:ea typeface="Arial"/>
                <a:cs typeface="Arial"/>
              </a:rPr>
              <a:t>1.71</a:t>
            </a:r>
          </a:p>
        </p:txBody>
      </p:sp>
      <p:sp>
        <p:nvSpPr>
          <p:cNvPr id="21" name="Rectangle 20">
            <a:extLst>
              <a:ext uri="{FF2B5EF4-FFF2-40B4-BE49-F238E27FC236}">
                <a16:creationId xmlns:a16="http://schemas.microsoft.com/office/drawing/2014/main" id="{8E9C7253-1328-4648-80D9-A008A736B897}"/>
              </a:ext>
            </a:extLst>
          </p:cNvPr>
          <p:cNvSpPr>
            <a:spLocks noGrp="1"/>
          </p:cNvSpPr>
          <p:nvPr/>
        </p:nvSpPr>
        <p:spPr>
          <a:xfrm>
            <a:off x="5572125" y="3695700"/>
            <a:ext cx="1905000" cy="190500"/>
          </a:xfrm>
          <a:prstGeom prst="rect">
            <a:avLst/>
          </a:prstGeom>
          <a:noFill/>
          <a:ln w="0">
            <a:noFill/>
          </a:ln>
        </p:spPr>
        <p:txBody>
          <a:bodyPr>
            <a:noAutofit/>
          </a:bodyPr>
          <a:lstStyle/>
          <a:p>
            <a:pPr>
              <a:defRPr sz="1050" b="0">
                <a:solidFill>
                  <a:srgbClr val="A9B5A5"/>
                </a:solidFill>
                <a:latin typeface="Arial"/>
                <a:ea typeface="Arial"/>
                <a:cs typeface="Arial"/>
              </a:defRPr>
            </a:pPr>
            <a:r>
              <a:rPr sz="1050" b="0">
                <a:solidFill>
                  <a:srgbClr val="A9B5A5"/>
                </a:solidFill>
                <a:latin typeface="Arial"/>
                <a:ea typeface="Arial"/>
                <a:cs typeface="Arial"/>
              </a:rPr>
              <a:t>Failure accuracy</a:t>
            </a:r>
          </a:p>
        </p:txBody>
      </p:sp>
      <p:sp>
        <p:nvSpPr>
          <p:cNvPr id="22" name="Rectangle: Rounded Corners 21">
            <a:extLst>
              <a:ext uri="{FF2B5EF4-FFF2-40B4-BE49-F238E27FC236}">
                <a16:creationId xmlns:a16="http://schemas.microsoft.com/office/drawing/2014/main" id="{71D0B647-FA1B-4CED-9B0A-BDA12E4D3974}"/>
              </a:ext>
            </a:extLst>
          </p:cNvPr>
          <p:cNvSpPr>
            <a:spLocks noGrp="1"/>
          </p:cNvSpPr>
          <p:nvPr/>
        </p:nvSpPr>
        <p:spPr>
          <a:xfrm>
            <a:off x="7810500" y="3714750"/>
            <a:ext cx="3429000" cy="190500"/>
          </a:xfrm>
          <a:prstGeom prst="roundRect">
            <a:avLst>
              <a:gd name="adj" fmla="val 50000"/>
            </a:avLst>
          </a:prstGeom>
          <a:solidFill>
            <a:srgbClr val="CDEB85"/>
          </a:solidFill>
          <a:ln w="9525">
            <a:solidFill>
              <a:srgbClr val="CDEB85"/>
            </a:solidFill>
          </a:ln>
        </p:spPr>
        <p:txBody>
          <a:bodyPr/>
          <a:lstStyle/>
          <a:p>
            <a:endParaRPr lang="en-IN"/>
          </a:p>
        </p:txBody>
      </p:sp>
      <p:sp>
        <p:nvSpPr>
          <p:cNvPr id="23" name="Rectangle: Rounded Corners 22">
            <a:extLst>
              <a:ext uri="{FF2B5EF4-FFF2-40B4-BE49-F238E27FC236}">
                <a16:creationId xmlns:a16="http://schemas.microsoft.com/office/drawing/2014/main" id="{58FDE862-2FEE-4EE6-818B-F02720AE02A1}"/>
              </a:ext>
            </a:extLst>
          </p:cNvPr>
          <p:cNvSpPr>
            <a:spLocks noGrp="1"/>
          </p:cNvSpPr>
          <p:nvPr/>
        </p:nvSpPr>
        <p:spPr>
          <a:xfrm>
            <a:off x="7810500" y="4019550"/>
            <a:ext cx="2705100" cy="190500"/>
          </a:xfrm>
          <a:prstGeom prst="roundRect">
            <a:avLst>
              <a:gd name="adj" fmla="val 50000"/>
            </a:avLst>
          </a:prstGeom>
          <a:solidFill>
            <a:srgbClr val="6F7D72"/>
          </a:solidFill>
          <a:ln w="9525">
            <a:solidFill>
              <a:srgbClr val="6F7D72"/>
            </a:solidFill>
          </a:ln>
        </p:spPr>
        <p:txBody>
          <a:bodyPr/>
          <a:lstStyle/>
          <a:p>
            <a:endParaRPr lang="en-IN"/>
          </a:p>
        </p:txBody>
      </p:sp>
      <p:sp>
        <p:nvSpPr>
          <p:cNvPr id="24" name="Rectangle 23">
            <a:extLst>
              <a:ext uri="{FF2B5EF4-FFF2-40B4-BE49-F238E27FC236}">
                <a16:creationId xmlns:a16="http://schemas.microsoft.com/office/drawing/2014/main" id="{D051079C-C718-400C-B586-F7496C44CA2E}"/>
              </a:ext>
            </a:extLst>
          </p:cNvPr>
          <p:cNvSpPr>
            <a:spLocks noGrp="1"/>
          </p:cNvSpPr>
          <p:nvPr/>
        </p:nvSpPr>
        <p:spPr>
          <a:xfrm>
            <a:off x="9620250" y="3695700"/>
            <a:ext cx="809625" cy="190500"/>
          </a:xfrm>
          <a:prstGeom prst="rect">
            <a:avLst/>
          </a:prstGeom>
          <a:noFill/>
          <a:ln w="0">
            <a:noFill/>
          </a:ln>
        </p:spPr>
        <p:txBody>
          <a:bodyPr>
            <a:noAutofit/>
          </a:bodyPr>
          <a:lstStyle/>
          <a:p>
            <a:pPr>
              <a:defRPr sz="1050" b="1">
                <a:solidFill>
                  <a:srgbClr val="F3F6EF"/>
                </a:solidFill>
                <a:latin typeface="Arial"/>
                <a:ea typeface="Arial"/>
                <a:cs typeface="Arial"/>
              </a:defRPr>
            </a:pPr>
            <a:r>
              <a:rPr sz="1050" b="1">
                <a:solidFill>
                  <a:srgbClr val="F3F6EF"/>
                </a:solidFill>
                <a:latin typeface="Arial"/>
                <a:ea typeface="Arial"/>
                <a:cs typeface="Arial"/>
              </a:rPr>
              <a:t>72.03%</a:t>
            </a:r>
          </a:p>
        </p:txBody>
      </p:sp>
      <p:sp>
        <p:nvSpPr>
          <p:cNvPr id="25" name="Rectangle 24">
            <a:extLst>
              <a:ext uri="{FF2B5EF4-FFF2-40B4-BE49-F238E27FC236}">
                <a16:creationId xmlns:a16="http://schemas.microsoft.com/office/drawing/2014/main" id="{BDEAA9AB-CE1D-445D-8BE9-2D5985745FF6}"/>
              </a:ext>
            </a:extLst>
          </p:cNvPr>
          <p:cNvSpPr>
            <a:spLocks noGrp="1"/>
          </p:cNvSpPr>
          <p:nvPr/>
        </p:nvSpPr>
        <p:spPr>
          <a:xfrm>
            <a:off x="9620250" y="4000500"/>
            <a:ext cx="809625" cy="190500"/>
          </a:xfrm>
          <a:prstGeom prst="rect">
            <a:avLst/>
          </a:prstGeom>
          <a:noFill/>
          <a:ln w="0">
            <a:noFill/>
          </a:ln>
        </p:spPr>
        <p:txBody>
          <a:bodyPr>
            <a:noAutofit/>
          </a:bodyPr>
          <a:lstStyle/>
          <a:p>
            <a:pPr>
              <a:defRPr sz="1050" b="1">
                <a:solidFill>
                  <a:srgbClr val="F3F6EF"/>
                </a:solidFill>
                <a:latin typeface="Arial"/>
                <a:ea typeface="Arial"/>
                <a:cs typeface="Arial"/>
              </a:defRPr>
            </a:pPr>
            <a:r>
              <a:rPr sz="1050" b="1">
                <a:solidFill>
                  <a:srgbClr val="F3F6EF"/>
                </a:solidFill>
                <a:latin typeface="Arial"/>
                <a:ea typeface="Arial"/>
                <a:cs typeface="Arial"/>
              </a:rPr>
              <a:t>56.77%</a:t>
            </a:r>
          </a:p>
        </p:txBody>
      </p:sp>
      <p:sp>
        <p:nvSpPr>
          <p:cNvPr id="26" name="Rectangle 25">
            <a:extLst>
              <a:ext uri="{FF2B5EF4-FFF2-40B4-BE49-F238E27FC236}">
                <a16:creationId xmlns:a16="http://schemas.microsoft.com/office/drawing/2014/main" id="{E6E61A94-102A-4144-9FFE-59A680B3C133}"/>
              </a:ext>
            </a:extLst>
          </p:cNvPr>
          <p:cNvSpPr>
            <a:spLocks noGrp="1"/>
          </p:cNvSpPr>
          <p:nvPr/>
        </p:nvSpPr>
        <p:spPr>
          <a:xfrm>
            <a:off x="5572125" y="4667250"/>
            <a:ext cx="1047750" cy="171450"/>
          </a:xfrm>
          <a:prstGeom prst="rect">
            <a:avLst/>
          </a:prstGeom>
          <a:noFill/>
          <a:ln w="0">
            <a:noFill/>
          </a:ln>
        </p:spPr>
        <p:txBody>
          <a:bodyPr>
            <a:noAutofit/>
          </a:bodyPr>
          <a:lstStyle/>
          <a:p>
            <a:pPr>
              <a:defRPr sz="900" b="1">
                <a:solidFill>
                  <a:srgbClr val="CDEB85"/>
                </a:solidFill>
                <a:latin typeface="Arial"/>
                <a:ea typeface="Arial"/>
                <a:cs typeface="Arial"/>
              </a:defRPr>
            </a:pPr>
            <a:r>
              <a:rPr sz="900" b="1">
                <a:solidFill>
                  <a:srgbClr val="CDEB85"/>
                </a:solidFill>
                <a:latin typeface="Arial"/>
                <a:ea typeface="Arial"/>
                <a:cs typeface="Arial"/>
              </a:rPr>
              <a:t>GridWatch</a:t>
            </a:r>
          </a:p>
        </p:txBody>
      </p:sp>
      <p:sp>
        <p:nvSpPr>
          <p:cNvPr id="27" name="Rectangle 26">
            <a:extLst>
              <a:ext uri="{FF2B5EF4-FFF2-40B4-BE49-F238E27FC236}">
                <a16:creationId xmlns:a16="http://schemas.microsoft.com/office/drawing/2014/main" id="{2E2400FA-85FE-4E70-BB8E-C53EE9F6A2F8}"/>
              </a:ext>
            </a:extLst>
          </p:cNvPr>
          <p:cNvSpPr>
            <a:spLocks noGrp="1"/>
          </p:cNvSpPr>
          <p:nvPr/>
        </p:nvSpPr>
        <p:spPr>
          <a:xfrm>
            <a:off x="6858000" y="4667250"/>
            <a:ext cx="1047750" cy="171450"/>
          </a:xfrm>
          <a:prstGeom prst="rect">
            <a:avLst/>
          </a:prstGeom>
          <a:noFill/>
          <a:ln w="0">
            <a:noFill/>
          </a:ln>
        </p:spPr>
        <p:txBody>
          <a:bodyPr>
            <a:noAutofit/>
          </a:bodyPr>
          <a:lstStyle/>
          <a:p>
            <a:pPr>
              <a:defRPr sz="900" b="1">
                <a:solidFill>
                  <a:srgbClr val="A9B5A5"/>
                </a:solidFill>
                <a:latin typeface="Arial"/>
                <a:ea typeface="Arial"/>
                <a:cs typeface="Arial"/>
              </a:defRPr>
            </a:pPr>
            <a:r>
              <a:rPr sz="900" b="1">
                <a:solidFill>
                  <a:srgbClr val="A9B5A5"/>
                </a:solidFill>
                <a:latin typeface="Arial"/>
                <a:ea typeface="Arial"/>
                <a:cs typeface="Arial"/>
              </a:rPr>
              <a:t>Baseline</a:t>
            </a:r>
          </a:p>
        </p:txBody>
      </p:sp>
      <p:sp>
        <p:nvSpPr>
          <p:cNvPr id="28" name="Rectangle 27">
            <a:extLst>
              <a:ext uri="{FF2B5EF4-FFF2-40B4-BE49-F238E27FC236}">
                <a16:creationId xmlns:a16="http://schemas.microsoft.com/office/drawing/2014/main" id="{9915C390-A68C-4054-A1E5-EE7D1A19604A}"/>
              </a:ext>
            </a:extLst>
          </p:cNvPr>
          <p:cNvSpPr>
            <a:spLocks noGrp="1"/>
          </p:cNvSpPr>
          <p:nvPr/>
        </p:nvSpPr>
        <p:spPr>
          <a:xfrm>
            <a:off x="5286375" y="5429250"/>
            <a:ext cx="5953125" cy="361950"/>
          </a:xfrm>
          <a:prstGeom prst="rect">
            <a:avLst/>
          </a:prstGeom>
          <a:noFill/>
          <a:ln w="0">
            <a:noFill/>
          </a:ln>
        </p:spPr>
        <p:txBody>
          <a:bodyPr>
            <a:noAutofit/>
          </a:bodyPr>
          <a:lstStyle/>
          <a:p>
            <a:pPr>
              <a:defRPr sz="975" b="0">
                <a:solidFill>
                  <a:srgbClr val="A9B5A5"/>
                </a:solidFill>
                <a:latin typeface="Arial"/>
                <a:ea typeface="Arial"/>
                <a:cs typeface="Arial"/>
              </a:defRPr>
            </a:pPr>
            <a:r>
              <a:rPr sz="975" b="0">
                <a:solidFill>
                  <a:srgbClr val="A9B5A5"/>
                </a:solidFill>
                <a:latin typeface="Arial"/>
                <a:ea typeface="Arial"/>
                <a:cs typeface="Arial"/>
              </a:rPr>
              <a:t>Accuracy metrics are synthetic; temperature error is real ETTh1 forecasting. Neither establishes field outage accuracy.</a:t>
            </a:r>
          </a:p>
        </p:txBody>
      </p:sp>
    </p:spTree>
    <p:extLst>
      <p:ext uri="{BB962C8B-B14F-4D97-AF65-F5344CB8AC3E}">
        <p14:creationId xmlns:p14="http://schemas.microsoft.com/office/powerpoint/2010/main" val="14204774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11713"/>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55A0BCF-1A5D-44A7-9021-C7F69F49D459}"/>
              </a:ext>
            </a:extLst>
          </p:cNvPr>
          <p:cNvSpPr>
            <a:spLocks noGrp="1"/>
          </p:cNvSpPr>
          <p:nvPr/>
        </p:nvSpPr>
        <p:spPr>
          <a:xfrm>
            <a:off x="609600" y="361950"/>
            <a:ext cx="2000250" cy="171450"/>
          </a:xfrm>
          <a:prstGeom prst="rect">
            <a:avLst/>
          </a:prstGeom>
          <a:noFill/>
          <a:ln w="0">
            <a:noFill/>
          </a:ln>
        </p:spPr>
        <p:txBody>
          <a:bodyPr>
            <a:noAutofit/>
          </a:bodyPr>
          <a:lstStyle/>
          <a:p>
            <a:pPr>
              <a:defRPr sz="825" b="1">
                <a:solidFill>
                  <a:srgbClr val="CDEB85"/>
                </a:solidFill>
                <a:latin typeface="Arial"/>
                <a:ea typeface="Arial"/>
                <a:cs typeface="Arial"/>
              </a:defRPr>
            </a:pPr>
            <a:r>
              <a:rPr sz="825" b="1">
                <a:solidFill>
                  <a:srgbClr val="CDEB85"/>
                </a:solidFill>
                <a:latin typeface="Arial"/>
                <a:ea typeface="Arial"/>
                <a:cs typeface="Arial"/>
              </a:rPr>
              <a:t>IBM BOBATHON 2026</a:t>
            </a:r>
          </a:p>
        </p:txBody>
      </p:sp>
      <p:sp>
        <p:nvSpPr>
          <p:cNvPr id="2" name="Rectangle 1">
            <a:extLst>
              <a:ext uri="{FF2B5EF4-FFF2-40B4-BE49-F238E27FC236}">
                <a16:creationId xmlns:a16="http://schemas.microsoft.com/office/drawing/2014/main" id="{83FEEA13-456C-4A64-BDF7-6089B6E2F562}"/>
              </a:ext>
            </a:extLst>
          </p:cNvPr>
          <p:cNvSpPr>
            <a:spLocks noGrp="1"/>
          </p:cNvSpPr>
          <p:nvPr/>
        </p:nvSpPr>
        <p:spPr>
          <a:xfrm>
            <a:off x="609600" y="704850"/>
            <a:ext cx="10287000" cy="590550"/>
          </a:xfrm>
          <a:prstGeom prst="rect">
            <a:avLst/>
          </a:prstGeom>
          <a:noFill/>
          <a:ln w="0">
            <a:noFill/>
          </a:ln>
        </p:spPr>
        <p:txBody>
          <a:bodyPr>
            <a:noAutofit/>
          </a:bodyPr>
          <a:lstStyle/>
          <a:p>
            <a:pPr>
              <a:defRPr sz="3150" b="1">
                <a:solidFill>
                  <a:srgbClr val="F3F6EF"/>
                </a:solidFill>
                <a:latin typeface="Arial"/>
                <a:ea typeface="Arial"/>
                <a:cs typeface="Arial"/>
              </a:defRPr>
            </a:pPr>
            <a:r>
              <a:rPr sz="3150" b="1">
                <a:solidFill>
                  <a:srgbClr val="F3F6EF"/>
                </a:solidFill>
                <a:latin typeface="Arial"/>
                <a:ea typeface="Arial"/>
                <a:cs typeface="Arial"/>
              </a:rPr>
              <a:t>Team and next steps</a:t>
            </a:r>
          </a:p>
        </p:txBody>
      </p:sp>
      <p:sp>
        <p:nvSpPr>
          <p:cNvPr id="3" name="Rectangle 2">
            <a:extLst>
              <a:ext uri="{FF2B5EF4-FFF2-40B4-BE49-F238E27FC236}">
                <a16:creationId xmlns:a16="http://schemas.microsoft.com/office/drawing/2014/main" id="{42CFE1E5-94D8-4AA6-AD73-ABC750233A2B}"/>
              </a:ext>
            </a:extLst>
          </p:cNvPr>
          <p:cNvSpPr>
            <a:spLocks noGrp="1"/>
          </p:cNvSpPr>
          <p:nvPr/>
        </p:nvSpPr>
        <p:spPr>
          <a:xfrm>
            <a:off x="628650" y="1343025"/>
            <a:ext cx="9334500" cy="285750"/>
          </a:xfrm>
          <a:prstGeom prst="rect">
            <a:avLst/>
          </a:prstGeom>
          <a:noFill/>
          <a:ln w="0">
            <a:noFill/>
          </a:ln>
        </p:spPr>
        <p:txBody>
          <a:bodyPr>
            <a:noAutofit/>
          </a:bodyPr>
          <a:lstStyle/>
          <a:p>
            <a:pPr>
              <a:defRPr sz="1200" b="0">
                <a:solidFill>
                  <a:srgbClr val="A9B5A5"/>
                </a:solidFill>
                <a:latin typeface="Arial"/>
                <a:ea typeface="Arial"/>
                <a:cs typeface="Arial"/>
              </a:defRPr>
            </a:pPr>
            <a:r>
              <a:rPr sz="1200" b="0">
                <a:solidFill>
                  <a:srgbClr val="A9B5A5"/>
                </a:solidFill>
                <a:latin typeface="Arial"/>
                <a:ea typeface="Arial"/>
                <a:cs typeface="Arial"/>
              </a:rPr>
              <a:t>A working prototype with a clear path to field validation.</a:t>
            </a:r>
          </a:p>
        </p:txBody>
      </p:sp>
      <p:sp>
        <p:nvSpPr>
          <p:cNvPr id="4" name="Rectangle 3">
            <a:extLst>
              <a:ext uri="{FF2B5EF4-FFF2-40B4-BE49-F238E27FC236}">
                <a16:creationId xmlns:a16="http://schemas.microsoft.com/office/drawing/2014/main" id="{63ACC116-015F-4912-BDDA-7145240EBD65}"/>
              </a:ext>
            </a:extLst>
          </p:cNvPr>
          <p:cNvSpPr>
            <a:spLocks noGrp="1"/>
          </p:cNvSpPr>
          <p:nvPr/>
        </p:nvSpPr>
        <p:spPr>
          <a:xfrm>
            <a:off x="609600" y="6419850"/>
            <a:ext cx="4572000" cy="171450"/>
          </a:xfrm>
          <a:prstGeom prst="rect">
            <a:avLst/>
          </a:prstGeom>
          <a:noFill/>
          <a:ln w="0">
            <a:noFill/>
          </a:ln>
        </p:spPr>
        <p:txBody>
          <a:bodyPr>
            <a:noAutofit/>
          </a:bodyPr>
          <a:lstStyle/>
          <a:p>
            <a:pPr>
              <a:defRPr sz="825" b="1">
                <a:solidFill>
                  <a:srgbClr val="A9B5A5"/>
                </a:solidFill>
                <a:latin typeface="Arial"/>
                <a:ea typeface="Arial"/>
                <a:cs typeface="Arial"/>
              </a:defRPr>
            </a:pPr>
            <a:r>
              <a:rPr sz="825" b="1">
                <a:solidFill>
                  <a:srgbClr val="A9B5A5"/>
                </a:solidFill>
                <a:latin typeface="Arial"/>
                <a:ea typeface="Arial"/>
                <a:cs typeface="Arial"/>
              </a:rPr>
              <a:t>GRIDWATCH / U1</a:t>
            </a:r>
          </a:p>
        </p:txBody>
      </p:sp>
      <p:sp>
        <p:nvSpPr>
          <p:cNvPr id="5" name="Rectangle 4">
            <a:extLst>
              <a:ext uri="{FF2B5EF4-FFF2-40B4-BE49-F238E27FC236}">
                <a16:creationId xmlns:a16="http://schemas.microsoft.com/office/drawing/2014/main" id="{80AE3AD5-B422-499E-9806-66665CCA12CB}"/>
              </a:ext>
            </a:extLst>
          </p:cNvPr>
          <p:cNvSpPr>
            <a:spLocks noGrp="1"/>
          </p:cNvSpPr>
          <p:nvPr/>
        </p:nvSpPr>
        <p:spPr>
          <a:xfrm>
            <a:off x="11239500" y="6419850"/>
            <a:ext cx="333375" cy="171450"/>
          </a:xfrm>
          <a:prstGeom prst="rect">
            <a:avLst/>
          </a:prstGeom>
          <a:noFill/>
          <a:ln w="0">
            <a:noFill/>
          </a:ln>
        </p:spPr>
        <p:txBody>
          <a:bodyPr>
            <a:noAutofit/>
          </a:bodyPr>
          <a:lstStyle/>
          <a:p>
            <a:pPr>
              <a:defRPr sz="825" b="1">
                <a:solidFill>
                  <a:srgbClr val="CDEB85"/>
                </a:solidFill>
                <a:latin typeface="Arial"/>
                <a:ea typeface="Arial"/>
                <a:cs typeface="Arial"/>
              </a:defRPr>
            </a:pPr>
            <a:r>
              <a:rPr sz="825" b="1">
                <a:solidFill>
                  <a:srgbClr val="CDEB85"/>
                </a:solidFill>
                <a:latin typeface="Arial"/>
                <a:ea typeface="Arial"/>
                <a:cs typeface="Arial"/>
              </a:rPr>
              <a:t>08</a:t>
            </a:r>
          </a:p>
        </p:txBody>
      </p:sp>
      <p:pic>
        <p:nvPicPr>
          <p:cNvPr id="21" name="Picture 20"/>
          <p:cNvPicPr>
            <a:picLocks noChangeAspect="1"/>
          </p:cNvPicPr>
          <p:nvPr/>
        </p:nvPicPr>
        <p:blipFill>
          <a:blip r:embed="rId3"/>
          <a:srcRect l="1613" r="1613"/>
          <a:stretch>
            <a:fillRect/>
          </a:stretch>
        </p:blipFill>
        <p:spPr>
          <a:xfrm>
            <a:off x="609600" y="2047875"/>
            <a:ext cx="4286250" cy="2952750"/>
          </a:xfrm>
          <a:prstGeom prst="roundRect">
            <a:avLst>
              <a:gd name="adj" fmla="val 3871"/>
            </a:avLst>
          </a:prstGeom>
        </p:spPr>
      </p:pic>
      <p:sp>
        <p:nvSpPr>
          <p:cNvPr id="7" name="Rectangle: Rounded Corners 6">
            <a:extLst>
              <a:ext uri="{FF2B5EF4-FFF2-40B4-BE49-F238E27FC236}">
                <a16:creationId xmlns:a16="http://schemas.microsoft.com/office/drawing/2014/main" id="{A07C5EB6-F739-4C7C-B17A-3864EB04D455}"/>
              </a:ext>
            </a:extLst>
          </p:cNvPr>
          <p:cNvSpPr>
            <a:spLocks noGrp="1"/>
          </p:cNvSpPr>
          <p:nvPr/>
        </p:nvSpPr>
        <p:spPr>
          <a:xfrm>
            <a:off x="4895850" y="2066925"/>
            <a:ext cx="6191250" cy="2952750"/>
          </a:xfrm>
          <a:prstGeom prst="roundRect">
            <a:avLst>
              <a:gd name="adj" fmla="val 3871"/>
            </a:avLst>
          </a:prstGeom>
          <a:solidFill>
            <a:srgbClr val="1E2820"/>
          </a:solidFill>
          <a:ln w="9525">
            <a:solidFill>
              <a:srgbClr val="445242"/>
            </a:solidFill>
          </a:ln>
        </p:spPr>
        <p:txBody>
          <a:bodyPr/>
          <a:lstStyle/>
          <a:p>
            <a:endParaRPr lang="en-IN" dirty="0"/>
          </a:p>
        </p:txBody>
      </p:sp>
      <p:sp>
        <p:nvSpPr>
          <p:cNvPr id="8" name="Rectangle 7">
            <a:extLst>
              <a:ext uri="{FF2B5EF4-FFF2-40B4-BE49-F238E27FC236}">
                <a16:creationId xmlns:a16="http://schemas.microsoft.com/office/drawing/2014/main" id="{DF5DCF83-6145-4329-9D77-1E8EAA5F20A5}"/>
              </a:ext>
            </a:extLst>
          </p:cNvPr>
          <p:cNvSpPr>
            <a:spLocks noGrp="1"/>
          </p:cNvSpPr>
          <p:nvPr/>
        </p:nvSpPr>
        <p:spPr>
          <a:xfrm>
            <a:off x="5715000" y="2352675"/>
            <a:ext cx="1143000" cy="190500"/>
          </a:xfrm>
          <a:prstGeom prst="rect">
            <a:avLst/>
          </a:prstGeom>
          <a:noFill/>
          <a:ln w="0">
            <a:noFill/>
          </a:ln>
        </p:spPr>
        <p:txBody>
          <a:bodyPr>
            <a:noAutofit/>
          </a:bodyPr>
          <a:lstStyle/>
          <a:p>
            <a:pPr>
              <a:defRPr sz="825" b="1">
                <a:solidFill>
                  <a:srgbClr val="CDEB85"/>
                </a:solidFill>
                <a:latin typeface="Arial"/>
                <a:ea typeface="Arial"/>
                <a:cs typeface="Arial"/>
              </a:defRPr>
            </a:pPr>
            <a:r>
              <a:rPr sz="825" b="1">
                <a:solidFill>
                  <a:srgbClr val="CDEB85"/>
                </a:solidFill>
                <a:latin typeface="Arial"/>
                <a:ea typeface="Arial"/>
                <a:cs typeface="Arial"/>
              </a:rPr>
              <a:t>TEAM</a:t>
            </a:r>
          </a:p>
        </p:txBody>
      </p:sp>
      <p:sp>
        <p:nvSpPr>
          <p:cNvPr id="9" name="Rectangle 8">
            <a:extLst>
              <a:ext uri="{FF2B5EF4-FFF2-40B4-BE49-F238E27FC236}">
                <a16:creationId xmlns:a16="http://schemas.microsoft.com/office/drawing/2014/main" id="{EAC85851-C860-4FC9-880A-F6C598A081F0}"/>
              </a:ext>
            </a:extLst>
          </p:cNvPr>
          <p:cNvSpPr>
            <a:spLocks noGrp="1"/>
          </p:cNvSpPr>
          <p:nvPr/>
        </p:nvSpPr>
        <p:spPr>
          <a:xfrm>
            <a:off x="5715000" y="2705100"/>
            <a:ext cx="4000500" cy="323850"/>
          </a:xfrm>
          <a:prstGeom prst="rect">
            <a:avLst/>
          </a:prstGeom>
          <a:noFill/>
          <a:ln w="0">
            <a:noFill/>
          </a:ln>
        </p:spPr>
        <p:txBody>
          <a:bodyPr>
            <a:noAutofit/>
          </a:bodyPr>
          <a:lstStyle/>
          <a:p>
            <a:pPr>
              <a:defRPr sz="1950" b="1">
                <a:solidFill>
                  <a:srgbClr val="F3F6EF"/>
                </a:solidFill>
                <a:latin typeface="Arial"/>
                <a:ea typeface="Arial"/>
                <a:cs typeface="Arial"/>
              </a:defRPr>
            </a:pPr>
            <a:r>
              <a:rPr sz="1950" b="1" dirty="0">
                <a:solidFill>
                  <a:srgbClr val="F3F6EF"/>
                </a:solidFill>
                <a:latin typeface="Arial"/>
                <a:ea typeface="Arial"/>
                <a:cs typeface="Arial"/>
              </a:rPr>
              <a:t>GridWatch</a:t>
            </a:r>
          </a:p>
        </p:txBody>
      </p:sp>
      <p:sp>
        <p:nvSpPr>
          <p:cNvPr id="10" name="Rectangle 9">
            <a:extLst>
              <a:ext uri="{FF2B5EF4-FFF2-40B4-BE49-F238E27FC236}">
                <a16:creationId xmlns:a16="http://schemas.microsoft.com/office/drawing/2014/main" id="{BE503148-08EC-4D44-A596-6C58100E5302}"/>
              </a:ext>
            </a:extLst>
          </p:cNvPr>
          <p:cNvSpPr>
            <a:spLocks noGrp="1"/>
          </p:cNvSpPr>
          <p:nvPr/>
        </p:nvSpPr>
        <p:spPr>
          <a:xfrm>
            <a:off x="5715000" y="3305175"/>
            <a:ext cx="2476500" cy="238125"/>
          </a:xfrm>
          <a:prstGeom prst="rect">
            <a:avLst/>
          </a:prstGeom>
          <a:noFill/>
          <a:ln w="0">
            <a:noFill/>
          </a:ln>
        </p:spPr>
        <p:txBody>
          <a:bodyPr>
            <a:noAutofit/>
          </a:bodyPr>
          <a:lstStyle/>
          <a:p>
            <a:pPr>
              <a:defRPr sz="1275" b="1">
                <a:solidFill>
                  <a:srgbClr val="CDEB85"/>
                </a:solidFill>
                <a:latin typeface="Arial"/>
                <a:ea typeface="Arial"/>
                <a:cs typeface="Arial"/>
              </a:defRPr>
            </a:pPr>
            <a:r>
              <a:rPr lang="en-IN" sz="1275" b="1" dirty="0">
                <a:solidFill>
                  <a:srgbClr val="CDEB85"/>
                </a:solidFill>
                <a:latin typeface="Arial"/>
                <a:ea typeface="Arial"/>
                <a:cs typeface="Arial"/>
              </a:rPr>
              <a:t>Team Details</a:t>
            </a:r>
            <a:endParaRPr sz="1275" b="1" dirty="0">
              <a:solidFill>
                <a:srgbClr val="CDEB85"/>
              </a:solidFill>
              <a:latin typeface="Arial"/>
              <a:ea typeface="Arial"/>
              <a:cs typeface="Arial"/>
            </a:endParaRPr>
          </a:p>
        </p:txBody>
      </p:sp>
      <p:sp>
        <p:nvSpPr>
          <p:cNvPr id="11" name="Rectangle 10">
            <a:extLst>
              <a:ext uri="{FF2B5EF4-FFF2-40B4-BE49-F238E27FC236}">
                <a16:creationId xmlns:a16="http://schemas.microsoft.com/office/drawing/2014/main" id="{2C550B31-A341-475B-A2E4-C4BD9BA2A327}"/>
              </a:ext>
            </a:extLst>
          </p:cNvPr>
          <p:cNvSpPr>
            <a:spLocks noGrp="1"/>
          </p:cNvSpPr>
          <p:nvPr/>
        </p:nvSpPr>
        <p:spPr>
          <a:xfrm>
            <a:off x="5715000" y="3619500"/>
            <a:ext cx="4952999" cy="1247775"/>
          </a:xfrm>
          <a:prstGeom prst="rect">
            <a:avLst/>
          </a:prstGeom>
          <a:noFill/>
          <a:ln w="0">
            <a:noFill/>
          </a:ln>
        </p:spPr>
        <p:txBody>
          <a:bodyPr>
            <a:noAutofit/>
          </a:bodyPr>
          <a:lstStyle/>
          <a:p>
            <a:pPr>
              <a:defRPr sz="1050" b="0">
                <a:solidFill>
                  <a:srgbClr val="A9B5A5"/>
                </a:solidFill>
                <a:latin typeface="Arial"/>
                <a:ea typeface="Arial"/>
                <a:cs typeface="Arial"/>
              </a:defRPr>
            </a:pPr>
            <a:r>
              <a:rPr lang="en-US" sz="1600" b="0" dirty="0">
                <a:solidFill>
                  <a:srgbClr val="A9B5A5"/>
                </a:solidFill>
                <a:latin typeface="Arial"/>
                <a:ea typeface="Arial"/>
                <a:cs typeface="Arial"/>
              </a:rPr>
              <a:t>Vivaa Rathod (24EE055)/Leader - Backend/API</a:t>
            </a:r>
          </a:p>
          <a:p>
            <a:pPr>
              <a:defRPr sz="1050" b="0">
                <a:solidFill>
                  <a:srgbClr val="A9B5A5"/>
                </a:solidFill>
                <a:latin typeface="Arial"/>
                <a:ea typeface="Arial"/>
                <a:cs typeface="Arial"/>
              </a:defRPr>
            </a:pPr>
            <a:r>
              <a:rPr lang="en-US" sz="1600" dirty="0">
                <a:solidFill>
                  <a:srgbClr val="A9B5A5"/>
                </a:solidFill>
                <a:latin typeface="Arial"/>
                <a:ea typeface="Arial"/>
                <a:cs typeface="Arial"/>
              </a:rPr>
              <a:t>Aryan Chanpa (24CS011) - ML/Data </a:t>
            </a:r>
            <a:r>
              <a:rPr lang="en-US" sz="1600" b="0" dirty="0">
                <a:solidFill>
                  <a:srgbClr val="A9B5A5"/>
                </a:solidFill>
                <a:latin typeface="Arial"/>
                <a:ea typeface="Arial"/>
                <a:cs typeface="Arial"/>
              </a:rPr>
              <a:t> </a:t>
            </a:r>
          </a:p>
          <a:p>
            <a:pPr>
              <a:defRPr sz="1050" b="0">
                <a:solidFill>
                  <a:srgbClr val="A9B5A5"/>
                </a:solidFill>
                <a:latin typeface="Arial"/>
                <a:ea typeface="Arial"/>
                <a:cs typeface="Arial"/>
              </a:defRPr>
            </a:pPr>
            <a:r>
              <a:rPr lang="en-US" sz="1600" b="0" dirty="0">
                <a:solidFill>
                  <a:srgbClr val="A9B5A5"/>
                </a:solidFill>
                <a:latin typeface="Arial"/>
                <a:ea typeface="Arial"/>
                <a:cs typeface="Arial"/>
              </a:rPr>
              <a:t>Krishna Patel (24EC107) - Frontend/UI </a:t>
            </a:r>
          </a:p>
          <a:p>
            <a:pPr>
              <a:defRPr sz="1050" b="0">
                <a:solidFill>
                  <a:srgbClr val="A9B5A5"/>
                </a:solidFill>
                <a:latin typeface="Arial"/>
                <a:ea typeface="Arial"/>
                <a:cs typeface="Arial"/>
              </a:defRPr>
            </a:pPr>
            <a:r>
              <a:rPr lang="en-US" sz="1600" b="0" dirty="0">
                <a:solidFill>
                  <a:srgbClr val="A9B5A5"/>
                </a:solidFill>
                <a:latin typeface="Arial"/>
                <a:ea typeface="Arial"/>
                <a:cs typeface="Arial"/>
              </a:rPr>
              <a:t>Yesha Parsana (24EC091) - Product &amp; Integration</a:t>
            </a:r>
          </a:p>
          <a:p>
            <a:pPr>
              <a:defRPr sz="1050" b="0">
                <a:solidFill>
                  <a:srgbClr val="A9B5A5"/>
                </a:solidFill>
                <a:latin typeface="Arial"/>
                <a:ea typeface="Arial"/>
                <a:cs typeface="Arial"/>
              </a:defRPr>
            </a:pPr>
            <a:endParaRPr sz="1050" b="0" dirty="0">
              <a:solidFill>
                <a:srgbClr val="A9B5A5"/>
              </a:solidFill>
              <a:latin typeface="Arial"/>
              <a:ea typeface="Arial"/>
              <a:cs typeface="Arial"/>
            </a:endParaRPr>
          </a:p>
        </p:txBody>
      </p:sp>
      <p:sp>
        <p:nvSpPr>
          <p:cNvPr id="12" name="Rectangle 11">
            <a:extLst>
              <a:ext uri="{FF2B5EF4-FFF2-40B4-BE49-F238E27FC236}">
                <a16:creationId xmlns:a16="http://schemas.microsoft.com/office/drawing/2014/main" id="{F200922C-CFAB-4AE8-B728-9E1D03261421}"/>
              </a:ext>
            </a:extLst>
          </p:cNvPr>
          <p:cNvSpPr>
            <a:spLocks noGrp="1"/>
          </p:cNvSpPr>
          <p:nvPr/>
        </p:nvSpPr>
        <p:spPr>
          <a:xfrm>
            <a:off x="5715000" y="4162425"/>
            <a:ext cx="1714500" cy="190500"/>
          </a:xfrm>
          <a:prstGeom prst="rect">
            <a:avLst/>
          </a:prstGeom>
          <a:noFill/>
          <a:ln w="0">
            <a:noFill/>
          </a:ln>
        </p:spPr>
        <p:txBody>
          <a:bodyPr>
            <a:noAutofit/>
          </a:bodyPr>
          <a:lstStyle/>
          <a:p>
            <a:pPr>
              <a:defRPr sz="825" b="1">
                <a:solidFill>
                  <a:srgbClr val="CDEB85"/>
                </a:solidFill>
                <a:latin typeface="Arial"/>
                <a:ea typeface="Arial"/>
                <a:cs typeface="Arial"/>
              </a:defRPr>
            </a:pPr>
            <a:endParaRPr sz="825" b="1" dirty="0">
              <a:solidFill>
                <a:srgbClr val="CDEB85"/>
              </a:solidFill>
              <a:latin typeface="Arial"/>
              <a:ea typeface="Arial"/>
              <a:cs typeface="Arial"/>
            </a:endParaRPr>
          </a:p>
        </p:txBody>
      </p:sp>
      <p:sp>
        <p:nvSpPr>
          <p:cNvPr id="13" name="Rectangle 12">
            <a:extLst>
              <a:ext uri="{FF2B5EF4-FFF2-40B4-BE49-F238E27FC236}">
                <a16:creationId xmlns:a16="http://schemas.microsoft.com/office/drawing/2014/main" id="{C8E829D1-2342-45ED-A1C4-30DCFAD46920}"/>
              </a:ext>
            </a:extLst>
          </p:cNvPr>
          <p:cNvSpPr>
            <a:spLocks noGrp="1"/>
          </p:cNvSpPr>
          <p:nvPr/>
        </p:nvSpPr>
        <p:spPr>
          <a:xfrm>
            <a:off x="5715000" y="4467225"/>
            <a:ext cx="4572000" cy="219075"/>
          </a:xfrm>
          <a:prstGeom prst="rect">
            <a:avLst/>
          </a:prstGeom>
          <a:noFill/>
          <a:ln w="0">
            <a:noFill/>
          </a:ln>
        </p:spPr>
        <p:txBody>
          <a:bodyPr>
            <a:noAutofit/>
          </a:bodyPr>
          <a:lstStyle/>
          <a:p>
            <a:pPr>
              <a:defRPr sz="1125" b="0">
                <a:solidFill>
                  <a:srgbClr val="A9B5A5"/>
                </a:solidFill>
                <a:latin typeface="Arial"/>
                <a:ea typeface="Arial"/>
                <a:cs typeface="Arial"/>
              </a:defRPr>
            </a:pPr>
            <a:endParaRPr sz="1125" b="0" dirty="0">
              <a:solidFill>
                <a:srgbClr val="A9B5A5"/>
              </a:solidFill>
              <a:latin typeface="Arial"/>
              <a:ea typeface="Arial"/>
              <a:cs typeface="Arial"/>
            </a:endParaRPr>
          </a:p>
        </p:txBody>
      </p:sp>
    </p:spTree>
    <p:extLst>
      <p:ext uri="{BB962C8B-B14F-4D97-AF65-F5344CB8AC3E}">
        <p14:creationId xmlns:p14="http://schemas.microsoft.com/office/powerpoint/2010/main" val="45235935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TotalTime>
  <Words>1024</Words>
  <Application>Microsoft Office PowerPoint</Application>
  <DocSecurity>0</DocSecurity>
  <PresentationFormat>Widescreen</PresentationFormat>
  <Paragraphs>140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aryan chanpa</cp:lastModifiedBy>
  <cp:revision>2</cp:revision>
  <dcterms:created xsi:type="dcterms:W3CDTF">2026-09-14T06:30:15Z</dcterms:created>
  <dcterms:modified xsi:type="dcterms:W3CDTF">2026-09-14T13:45:12Z</dcterms:modified>
</cp:coreProperties>
</file>