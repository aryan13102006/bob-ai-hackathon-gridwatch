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e30856cb49642df" /><Relationship Type="http://schemas.openxmlformats.org/officeDocument/2006/relationships/extended-properties" Target="/docProps/app.xml" Id="R7c55eaba416a4c81" /><Relationship Type="http://schemas.openxmlformats.org/officeDocument/2006/relationships/officeDocument" Target="/ppt/presentation.xml" Id="Re7ace8448f1049c5" /></Relationships>
</file>

<file path=ppt/presentation.xml><?xml version="1.0" encoding="utf-8"?>
<p:presentation xmlns:p="http://schemas.openxmlformats.org/presentationml/2006/main">
  <p:sldMasterIdLst>
    <p:sldMasterId xmlns:r="http://schemas.openxmlformats.org/officeDocument/2006/relationships" id="2147483648" r:id="Ra7697a6801d24887"/>
  </p:sldMasterIdLst>
  <p:notesMasterIdLst>
    <p:notesMasterId xmlns:r="http://schemas.openxmlformats.org/officeDocument/2006/relationships" r:id="Ra315e11af9e4438b"/>
  </p:notesMasterIdLst>
  <p:sldIdLst>
    <p:sldId xmlns:r="http://schemas.openxmlformats.org/officeDocument/2006/relationships" id="256" r:id="R008e7233b1644f9e"/>
    <p:sldId xmlns:r="http://schemas.openxmlformats.org/officeDocument/2006/relationships" id="257" r:id="R24a6c01a3a774539"/>
    <p:sldId xmlns:r="http://schemas.openxmlformats.org/officeDocument/2006/relationships" id="258" r:id="R39b67e8818014ea9"/>
    <p:sldId xmlns:r="http://schemas.openxmlformats.org/officeDocument/2006/relationships" id="259" r:id="Rbe0d229f04a04d3d"/>
    <p:sldId xmlns:r="http://schemas.openxmlformats.org/officeDocument/2006/relationships" id="260" r:id="R3aff44b6111943f8"/>
    <p:sldId xmlns:r="http://schemas.openxmlformats.org/officeDocument/2006/relationships" id="261" r:id="R1a006a0b36964348"/>
    <p:sldId xmlns:r="http://schemas.openxmlformats.org/officeDocument/2006/relationships" id="262" r:id="R3abffffb83364407"/>
    <p:sldId xmlns:r="http://schemas.openxmlformats.org/officeDocument/2006/relationships" id="263" r:id="R283bd6b95a9e40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2719d8a9b2a4ed3" /><Relationship Type="http://schemas.openxmlformats.org/officeDocument/2006/relationships/slideMaster" Target="/ppt/slideMasters/slideMaster1.xml" Id="Ra7697a6801d24887" /><Relationship Type="http://schemas.openxmlformats.org/officeDocument/2006/relationships/notesMaster" Target="/ppt/notesMasters/notesMaster1.xml" Id="Ra315e11af9e4438b" /><Relationship Type="http://schemas.openxmlformats.org/officeDocument/2006/relationships/presProps" Target="/ppt/presProps.xml" Id="R82a16ee264ec42e4" /><Relationship Type="http://schemas.openxmlformats.org/officeDocument/2006/relationships/tableStyles" Target="/ppt/tableStyles.xml" Id="Raed85b070a5c4e0f" /><Relationship Type="http://schemas.openxmlformats.org/officeDocument/2006/relationships/slide" Target="/ppt/slides/slide1.xml" Id="R008e7233b1644f9e" /><Relationship Type="http://schemas.openxmlformats.org/officeDocument/2006/relationships/slide" Target="/ppt/slides/slide2.xml" Id="R24a6c01a3a774539" /><Relationship Type="http://schemas.openxmlformats.org/officeDocument/2006/relationships/slide" Target="/ppt/slides/slide3.xml" Id="R39b67e8818014ea9" /><Relationship Type="http://schemas.openxmlformats.org/officeDocument/2006/relationships/slide" Target="/ppt/slides/slide4.xml" Id="Rbe0d229f04a04d3d" /><Relationship Type="http://schemas.openxmlformats.org/officeDocument/2006/relationships/slide" Target="/ppt/slides/slide5.xml" Id="R3aff44b6111943f8" /><Relationship Type="http://schemas.openxmlformats.org/officeDocument/2006/relationships/slide" Target="/ppt/slides/slide6.xml" Id="R1a006a0b36964348" /><Relationship Type="http://schemas.openxmlformats.org/officeDocument/2006/relationships/slide" Target="/ppt/slides/slide7.xml" Id="R3abffffb83364407" /><Relationship Type="http://schemas.openxmlformats.org/officeDocument/2006/relationships/slide" Target="/ppt/slides/slide8.xml" Id="R283bd6b95a9e40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485ad1bfee14b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966172fd404553" /><Relationship Type="http://schemas.openxmlformats.org/officeDocument/2006/relationships/notesMaster" Target="/ppt/notesMasters/notesMaster1.xml" Id="Rc84b57583d7a49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b6939158c3a4b46" /><Relationship Type="http://schemas.openxmlformats.org/officeDocument/2006/relationships/notesMaster" Target="/ppt/notesMasters/notesMaster1.xml" Id="R9992cdd2d07445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d09150451943e7" /><Relationship Type="http://schemas.openxmlformats.org/officeDocument/2006/relationships/notesMaster" Target="/ppt/notesMasters/notesMaster1.xml" Id="R407fe738465a4c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7bbc488cf0488b" /><Relationship Type="http://schemas.openxmlformats.org/officeDocument/2006/relationships/notesMaster" Target="/ppt/notesMasters/notesMaster1.xml" Id="Re3dd0107c30e44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b31d01c6d340e3" /><Relationship Type="http://schemas.openxmlformats.org/officeDocument/2006/relationships/notesMaster" Target="/ppt/notesMasters/notesMaster1.xml" Id="R636cbf42b90748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4077430dec44fbd" /><Relationship Type="http://schemas.openxmlformats.org/officeDocument/2006/relationships/notesMaster" Target="/ppt/notesMasters/notesMaster1.xml" Id="Rfafa778811ef41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e71995d838494a" /><Relationship Type="http://schemas.openxmlformats.org/officeDocument/2006/relationships/notesMaster" Target="/ppt/notesMasters/notesMaster1.xml" Id="R4377a13c80784c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09754119a944be" /><Relationship Type="http://schemas.openxmlformats.org/officeDocument/2006/relationships/notesMaster" Target="/ppt/notesMasters/notesMaster1.xml" Id="R6b5b5091a7cd46e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GridWatch is a local U1 prototype. It helps an operator examine equipment risk, compare weather scenarios and prepare a maintenance plan. The substation image is an AI-generated illustration of a fictional facility, not a monitored asset.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U1 problem statement asks for a solution that combines asset-health sensors, weather forecasts and historical incidents, then ranks equipment and areas by grid impact and creates a maintenance and crew pre-positioning plan. The photo is an AI-generated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shows the real running GridWatch interface. An operator edits wind, rainfall and crew availability, then runs the scenario. The backend scores twelve fictional assets, calculates impact-weighted priority and produces a capacity-constrained maintenance queue. The screenshot itself is captured from the local prototype.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ETTh1 track forecasts oil temperature 24 hours ahead. It has no outage labels. The synthetic track creates failure labels so the complete advisor workflow can be demonstrated. The browser server and the MCP server call the same engine.py implementation. This separation prevents us from presenting temperature accuracy as outage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values were verified in the running application. At the storm scenario, three crews leave six jobs unassigned. With six crews, the same risk state leaves one unassigned job. Crew skills and an eight-hour shift constrain assignment. The result is a proposed queue, not a dispatch instruction.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IBM Bob is not the prediction model. The local MCP server exposes the already-tested analysis engine. Bob can call assess_grid_risk and get_model_evaluation, then write a brief grounded in tool output. Protocol tests passed. A signed-in Bob application demonstration is still a separate verification step. Source: https://bob.ibm.com/docs/ide/configuration/mcp/mcp-in-bob.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ETTh1 test MAE is 1.6345°C versus 1.7144°C persistence. Synthetic failure test accuracy is 72.03%, versus 56.77% majority-class accuracy; recall is 80.72%. The synthetic test prevalence is 43.23%, so these are not rare-event utility estimates. Source: models/metrics.json and the saved accuracy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repository currently has the project build, documentation and technical verification. Team identity fields are intentionally pending. The next technical step is a real data contract: asset histories, sensor timestamps, maintenance and failure events, forecast-issued times, topology version and customer impact. Field validation should measure false alerts, lead time, calibration and recall at a crew budget. The engineer image is an AI-generated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9e150a8d9d408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b41ce778b924753" /><Relationship Type="http://schemas.openxmlformats.org/officeDocument/2006/relationships/slideLayout" Target="/ppt/slideLayouts/slideLayout1.xml" Id="R85c9d91c8b094a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c9d91c8b094a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eb37f2f6e0f45aa" /><Relationship Type="http://schemas.openxmlformats.org/officeDocument/2006/relationships/image" Target="/ppt/media/image.png" Id="R221d580ea50c40f8" /><Relationship Type="http://schemas.openxmlformats.org/officeDocument/2006/relationships/notesSlide" Target="/ppt/notesSlides/notesSlide1.xml" Id="Rf1552d9e7f1443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1090e9ae5e54bce" /><Relationship Type="http://schemas.openxmlformats.org/officeDocument/2006/relationships/image" Target="/ppt/media/image2.png" Id="Rebef1fa5a78544bc" /><Relationship Type="http://schemas.openxmlformats.org/officeDocument/2006/relationships/notesSlide" Target="/ppt/notesSlides/notesSlide2.xml" Id="R57f51333c88341d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ccfdbd0c78f47e5" /><Relationship Type="http://schemas.openxmlformats.org/officeDocument/2006/relationships/image" Target="/ppt/media/image.jpeg" Id="Rdf0c9f69775649cf" /><Relationship Type="http://schemas.openxmlformats.org/officeDocument/2006/relationships/notesSlide" Target="/ppt/notesSlides/notesSlide3.xml" Id="R323d9bb7ce704f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31e66c77a2c474f" /><Relationship Type="http://schemas.openxmlformats.org/officeDocument/2006/relationships/notesSlide" Target="/ppt/notesSlides/notesSlide4.xml" Id="R4c2a068de12c4c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71769fb1cc746ff" /><Relationship Type="http://schemas.openxmlformats.org/officeDocument/2006/relationships/image" Target="/ppt/media/image3.png" Id="Rfd2b4737a22d41d5" /><Relationship Type="http://schemas.openxmlformats.org/officeDocument/2006/relationships/notesSlide" Target="/ppt/notesSlides/notesSlide5.xml" Id="Rabe79f830c4143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a042ea5cd1a49fa" /><Relationship Type="http://schemas.openxmlformats.org/officeDocument/2006/relationships/notesSlide" Target="/ppt/notesSlides/notesSlide6.xml" Id="R0efa5b8e2b894ae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0000863701044d0" /><Relationship Type="http://schemas.openxmlformats.org/officeDocument/2006/relationships/notesSlide" Target="/ppt/notesSlides/notesSlide7.xml" Id="R64871be3787d4c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1f94310919f4aa5" /><Relationship Type="http://schemas.openxmlformats.org/officeDocument/2006/relationships/image" Target="/ppt/media/image4.png" Id="R268e04d2e080447d" /><Relationship Type="http://schemas.openxmlformats.org/officeDocument/2006/relationships/notesSlide" Target="/ppt/notesSlides/notesSlide8.xml" Id="R117de209e1ec4ffb" /></Relationships>
</file>

<file path=ppt/slides/slide1.xml><?xml version="1.0" encoding="utf-8"?>
<p:sld xmlns:p="http://schemas.openxmlformats.org/presentationml/2006/main">
  <p:cSld>
    <p:bg>
      <p:bgPr>
        <a:solidFill xmlns:a="http://schemas.openxmlformats.org/drawingml/2006/main">
          <a:srgbClr val="11171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F3351A-0F13-4FC1-B698-7FF10DE8F8B1}"/>
              </a:ext>
            </a:extLst>
          </p:cNvPr>
          <p:cNvSpPr>
            <a:spLocks xmlns:a="http://schemas.openxmlformats.org/drawingml/2006/main" noGrp="1"/>
          </p:cNvSpPr>
          <p:nvPr/>
        </p:nvSpPr>
        <p:spPr>
          <a:xfrm xmlns:a="http://schemas.openxmlformats.org/drawingml/2006/main">
            <a:off x="609600" y="3619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IBM BOBATHON 2026</a:t>
            </a:r>
          </a:p>
        </p:txBody>
      </p:sp>
      <p:sp>
        <p:nvSpPr>
          <p:cNvPr id="2" name="">
            <a:extLst xmlns:a="http://schemas.openxmlformats.org/drawingml/2006/main">
              <a:ext uri="{FF2B5EF4-FFF2-40B4-BE49-F238E27FC236}">
                <a16:creationId xmlns:a16="http://schemas.microsoft.com/office/drawing/2014/main" id="{6812AFCA-C815-4812-AD2B-6A25C799068C}"/>
              </a:ext>
            </a:extLst>
          </p:cNvPr>
          <p:cNvSpPr>
            <a:spLocks xmlns:a="http://schemas.openxmlformats.org/drawingml/2006/main" noGrp="1"/>
          </p:cNvSpPr>
          <p:nvPr/>
        </p:nvSpPr>
        <p:spPr>
          <a:xfrm xmlns:a="http://schemas.openxmlformats.org/drawingml/2006/main">
            <a:off x="609600" y="7048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r>
              <a:t/>
            </a:r>
          </a:p>
        </p:txBody>
      </p:sp>
      <p:sp>
        <p:nvSpPr>
          <p:cNvPr id="3" name="">
            <a:extLst xmlns:a="http://schemas.openxmlformats.org/drawingml/2006/main">
              <a:ext uri="{FF2B5EF4-FFF2-40B4-BE49-F238E27FC236}">
                <a16:creationId xmlns:a16="http://schemas.microsoft.com/office/drawing/2014/main" id="{DCDBACAA-CB9E-4858-A30D-89DBABBBBCF5}"/>
              </a:ext>
            </a:extLst>
          </p:cNvPr>
          <p:cNvSpPr>
            <a:spLocks xmlns:a="http://schemas.openxmlformats.org/drawingml/2006/main" noGrp="1"/>
          </p:cNvSpPr>
          <p:nvPr/>
        </p:nvSpPr>
        <p:spPr>
          <a:xfrm xmlns:a="http://schemas.openxmlformats.org/drawingml/2006/main">
            <a:off x="609600" y="6419850"/>
            <a:ext cx="457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A9B5A5"/>
                </a:solidFill>
                <a:latin typeface="Arial"/>
                <a:ea typeface="Arial"/>
                <a:cs typeface="Arial"/>
              </a:defRPr>
            </a:pPr>
            <a:r>
              <a:rPr sz="825" b="1">
                <a:solidFill>
                  <a:srgbClr val="A9B5A5"/>
                </a:solidFill>
                <a:latin typeface="Arial"/>
                <a:ea typeface="Arial"/>
                <a:cs typeface="Arial"/>
              </a:rPr>
              <a:t>GRIDWATCH / U1</a:t>
            </a:r>
          </a:p>
        </p:txBody>
      </p:sp>
      <p:sp>
        <p:nvSpPr>
          <p:cNvPr id="4" name="">
            <a:extLst xmlns:a="http://schemas.openxmlformats.org/drawingml/2006/main">
              <a:ext uri="{FF2B5EF4-FFF2-40B4-BE49-F238E27FC236}">
                <a16:creationId xmlns:a16="http://schemas.microsoft.com/office/drawing/2014/main" id="{6E85D238-E129-48FB-A839-66275EE384A6}"/>
              </a:ext>
            </a:extLst>
          </p:cNvPr>
          <p:cNvSpPr>
            <a:spLocks xmlns:a="http://schemas.openxmlformats.org/drawingml/2006/main" noGrp="1"/>
          </p:cNvSpPr>
          <p:nvPr/>
        </p:nvSpPr>
        <p:spPr>
          <a:xfrm xmlns:a="http://schemas.openxmlformats.org/drawingml/2006/main">
            <a:off x="11239500" y="6419850"/>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01</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21d580ea50c40f8"/>
          <a:srcRect xmlns:a="http://schemas.openxmlformats.org/drawingml/2006/main" l="20833" t="0" r="20833" b="0"/>
          <a:stretch xmlns:a="http://schemas.openxmlformats.org/drawingml/2006/main">
            <a:fillRect l="0" t="0" r="0" b="0"/>
          </a:stretch>
        </p:blipFill>
        <p:spPr>
          <a:xfrm xmlns:a="http://schemas.openxmlformats.org/drawingml/2006/main">
            <a:off x="6191250" y="0"/>
            <a:ext cx="6000750" cy="6858000"/>
          </a:xfrm>
          <a:prstGeom xmlns:a="http://schemas.openxmlformats.org/drawingml/2006/main" prst="roundRect">
            <a:avLst>
              <a:gd name="adj" fmla="val 1905"/>
            </a:avLst>
          </a:prstGeom>
        </p:spPr>
      </p:pic>
      <p:sp>
        <p:nvSpPr>
          <p:cNvPr id="6" name="">
            <a:extLst xmlns:a="http://schemas.openxmlformats.org/drawingml/2006/main">
              <a:ext uri="{FF2B5EF4-FFF2-40B4-BE49-F238E27FC236}">
                <a16:creationId xmlns:a16="http://schemas.microsoft.com/office/drawing/2014/main" id="{66AD5492-37F6-4A70-BFAA-51DEA0BC45AC}"/>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111713"/>
          </a:solidFill>
          <a:ln xmlns:a="http://schemas.openxmlformats.org/drawingml/2006/main" w="0">
            <a:solidFill>
              <a:srgbClr val="111713"/>
            </a:solidFill>
          </a:ln>
        </p:spPr>
      </p:sp>
      <p:sp>
        <p:nvSpPr>
          <p:cNvPr id="7" name="">
            <a:extLst xmlns:a="http://schemas.openxmlformats.org/drawingml/2006/main">
              <a:ext uri="{FF2B5EF4-FFF2-40B4-BE49-F238E27FC236}">
                <a16:creationId xmlns:a16="http://schemas.microsoft.com/office/drawing/2014/main" id="{648E43A6-C1A2-4DC9-8A47-04FF72192169}"/>
              </a:ext>
            </a:extLst>
          </p:cNvPr>
          <p:cNvSpPr>
            <a:spLocks xmlns:a="http://schemas.openxmlformats.org/drawingml/2006/main" noGrp="1"/>
          </p:cNvSpPr>
          <p:nvPr/>
        </p:nvSpPr>
        <p:spPr>
          <a:xfrm xmlns:a="http://schemas.openxmlformats.org/drawingml/2006/main">
            <a:off x="609600" y="53340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CDEB85"/>
                </a:solidFill>
                <a:latin typeface="Arial"/>
                <a:ea typeface="Arial"/>
                <a:cs typeface="Arial"/>
              </a:defRPr>
            </a:pPr>
            <a:r>
              <a:rPr sz="975" b="1">
                <a:solidFill>
                  <a:srgbClr val="CDEB85"/>
                </a:solidFill>
                <a:latin typeface="Arial"/>
                <a:ea typeface="Arial"/>
                <a:cs typeface="Arial"/>
              </a:rPr>
              <a:t>GRIDWATCH</a:t>
            </a:r>
          </a:p>
        </p:txBody>
      </p:sp>
      <p:sp>
        <p:nvSpPr>
          <p:cNvPr id="8" name="">
            <a:extLst xmlns:a="http://schemas.openxmlformats.org/drawingml/2006/main">
              <a:ext uri="{FF2B5EF4-FFF2-40B4-BE49-F238E27FC236}">
                <a16:creationId xmlns:a16="http://schemas.microsoft.com/office/drawing/2014/main" id="{380A7053-1748-4472-BEAA-B5ED324CC78F}"/>
              </a:ext>
            </a:extLst>
          </p:cNvPr>
          <p:cNvSpPr>
            <a:spLocks xmlns:a="http://schemas.openxmlformats.org/drawingml/2006/main" noGrp="1"/>
          </p:cNvSpPr>
          <p:nvPr/>
        </p:nvSpPr>
        <p:spPr>
          <a:xfrm xmlns:a="http://schemas.openxmlformats.org/drawingml/2006/main">
            <a:off x="609600" y="1428750"/>
            <a:ext cx="5524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F3F6EF"/>
                </a:solidFill>
                <a:latin typeface="Arial"/>
                <a:ea typeface="Arial"/>
                <a:cs typeface="Arial"/>
              </a:defRPr>
            </a:pPr>
            <a:r>
              <a:rPr sz="4050" b="1">
                <a:solidFill>
                  <a:srgbClr val="F3F6EF"/>
                </a:solidFill>
                <a:latin typeface="Arial"/>
                <a:ea typeface="Arial"/>
                <a:cs typeface="Arial"/>
              </a:rPr>
              <a:t>Power outage prediction</a:t>
            </a:r>
          </a:p>
          <a:p xmlns:a="http://schemas.openxmlformats.org/drawingml/2006/main">
            <a:pPr>
              <a:defRPr sz="4050" b="1">
                <a:solidFill>
                  <a:srgbClr val="F3F6EF"/>
                </a:solidFill>
                <a:latin typeface="Arial"/>
                <a:ea typeface="Arial"/>
                <a:cs typeface="Arial"/>
              </a:defRPr>
            </a:pPr>
            <a:r>
              <a:rPr sz="4050" b="1">
                <a:solidFill>
                  <a:srgbClr val="F3F6EF"/>
                </a:solidFill>
                <a:latin typeface="Arial"/>
                <a:ea typeface="Arial"/>
                <a:cs typeface="Arial"/>
              </a:rPr>
              <a:t>&amp; equipment failure advisor</a:t>
            </a:r>
          </a:p>
        </p:txBody>
      </p:sp>
      <p:sp>
        <p:nvSpPr>
          <p:cNvPr id="9" name="">
            <a:extLst xmlns:a="http://schemas.openxmlformats.org/drawingml/2006/main">
              <a:ext uri="{FF2B5EF4-FFF2-40B4-BE49-F238E27FC236}">
                <a16:creationId xmlns:a16="http://schemas.microsoft.com/office/drawing/2014/main" id="{6A2051A1-F325-4107-88DA-5AD68DC597E1}"/>
              </a:ext>
            </a:extLst>
          </p:cNvPr>
          <p:cNvSpPr>
            <a:spLocks xmlns:a="http://schemas.openxmlformats.org/drawingml/2006/main" noGrp="1"/>
          </p:cNvSpPr>
          <p:nvPr/>
        </p:nvSpPr>
        <p:spPr>
          <a:xfrm xmlns:a="http://schemas.openxmlformats.org/drawingml/2006/main">
            <a:off x="638175" y="4171950"/>
            <a:ext cx="409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A9B5A5"/>
                </a:solidFill>
                <a:latin typeface="Arial"/>
                <a:ea typeface="Arial"/>
                <a:cs typeface="Arial"/>
              </a:defRPr>
            </a:pPr>
            <a:r>
              <a:rPr sz="1425" b="0">
                <a:solidFill>
                  <a:srgbClr val="A9B5A5"/>
                </a:solidFill>
                <a:latin typeface="Arial"/>
                <a:ea typeface="Arial"/>
                <a:cs typeface="Arial"/>
              </a:rPr>
              <a:t>A working local prototype for U1</a:t>
            </a:r>
          </a:p>
          <a:p xmlns:a="http://schemas.openxmlformats.org/drawingml/2006/main">
            <a:pPr>
              <a:defRPr sz="1425" b="0">
                <a:solidFill>
                  <a:srgbClr val="A9B5A5"/>
                </a:solidFill>
                <a:latin typeface="Arial"/>
                <a:ea typeface="Arial"/>
                <a:cs typeface="Arial"/>
              </a:defRPr>
            </a:pPr>
            <a:r>
              <a:rPr sz="1425" b="0">
                <a:solidFill>
                  <a:srgbClr val="A9B5A5"/>
                </a:solidFill>
                <a:latin typeface="Arial"/>
                <a:ea typeface="Arial"/>
                <a:cs typeface="Arial"/>
              </a:rPr>
              <a:t>Track: AI  ·  Team details pending</a:t>
            </a:r>
          </a:p>
        </p:txBody>
      </p:sp>
      <p:sp>
        <p:nvSpPr>
          <p:cNvPr id="10" name="">
            <a:extLst xmlns:a="http://schemas.openxmlformats.org/drawingml/2006/main">
              <a:ext uri="{FF2B5EF4-FFF2-40B4-BE49-F238E27FC236}">
                <a16:creationId xmlns:a16="http://schemas.microsoft.com/office/drawing/2014/main" id="{966F9428-86ED-429A-96F9-7FE15969BD79}"/>
              </a:ext>
            </a:extLst>
          </p:cNvPr>
          <p:cNvSpPr>
            <a:spLocks xmlns:a="http://schemas.openxmlformats.org/drawingml/2006/main" noGrp="1"/>
          </p:cNvSpPr>
          <p:nvPr/>
        </p:nvSpPr>
        <p:spPr>
          <a:xfrm xmlns:a="http://schemas.openxmlformats.org/drawingml/2006/main">
            <a:off x="638175" y="5572125"/>
            <a:ext cx="409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CDEB85"/>
                </a:solidFill>
                <a:latin typeface="Arial"/>
                <a:ea typeface="Arial"/>
                <a:cs typeface="Arial"/>
              </a:defRPr>
            </a:pPr>
            <a:r>
              <a:rPr sz="1275" b="1">
                <a:solidFill>
                  <a:srgbClr val="CDEB85"/>
                </a:solidFill>
                <a:latin typeface="Arial"/>
                <a:ea typeface="Arial"/>
                <a:cs typeface="Arial"/>
              </a:rPr>
              <a:t>See the risk. Plan the response.</a:t>
            </a:r>
          </a:p>
        </p:txBody>
      </p:sp>
    </p:spTree>
    <p:extLst>
      <p:ext uri="{BB962C8B-B14F-4D97-AF65-F5344CB8AC3E}">
        <p14:creationId xmlns:p14="http://schemas.microsoft.com/office/powerpoint/2010/main" val="692271493"/>
      </p:ext>
    </p:extLst>
  </p:cSld>
</p:sld>
</file>

<file path=ppt/slides/slide2.xml><?xml version="1.0" encoding="utf-8"?>
<p:sld xmlns:p="http://schemas.openxmlformats.org/presentationml/2006/main">
  <p:cSld>
    <p:bg>
      <p:bgPr>
        <a:solidFill xmlns:a="http://schemas.openxmlformats.org/drawingml/2006/main">
          <a:srgbClr val="111713"/>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4CC06C8-1204-4124-8D67-092C610F0BA4}"/>
              </a:ext>
            </a:extLst>
          </p:cNvPr>
          <p:cNvSpPr>
            <a:spLocks xmlns:a="http://schemas.openxmlformats.org/drawingml/2006/main" noGrp="1"/>
          </p:cNvSpPr>
          <p:nvPr/>
        </p:nvSpPr>
        <p:spPr>
          <a:xfrm xmlns:a="http://schemas.openxmlformats.org/drawingml/2006/main">
            <a:off x="609600" y="3619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IBM BOBATHON 2026</a:t>
            </a:r>
          </a:p>
        </p:txBody>
      </p:sp>
      <p:sp>
        <p:nvSpPr>
          <p:cNvPr id="2" name="">
            <a:extLst xmlns:a="http://schemas.openxmlformats.org/drawingml/2006/main">
              <a:ext uri="{FF2B5EF4-FFF2-40B4-BE49-F238E27FC236}">
                <a16:creationId xmlns:a16="http://schemas.microsoft.com/office/drawing/2014/main" id="{0C9BCFE7-310A-4968-8C8B-496DF7DBE840}"/>
              </a:ext>
            </a:extLst>
          </p:cNvPr>
          <p:cNvSpPr>
            <a:spLocks xmlns:a="http://schemas.openxmlformats.org/drawingml/2006/main" noGrp="1"/>
          </p:cNvSpPr>
          <p:nvPr/>
        </p:nvSpPr>
        <p:spPr>
          <a:xfrm xmlns:a="http://schemas.openxmlformats.org/drawingml/2006/main">
            <a:off x="609600" y="7048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3F6EF"/>
                </a:solidFill>
                <a:latin typeface="Arial"/>
                <a:ea typeface="Arial"/>
                <a:cs typeface="Arial"/>
              </a:defRPr>
            </a:pPr>
            <a:r>
              <a:rPr sz="3150" b="1">
                <a:solidFill>
                  <a:srgbClr val="F3F6EF"/>
                </a:solidFill>
                <a:latin typeface="Arial"/>
                <a:ea typeface="Arial"/>
                <a:cs typeface="Arial"/>
              </a:rPr>
              <a:t>The maintenance decision</a:t>
            </a:r>
          </a:p>
        </p:txBody>
      </p:sp>
      <p:sp>
        <p:nvSpPr>
          <p:cNvPr id="3" name="">
            <a:extLst xmlns:a="http://schemas.openxmlformats.org/drawingml/2006/main">
              <a:ext uri="{FF2B5EF4-FFF2-40B4-BE49-F238E27FC236}">
                <a16:creationId xmlns:a16="http://schemas.microsoft.com/office/drawing/2014/main" id="{8B352789-1B6A-4F27-919D-3D5D2211FADD}"/>
              </a:ext>
            </a:extLst>
          </p:cNvPr>
          <p:cNvSpPr>
            <a:spLocks xmlns:a="http://schemas.openxmlformats.org/drawingml/2006/main" noGrp="1"/>
          </p:cNvSpPr>
          <p:nvPr/>
        </p:nvSpPr>
        <p:spPr>
          <a:xfrm xmlns:a="http://schemas.openxmlformats.org/drawingml/2006/main">
            <a:off x="628650" y="134302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B5A5"/>
                </a:solidFill>
                <a:latin typeface="Arial"/>
                <a:ea typeface="Arial"/>
                <a:cs typeface="Arial"/>
              </a:defRPr>
            </a:pPr>
            <a:r>
              <a:rPr sz="1200" b="0">
                <a:solidFill>
                  <a:srgbClr val="A9B5A5"/>
                </a:solidFill>
                <a:latin typeface="Arial"/>
                <a:ea typeface="Arial"/>
                <a:cs typeface="Arial"/>
              </a:rPr>
              <a:t>A sensor warning does not explain which asset should be serviced first.</a:t>
            </a:r>
          </a:p>
        </p:txBody>
      </p:sp>
      <p:sp>
        <p:nvSpPr>
          <p:cNvPr id="4" name="">
            <a:extLst xmlns:a="http://schemas.openxmlformats.org/drawingml/2006/main">
              <a:ext uri="{FF2B5EF4-FFF2-40B4-BE49-F238E27FC236}">
                <a16:creationId xmlns:a16="http://schemas.microsoft.com/office/drawing/2014/main" id="{2CFF2003-0C13-4F8E-AE7B-14ABCFA0D4F2}"/>
              </a:ext>
            </a:extLst>
          </p:cNvPr>
          <p:cNvSpPr>
            <a:spLocks xmlns:a="http://schemas.openxmlformats.org/drawingml/2006/main" noGrp="1"/>
          </p:cNvSpPr>
          <p:nvPr/>
        </p:nvSpPr>
        <p:spPr>
          <a:xfrm xmlns:a="http://schemas.openxmlformats.org/drawingml/2006/main">
            <a:off x="609600" y="6419850"/>
            <a:ext cx="457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A9B5A5"/>
                </a:solidFill>
                <a:latin typeface="Arial"/>
                <a:ea typeface="Arial"/>
                <a:cs typeface="Arial"/>
              </a:defRPr>
            </a:pPr>
            <a:r>
              <a:rPr sz="825" b="1">
                <a:solidFill>
                  <a:srgbClr val="A9B5A5"/>
                </a:solidFill>
                <a:latin typeface="Arial"/>
                <a:ea typeface="Arial"/>
                <a:cs typeface="Arial"/>
              </a:rPr>
              <a:t>GRIDWATCH / U1</a:t>
            </a:r>
          </a:p>
        </p:txBody>
      </p:sp>
      <p:sp>
        <p:nvSpPr>
          <p:cNvPr id="5" name="">
            <a:extLst xmlns:a="http://schemas.openxmlformats.org/drawingml/2006/main">
              <a:ext uri="{FF2B5EF4-FFF2-40B4-BE49-F238E27FC236}">
                <a16:creationId xmlns:a16="http://schemas.microsoft.com/office/drawing/2014/main" id="{81B3B837-DAAB-47B9-A8E6-39192D23D3FE}"/>
              </a:ext>
            </a:extLst>
          </p:cNvPr>
          <p:cNvSpPr>
            <a:spLocks xmlns:a="http://schemas.openxmlformats.org/drawingml/2006/main" noGrp="1"/>
          </p:cNvSpPr>
          <p:nvPr/>
        </p:nvSpPr>
        <p:spPr>
          <a:xfrm xmlns:a="http://schemas.openxmlformats.org/drawingml/2006/main">
            <a:off x="11239500" y="6419850"/>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02</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bef1fa5a78544bc"/>
          <a:srcRect xmlns:a="http://schemas.openxmlformats.org/drawingml/2006/main" l="4545" t="0" r="4545" b="0"/>
          <a:stretch xmlns:a="http://schemas.openxmlformats.org/drawingml/2006/main">
            <a:fillRect l="0" t="0" r="0" b="0"/>
          </a:stretch>
        </p:blipFill>
        <p:spPr>
          <a:xfrm xmlns:a="http://schemas.openxmlformats.org/drawingml/2006/main">
            <a:off x="609600" y="2047875"/>
            <a:ext cx="4286250" cy="3143250"/>
          </a:xfrm>
          <a:prstGeom xmlns:a="http://schemas.openxmlformats.org/drawingml/2006/main" prst="roundRect">
            <a:avLst>
              <a:gd name="adj" fmla="val 3636"/>
            </a:avLst>
          </a:prstGeom>
        </p:spPr>
      </p:pic>
      <p:sp>
        <p:nvSpPr>
          <p:cNvPr id="7" name="">
            <a:extLst xmlns:a="http://schemas.openxmlformats.org/drawingml/2006/main">
              <a:ext uri="{FF2B5EF4-FFF2-40B4-BE49-F238E27FC236}">
                <a16:creationId xmlns:a16="http://schemas.microsoft.com/office/drawing/2014/main" id="{0C301A9A-21E1-408C-95D7-7032C74D1DD3}"/>
              </a:ext>
            </a:extLst>
          </p:cNvPr>
          <p:cNvSpPr>
            <a:spLocks xmlns:a="http://schemas.openxmlformats.org/drawingml/2006/main" noGrp="1"/>
          </p:cNvSpPr>
          <p:nvPr/>
        </p:nvSpPr>
        <p:spPr>
          <a:xfrm xmlns:a="http://schemas.openxmlformats.org/drawingml/2006/main">
            <a:off x="5381625" y="2038350"/>
            <a:ext cx="6191250" cy="3162300"/>
          </a:xfrm>
          <a:prstGeom xmlns:a="http://schemas.openxmlformats.org/drawingml/2006/main" prst="roundRect">
            <a:avLst>
              <a:gd name="adj" fmla="val 3614"/>
            </a:avLst>
          </a:prstGeom>
          <a:solidFill xmlns:a="http://schemas.openxmlformats.org/drawingml/2006/main">
            <a:srgbClr val="1E2820"/>
          </a:solidFill>
          <a:ln xmlns:a="http://schemas.openxmlformats.org/drawingml/2006/main" w="9525">
            <a:solidFill>
              <a:srgbClr val="445242"/>
            </a:solidFill>
          </a:ln>
        </p:spPr>
      </p:sp>
      <p:sp>
        <p:nvSpPr>
          <p:cNvPr id="8" name="">
            <a:extLst xmlns:a="http://schemas.openxmlformats.org/drawingml/2006/main">
              <a:ext uri="{FF2B5EF4-FFF2-40B4-BE49-F238E27FC236}">
                <a16:creationId xmlns:a16="http://schemas.microsoft.com/office/drawing/2014/main" id="{C2ED3103-C4D7-4EEA-B37D-BECA05D6AD68}"/>
              </a:ext>
            </a:extLst>
          </p:cNvPr>
          <p:cNvSpPr>
            <a:spLocks xmlns:a="http://schemas.openxmlformats.org/drawingml/2006/main" noGrp="1"/>
          </p:cNvSpPr>
          <p:nvPr/>
        </p:nvSpPr>
        <p:spPr>
          <a:xfrm xmlns:a="http://schemas.openxmlformats.org/drawingml/2006/main">
            <a:off x="5715000" y="2352675"/>
            <a:ext cx="2095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U1 / THE CHALLENGE</a:t>
            </a:r>
          </a:p>
        </p:txBody>
      </p:sp>
      <p:sp>
        <p:nvSpPr>
          <p:cNvPr id="9" name="">
            <a:extLst xmlns:a="http://schemas.openxmlformats.org/drawingml/2006/main">
              <a:ext uri="{FF2B5EF4-FFF2-40B4-BE49-F238E27FC236}">
                <a16:creationId xmlns:a16="http://schemas.microsoft.com/office/drawing/2014/main" id="{450F854C-658D-47A2-84C9-1AF517D43540}"/>
              </a:ext>
            </a:extLst>
          </p:cNvPr>
          <p:cNvSpPr>
            <a:spLocks xmlns:a="http://schemas.openxmlformats.org/drawingml/2006/main" noGrp="1"/>
          </p:cNvSpPr>
          <p:nvPr/>
        </p:nvSpPr>
        <p:spPr>
          <a:xfrm xmlns:a="http://schemas.openxmlformats.org/drawingml/2006/main">
            <a:off x="5715000" y="272415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3F6EF"/>
                </a:solidFill>
                <a:latin typeface="Arial"/>
                <a:ea typeface="Arial"/>
                <a:cs typeface="Arial"/>
              </a:defRPr>
            </a:pPr>
            <a:r>
              <a:rPr sz="1875" b="1">
                <a:solidFill>
                  <a:srgbClr val="F3F6EF"/>
                </a:solidFill>
                <a:latin typeface="Arial"/>
                <a:ea typeface="Arial"/>
                <a:cs typeface="Arial"/>
              </a:rPr>
              <a:t>Operators need one view of:</a:t>
            </a:r>
          </a:p>
        </p:txBody>
      </p:sp>
      <p:sp>
        <p:nvSpPr>
          <p:cNvPr id="10" name="">
            <a:extLst xmlns:a="http://schemas.openxmlformats.org/drawingml/2006/main">
              <a:ext uri="{FF2B5EF4-FFF2-40B4-BE49-F238E27FC236}">
                <a16:creationId xmlns:a16="http://schemas.microsoft.com/office/drawing/2014/main" id="{CF2155C5-4EAF-453C-8D5C-B15A787D87D5}"/>
              </a:ext>
            </a:extLst>
          </p:cNvPr>
          <p:cNvSpPr>
            <a:spLocks xmlns:a="http://schemas.openxmlformats.org/drawingml/2006/main" noGrp="1"/>
          </p:cNvSpPr>
          <p:nvPr/>
        </p:nvSpPr>
        <p:spPr>
          <a:xfrm xmlns:a="http://schemas.openxmlformats.org/drawingml/2006/main">
            <a:off x="5734050" y="3324225"/>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01</a:t>
            </a:r>
          </a:p>
        </p:txBody>
      </p:sp>
      <p:sp>
        <p:nvSpPr>
          <p:cNvPr id="11" name="">
            <a:extLst xmlns:a="http://schemas.openxmlformats.org/drawingml/2006/main">
              <a:ext uri="{FF2B5EF4-FFF2-40B4-BE49-F238E27FC236}">
                <a16:creationId xmlns:a16="http://schemas.microsoft.com/office/drawing/2014/main" id="{FBEFDB27-36A7-46E1-B299-BF238A2EA827}"/>
              </a:ext>
            </a:extLst>
          </p:cNvPr>
          <p:cNvSpPr>
            <a:spLocks xmlns:a="http://schemas.openxmlformats.org/drawingml/2006/main" noGrp="1"/>
          </p:cNvSpPr>
          <p:nvPr/>
        </p:nvSpPr>
        <p:spPr>
          <a:xfrm xmlns:a="http://schemas.openxmlformats.org/drawingml/2006/main">
            <a:off x="6191250" y="3286125"/>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F3F6EF"/>
                </a:solidFill>
                <a:latin typeface="Arial"/>
                <a:ea typeface="Arial"/>
                <a:cs typeface="Arial"/>
              </a:defRPr>
            </a:pPr>
            <a:r>
              <a:rPr sz="1200" b="0">
                <a:solidFill>
                  <a:srgbClr val="F3F6EF"/>
                </a:solidFill>
                <a:latin typeface="Arial"/>
                <a:ea typeface="Arial"/>
                <a:cs typeface="Arial"/>
              </a:rPr>
              <a:t>Equipment condition: temperature, vibration, partial discharge and oil quality</a:t>
            </a:r>
          </a:p>
        </p:txBody>
      </p:sp>
      <p:sp>
        <p:nvSpPr>
          <p:cNvPr id="12" name="">
            <a:extLst xmlns:a="http://schemas.openxmlformats.org/drawingml/2006/main">
              <a:ext uri="{FF2B5EF4-FFF2-40B4-BE49-F238E27FC236}">
                <a16:creationId xmlns:a16="http://schemas.microsoft.com/office/drawing/2014/main" id="{FEF8C4CB-6AAE-46AC-BEAE-8F02D7CE816E}"/>
              </a:ext>
            </a:extLst>
          </p:cNvPr>
          <p:cNvSpPr>
            <a:spLocks xmlns:a="http://schemas.openxmlformats.org/drawingml/2006/main" noGrp="1"/>
          </p:cNvSpPr>
          <p:nvPr/>
        </p:nvSpPr>
        <p:spPr>
          <a:xfrm xmlns:a="http://schemas.openxmlformats.org/drawingml/2006/main">
            <a:off x="5734050" y="37338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E6291673-F89E-49D3-A2C6-8116F29B2305}"/>
              </a:ext>
            </a:extLst>
          </p:cNvPr>
          <p:cNvSpPr>
            <a:spLocks xmlns:a="http://schemas.openxmlformats.org/drawingml/2006/main" noGrp="1"/>
          </p:cNvSpPr>
          <p:nvPr/>
        </p:nvSpPr>
        <p:spPr>
          <a:xfrm xmlns:a="http://schemas.openxmlformats.org/drawingml/2006/main">
            <a:off x="6191250" y="369570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F3F6EF"/>
                </a:solidFill>
                <a:latin typeface="Arial"/>
                <a:ea typeface="Arial"/>
                <a:cs typeface="Arial"/>
              </a:defRPr>
            </a:pPr>
            <a:r>
              <a:rPr sz="1200" b="0">
                <a:solidFill>
                  <a:srgbClr val="F3F6EF"/>
                </a:solidFill>
                <a:latin typeface="Arial"/>
                <a:ea typeface="Arial"/>
                <a:cs typeface="Arial"/>
              </a:rPr>
              <a:t>Weather exposure: wind and rainfall can change near-term risk</a:t>
            </a:r>
          </a:p>
        </p:txBody>
      </p:sp>
      <p:sp>
        <p:nvSpPr>
          <p:cNvPr id="14" name="">
            <a:extLst xmlns:a="http://schemas.openxmlformats.org/drawingml/2006/main">
              <a:ext uri="{FF2B5EF4-FFF2-40B4-BE49-F238E27FC236}">
                <a16:creationId xmlns:a16="http://schemas.microsoft.com/office/drawing/2014/main" id="{AA1DF8C5-3EE6-4DEA-9AD1-D4B5268B327A}"/>
              </a:ext>
            </a:extLst>
          </p:cNvPr>
          <p:cNvSpPr>
            <a:spLocks xmlns:a="http://schemas.openxmlformats.org/drawingml/2006/main" noGrp="1"/>
          </p:cNvSpPr>
          <p:nvPr/>
        </p:nvSpPr>
        <p:spPr>
          <a:xfrm xmlns:a="http://schemas.openxmlformats.org/drawingml/2006/main">
            <a:off x="5734050" y="4143375"/>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B8EE0EC7-51DC-4283-85CC-7224F204E07A}"/>
              </a:ext>
            </a:extLst>
          </p:cNvPr>
          <p:cNvSpPr>
            <a:spLocks xmlns:a="http://schemas.openxmlformats.org/drawingml/2006/main" noGrp="1"/>
          </p:cNvSpPr>
          <p:nvPr/>
        </p:nvSpPr>
        <p:spPr>
          <a:xfrm xmlns:a="http://schemas.openxmlformats.org/drawingml/2006/main">
            <a:off x="6191250" y="4105275"/>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F3F6EF"/>
                </a:solidFill>
                <a:latin typeface="Arial"/>
                <a:ea typeface="Arial"/>
                <a:cs typeface="Arial"/>
              </a:defRPr>
            </a:pPr>
            <a:r>
              <a:rPr sz="1200" b="0">
                <a:solidFill>
                  <a:srgbClr val="F3F6EF"/>
                </a:solidFill>
                <a:latin typeface="Arial"/>
                <a:ea typeface="Arial"/>
                <a:cs typeface="Arial"/>
              </a:rPr>
              <a:t>Grid impact: customers, critical sites and backup coverage</a:t>
            </a:r>
          </a:p>
        </p:txBody>
      </p:sp>
      <p:sp>
        <p:nvSpPr>
          <p:cNvPr id="16" name="">
            <a:extLst xmlns:a="http://schemas.openxmlformats.org/drawingml/2006/main">
              <a:ext uri="{FF2B5EF4-FFF2-40B4-BE49-F238E27FC236}">
                <a16:creationId xmlns:a16="http://schemas.microsoft.com/office/drawing/2014/main" id="{4B81F7D7-9343-423D-8F40-F42F407D952D}"/>
              </a:ext>
            </a:extLst>
          </p:cNvPr>
          <p:cNvSpPr>
            <a:spLocks xmlns:a="http://schemas.openxmlformats.org/drawingml/2006/main" noGrp="1"/>
          </p:cNvSpPr>
          <p:nvPr/>
        </p:nvSpPr>
        <p:spPr>
          <a:xfrm xmlns:a="http://schemas.openxmlformats.org/drawingml/2006/main">
            <a:off x="5734050" y="455295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04</a:t>
            </a:r>
          </a:p>
        </p:txBody>
      </p:sp>
      <p:sp>
        <p:nvSpPr>
          <p:cNvPr id="17" name="">
            <a:extLst xmlns:a="http://schemas.openxmlformats.org/drawingml/2006/main">
              <a:ext uri="{FF2B5EF4-FFF2-40B4-BE49-F238E27FC236}">
                <a16:creationId xmlns:a16="http://schemas.microsoft.com/office/drawing/2014/main" id="{C09D6063-9D91-4D8B-A00A-0EED0A33D832}"/>
              </a:ext>
            </a:extLst>
          </p:cNvPr>
          <p:cNvSpPr>
            <a:spLocks xmlns:a="http://schemas.openxmlformats.org/drawingml/2006/main" noGrp="1"/>
          </p:cNvSpPr>
          <p:nvPr/>
        </p:nvSpPr>
        <p:spPr>
          <a:xfrm xmlns:a="http://schemas.openxmlformats.org/drawingml/2006/main">
            <a:off x="6191250" y="451485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F3F6EF"/>
                </a:solidFill>
                <a:latin typeface="Arial"/>
                <a:ea typeface="Arial"/>
                <a:cs typeface="Arial"/>
              </a:defRPr>
            </a:pPr>
            <a:r>
              <a:rPr sz="1200" b="0">
                <a:solidFill>
                  <a:srgbClr val="F3F6EF"/>
                </a:solidFill>
                <a:latin typeface="Arial"/>
                <a:ea typeface="Arial"/>
                <a:cs typeface="Arial"/>
              </a:rPr>
              <a:t>Response capacity: crew skills, shift hours and staging</a:t>
            </a:r>
          </a:p>
        </p:txBody>
      </p:sp>
    </p:spTree>
    <p:extLst>
      <p:ext uri="{BB962C8B-B14F-4D97-AF65-F5344CB8AC3E}">
        <p14:creationId xmlns:p14="http://schemas.microsoft.com/office/powerpoint/2010/main" val="1994781207"/>
      </p:ext>
    </p:extLst>
  </p:cSld>
</p:sld>
</file>

<file path=ppt/slides/slide3.xml><?xml version="1.0" encoding="utf-8"?>
<p:sld xmlns:p="http://schemas.openxmlformats.org/presentationml/2006/main">
  <p:cSld>
    <p:bg>
      <p:bgPr>
        <a:solidFill xmlns:a="http://schemas.openxmlformats.org/drawingml/2006/main">
          <a:srgbClr val="111713"/>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664F401-E82E-4E98-B1AF-58F001431432}"/>
              </a:ext>
            </a:extLst>
          </p:cNvPr>
          <p:cNvSpPr>
            <a:spLocks xmlns:a="http://schemas.openxmlformats.org/drawingml/2006/main" noGrp="1"/>
          </p:cNvSpPr>
          <p:nvPr/>
        </p:nvSpPr>
        <p:spPr>
          <a:xfrm xmlns:a="http://schemas.openxmlformats.org/drawingml/2006/main">
            <a:off x="609600" y="3619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IBM BOBATHON 2026</a:t>
            </a:r>
          </a:p>
        </p:txBody>
      </p:sp>
      <p:sp>
        <p:nvSpPr>
          <p:cNvPr id="2" name="">
            <a:extLst xmlns:a="http://schemas.openxmlformats.org/drawingml/2006/main">
              <a:ext uri="{FF2B5EF4-FFF2-40B4-BE49-F238E27FC236}">
                <a16:creationId xmlns:a16="http://schemas.microsoft.com/office/drawing/2014/main" id="{B5E944BE-2A56-4B33-9351-9BDCDB104981}"/>
              </a:ext>
            </a:extLst>
          </p:cNvPr>
          <p:cNvSpPr>
            <a:spLocks xmlns:a="http://schemas.openxmlformats.org/drawingml/2006/main" noGrp="1"/>
          </p:cNvSpPr>
          <p:nvPr/>
        </p:nvSpPr>
        <p:spPr>
          <a:xfrm xmlns:a="http://schemas.openxmlformats.org/drawingml/2006/main">
            <a:off x="609600" y="7048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3F6EF"/>
                </a:solidFill>
                <a:latin typeface="Arial"/>
                <a:ea typeface="Arial"/>
                <a:cs typeface="Arial"/>
              </a:defRPr>
            </a:pPr>
            <a:r>
              <a:rPr sz="3150" b="1">
                <a:solidFill>
                  <a:srgbClr val="F3F6EF"/>
                </a:solidFill>
                <a:latin typeface="Arial"/>
                <a:ea typeface="Arial"/>
                <a:cs typeface="Arial"/>
              </a:rPr>
              <a:t>A decision surface for the next 24 hours</a:t>
            </a:r>
          </a:p>
        </p:txBody>
      </p:sp>
      <p:sp>
        <p:nvSpPr>
          <p:cNvPr id="3" name="">
            <a:extLst xmlns:a="http://schemas.openxmlformats.org/drawingml/2006/main">
              <a:ext uri="{FF2B5EF4-FFF2-40B4-BE49-F238E27FC236}">
                <a16:creationId xmlns:a16="http://schemas.microsoft.com/office/drawing/2014/main" id="{5AD1F2EE-D5C6-4184-85F1-1018D21709BA}"/>
              </a:ext>
            </a:extLst>
          </p:cNvPr>
          <p:cNvSpPr>
            <a:spLocks xmlns:a="http://schemas.openxmlformats.org/drawingml/2006/main" noGrp="1"/>
          </p:cNvSpPr>
          <p:nvPr/>
        </p:nvSpPr>
        <p:spPr>
          <a:xfrm xmlns:a="http://schemas.openxmlformats.org/drawingml/2006/main">
            <a:off x="628650" y="134302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B5A5"/>
                </a:solidFill>
                <a:latin typeface="Arial"/>
                <a:ea typeface="Arial"/>
                <a:cs typeface="Arial"/>
              </a:defRPr>
            </a:pPr>
            <a:r>
              <a:rPr sz="1200" b="0">
                <a:solidFill>
                  <a:srgbClr val="A9B5A5"/>
                </a:solidFill>
                <a:latin typeface="Arial"/>
                <a:ea typeface="Arial"/>
                <a:cs typeface="Arial"/>
              </a:rPr>
              <a:t>GridWatch turns risk signals into a reviewable plan.</a:t>
            </a:r>
          </a:p>
        </p:txBody>
      </p:sp>
      <p:sp>
        <p:nvSpPr>
          <p:cNvPr id="4" name="">
            <a:extLst xmlns:a="http://schemas.openxmlformats.org/drawingml/2006/main">
              <a:ext uri="{FF2B5EF4-FFF2-40B4-BE49-F238E27FC236}">
                <a16:creationId xmlns:a16="http://schemas.microsoft.com/office/drawing/2014/main" id="{D9CB829E-F9DD-475B-9077-1D3BA4FE464B}"/>
              </a:ext>
            </a:extLst>
          </p:cNvPr>
          <p:cNvSpPr>
            <a:spLocks xmlns:a="http://schemas.openxmlformats.org/drawingml/2006/main" noGrp="1"/>
          </p:cNvSpPr>
          <p:nvPr/>
        </p:nvSpPr>
        <p:spPr>
          <a:xfrm xmlns:a="http://schemas.openxmlformats.org/drawingml/2006/main">
            <a:off x="609600" y="6419850"/>
            <a:ext cx="457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A9B5A5"/>
                </a:solidFill>
                <a:latin typeface="Arial"/>
                <a:ea typeface="Arial"/>
                <a:cs typeface="Arial"/>
              </a:defRPr>
            </a:pPr>
            <a:r>
              <a:rPr sz="825" b="1">
                <a:solidFill>
                  <a:srgbClr val="A9B5A5"/>
                </a:solidFill>
                <a:latin typeface="Arial"/>
                <a:ea typeface="Arial"/>
                <a:cs typeface="Arial"/>
              </a:rPr>
              <a:t>GRIDWATCH / U1</a:t>
            </a:r>
          </a:p>
        </p:txBody>
      </p:sp>
      <p:sp>
        <p:nvSpPr>
          <p:cNvPr id="5" name="">
            <a:extLst xmlns:a="http://schemas.openxmlformats.org/drawingml/2006/main">
              <a:ext uri="{FF2B5EF4-FFF2-40B4-BE49-F238E27FC236}">
                <a16:creationId xmlns:a16="http://schemas.microsoft.com/office/drawing/2014/main" id="{965D8DC1-D5D3-4EB1-8D09-A0EAEAB9C9AC}"/>
              </a:ext>
            </a:extLst>
          </p:cNvPr>
          <p:cNvSpPr>
            <a:spLocks xmlns:a="http://schemas.openxmlformats.org/drawingml/2006/main" noGrp="1"/>
          </p:cNvSpPr>
          <p:nvPr/>
        </p:nvSpPr>
        <p:spPr>
          <a:xfrm xmlns:a="http://schemas.openxmlformats.org/drawingml/2006/main">
            <a:off x="11239500" y="6419850"/>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03</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df0c9f69775649cf"/>
          <a:srcRect xmlns:a="http://schemas.openxmlformats.org/drawingml/2006/main" l="0" t="47" r="0" b="47"/>
          <a:stretch xmlns:a="http://schemas.openxmlformats.org/drawingml/2006/main">
            <a:fillRect l="0" t="0" r="0" b="0"/>
          </a:stretch>
        </p:blipFill>
        <p:spPr>
          <a:xfrm xmlns:a="http://schemas.openxmlformats.org/drawingml/2006/main">
            <a:off x="609600" y="2047875"/>
            <a:ext cx="6572250" cy="3695700"/>
          </a:xfrm>
          <a:prstGeom xmlns:a="http://schemas.openxmlformats.org/drawingml/2006/main" prst="roundRect">
            <a:avLst>
              <a:gd name="adj" fmla="val 3093"/>
            </a:avLst>
          </a:prstGeom>
        </p:spPr>
      </p:pic>
      <p:sp>
        <p:nvSpPr>
          <p:cNvPr id="7" name="">
            <a:extLst xmlns:a="http://schemas.openxmlformats.org/drawingml/2006/main">
              <a:ext uri="{FF2B5EF4-FFF2-40B4-BE49-F238E27FC236}">
                <a16:creationId xmlns:a16="http://schemas.microsoft.com/office/drawing/2014/main" id="{5E0D6496-D8DB-4834-8541-2763E23FC517}"/>
              </a:ext>
            </a:extLst>
          </p:cNvPr>
          <p:cNvSpPr>
            <a:spLocks xmlns:a="http://schemas.openxmlformats.org/drawingml/2006/main" noGrp="1"/>
          </p:cNvSpPr>
          <p:nvPr/>
        </p:nvSpPr>
        <p:spPr>
          <a:xfrm xmlns:a="http://schemas.openxmlformats.org/drawingml/2006/main">
            <a:off x="7810500" y="2095500"/>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INPUTS</a:t>
            </a:r>
          </a:p>
        </p:txBody>
      </p:sp>
      <p:sp>
        <p:nvSpPr>
          <p:cNvPr id="8" name="">
            <a:extLst xmlns:a="http://schemas.openxmlformats.org/drawingml/2006/main">
              <a:ext uri="{FF2B5EF4-FFF2-40B4-BE49-F238E27FC236}">
                <a16:creationId xmlns:a16="http://schemas.microsoft.com/office/drawing/2014/main" id="{758B44ED-CD60-4739-8476-CBC5748E58C3}"/>
              </a:ext>
            </a:extLst>
          </p:cNvPr>
          <p:cNvSpPr>
            <a:spLocks xmlns:a="http://schemas.openxmlformats.org/drawingml/2006/main" noGrp="1"/>
          </p:cNvSpPr>
          <p:nvPr/>
        </p:nvSpPr>
        <p:spPr>
          <a:xfrm xmlns:a="http://schemas.openxmlformats.org/drawingml/2006/main">
            <a:off x="7791450" y="2381250"/>
            <a:ext cx="3238500" cy="552450"/>
          </a:xfrm>
          <a:prstGeom xmlns:a="http://schemas.openxmlformats.org/drawingml/2006/main" prst="roundRect">
            <a:avLst>
              <a:gd name="adj" fmla="val 20690"/>
            </a:avLst>
          </a:prstGeom>
          <a:solidFill xmlns:a="http://schemas.openxmlformats.org/drawingml/2006/main">
            <a:srgbClr val="1E2820"/>
          </a:solidFill>
          <a:ln xmlns:a="http://schemas.openxmlformats.org/drawingml/2006/main" w="9525">
            <a:solidFill>
              <a:srgbClr val="445242"/>
            </a:solidFill>
          </a:ln>
        </p:spPr>
      </p:sp>
      <p:sp>
        <p:nvSpPr>
          <p:cNvPr id="9" name="">
            <a:extLst xmlns:a="http://schemas.openxmlformats.org/drawingml/2006/main">
              <a:ext uri="{FF2B5EF4-FFF2-40B4-BE49-F238E27FC236}">
                <a16:creationId xmlns:a16="http://schemas.microsoft.com/office/drawing/2014/main" id="{5AE9DD77-E530-4998-AD49-226BB5D31099}"/>
              </a:ext>
            </a:extLst>
          </p:cNvPr>
          <p:cNvSpPr>
            <a:spLocks xmlns:a="http://schemas.openxmlformats.org/drawingml/2006/main" noGrp="1"/>
          </p:cNvSpPr>
          <p:nvPr/>
        </p:nvSpPr>
        <p:spPr>
          <a:xfrm xmlns:a="http://schemas.openxmlformats.org/drawingml/2006/main">
            <a:off x="8001000" y="2505075"/>
            <a:ext cx="152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F3F6EF"/>
                </a:solidFill>
                <a:latin typeface="Arial"/>
                <a:ea typeface="Arial"/>
                <a:cs typeface="Arial"/>
              </a:defRPr>
            </a:pPr>
            <a:r>
              <a:rPr sz="1125" b="1">
                <a:solidFill>
                  <a:srgbClr val="F3F6EF"/>
                </a:solidFill>
                <a:latin typeface="Arial"/>
                <a:ea typeface="Arial"/>
                <a:cs typeface="Arial"/>
              </a:rPr>
              <a:t>Weather scenario</a:t>
            </a:r>
          </a:p>
        </p:txBody>
      </p:sp>
      <p:sp>
        <p:nvSpPr>
          <p:cNvPr id="10" name="">
            <a:extLst xmlns:a="http://schemas.openxmlformats.org/drawingml/2006/main">
              <a:ext uri="{FF2B5EF4-FFF2-40B4-BE49-F238E27FC236}">
                <a16:creationId xmlns:a16="http://schemas.microsoft.com/office/drawing/2014/main" id="{A06B7886-6EC2-4BD1-92ED-E454B2309B6B}"/>
              </a:ext>
            </a:extLst>
          </p:cNvPr>
          <p:cNvSpPr>
            <a:spLocks xmlns:a="http://schemas.openxmlformats.org/drawingml/2006/main" noGrp="1"/>
          </p:cNvSpPr>
          <p:nvPr/>
        </p:nvSpPr>
        <p:spPr>
          <a:xfrm xmlns:a="http://schemas.openxmlformats.org/drawingml/2006/main">
            <a:off x="8001000" y="2733675"/>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A9B5A5"/>
                </a:solidFill>
                <a:latin typeface="Arial"/>
                <a:ea typeface="Arial"/>
                <a:cs typeface="Arial"/>
              </a:defRPr>
            </a:pPr>
            <a:r>
              <a:rPr sz="900" b="0">
                <a:solidFill>
                  <a:srgbClr val="A9B5A5"/>
                </a:solidFill>
                <a:latin typeface="Arial"/>
                <a:ea typeface="Arial"/>
                <a:cs typeface="Arial"/>
              </a:rPr>
              <a:t>Wind + rainfall</a:t>
            </a:r>
          </a:p>
        </p:txBody>
      </p:sp>
      <p:sp>
        <p:nvSpPr>
          <p:cNvPr id="11" name="">
            <a:extLst xmlns:a="http://schemas.openxmlformats.org/drawingml/2006/main">
              <a:ext uri="{FF2B5EF4-FFF2-40B4-BE49-F238E27FC236}">
                <a16:creationId xmlns:a16="http://schemas.microsoft.com/office/drawing/2014/main" id="{C076B8E4-515F-4B8D-9463-9B969E8DAA30}"/>
              </a:ext>
            </a:extLst>
          </p:cNvPr>
          <p:cNvSpPr>
            <a:spLocks xmlns:a="http://schemas.openxmlformats.org/drawingml/2006/main" noGrp="1"/>
          </p:cNvSpPr>
          <p:nvPr/>
        </p:nvSpPr>
        <p:spPr>
          <a:xfrm xmlns:a="http://schemas.openxmlformats.org/drawingml/2006/main">
            <a:off x="7791450" y="3143250"/>
            <a:ext cx="3238500" cy="552450"/>
          </a:xfrm>
          <a:prstGeom xmlns:a="http://schemas.openxmlformats.org/drawingml/2006/main" prst="roundRect">
            <a:avLst>
              <a:gd name="adj" fmla="val 20690"/>
            </a:avLst>
          </a:prstGeom>
          <a:solidFill xmlns:a="http://schemas.openxmlformats.org/drawingml/2006/main">
            <a:srgbClr val="1E2820"/>
          </a:solidFill>
          <a:ln xmlns:a="http://schemas.openxmlformats.org/drawingml/2006/main" w="9525">
            <a:solidFill>
              <a:srgbClr val="445242"/>
            </a:solidFill>
          </a:ln>
        </p:spPr>
      </p:sp>
      <p:sp>
        <p:nvSpPr>
          <p:cNvPr id="12" name="">
            <a:extLst xmlns:a="http://schemas.openxmlformats.org/drawingml/2006/main">
              <a:ext uri="{FF2B5EF4-FFF2-40B4-BE49-F238E27FC236}">
                <a16:creationId xmlns:a16="http://schemas.microsoft.com/office/drawing/2014/main" id="{7F161A81-6066-4B0C-AF01-BF36F4F1ED96}"/>
              </a:ext>
            </a:extLst>
          </p:cNvPr>
          <p:cNvSpPr>
            <a:spLocks xmlns:a="http://schemas.openxmlformats.org/drawingml/2006/main" noGrp="1"/>
          </p:cNvSpPr>
          <p:nvPr/>
        </p:nvSpPr>
        <p:spPr>
          <a:xfrm xmlns:a="http://schemas.openxmlformats.org/drawingml/2006/main">
            <a:off x="8001000" y="3267075"/>
            <a:ext cx="152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F3F6EF"/>
                </a:solidFill>
                <a:latin typeface="Arial"/>
                <a:ea typeface="Arial"/>
                <a:cs typeface="Arial"/>
              </a:defRPr>
            </a:pPr>
            <a:r>
              <a:rPr sz="1125" b="1">
                <a:solidFill>
                  <a:srgbClr val="F3F6EF"/>
                </a:solidFill>
                <a:latin typeface="Arial"/>
                <a:ea typeface="Arial"/>
                <a:cs typeface="Arial"/>
              </a:rPr>
              <a:t>Asset signals</a:t>
            </a:r>
          </a:p>
        </p:txBody>
      </p:sp>
      <p:sp>
        <p:nvSpPr>
          <p:cNvPr id="13" name="">
            <a:extLst xmlns:a="http://schemas.openxmlformats.org/drawingml/2006/main">
              <a:ext uri="{FF2B5EF4-FFF2-40B4-BE49-F238E27FC236}">
                <a16:creationId xmlns:a16="http://schemas.microsoft.com/office/drawing/2014/main" id="{067F4449-133B-4F8C-B982-6068A3163F4A}"/>
              </a:ext>
            </a:extLst>
          </p:cNvPr>
          <p:cNvSpPr>
            <a:spLocks xmlns:a="http://schemas.openxmlformats.org/drawingml/2006/main" noGrp="1"/>
          </p:cNvSpPr>
          <p:nvPr/>
        </p:nvSpPr>
        <p:spPr>
          <a:xfrm xmlns:a="http://schemas.openxmlformats.org/drawingml/2006/main">
            <a:off x="8001000" y="3495675"/>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A9B5A5"/>
                </a:solidFill>
                <a:latin typeface="Arial"/>
                <a:ea typeface="Arial"/>
                <a:cs typeface="Arial"/>
              </a:defRPr>
            </a:pPr>
            <a:r>
              <a:rPr sz="900" b="0">
                <a:solidFill>
                  <a:srgbClr val="A9B5A5"/>
                </a:solidFill>
                <a:latin typeface="Arial"/>
                <a:ea typeface="Arial"/>
                <a:cs typeface="Arial"/>
              </a:rPr>
              <a:t>Sensor snapshot</a:t>
            </a:r>
          </a:p>
        </p:txBody>
      </p:sp>
      <p:sp>
        <p:nvSpPr>
          <p:cNvPr id="14" name="">
            <a:extLst xmlns:a="http://schemas.openxmlformats.org/drawingml/2006/main">
              <a:ext uri="{FF2B5EF4-FFF2-40B4-BE49-F238E27FC236}">
                <a16:creationId xmlns:a16="http://schemas.microsoft.com/office/drawing/2014/main" id="{1EBF9CF5-7ADF-42BF-B879-9184E428BBCA}"/>
              </a:ext>
            </a:extLst>
          </p:cNvPr>
          <p:cNvSpPr>
            <a:spLocks xmlns:a="http://schemas.openxmlformats.org/drawingml/2006/main" noGrp="1"/>
          </p:cNvSpPr>
          <p:nvPr/>
        </p:nvSpPr>
        <p:spPr>
          <a:xfrm xmlns:a="http://schemas.openxmlformats.org/drawingml/2006/main">
            <a:off x="7791450" y="3905250"/>
            <a:ext cx="3238500" cy="552450"/>
          </a:xfrm>
          <a:prstGeom xmlns:a="http://schemas.openxmlformats.org/drawingml/2006/main" prst="roundRect">
            <a:avLst>
              <a:gd name="adj" fmla="val 20690"/>
            </a:avLst>
          </a:prstGeom>
          <a:solidFill xmlns:a="http://schemas.openxmlformats.org/drawingml/2006/main">
            <a:srgbClr val="1E2820"/>
          </a:solidFill>
          <a:ln xmlns:a="http://schemas.openxmlformats.org/drawingml/2006/main" w="9525">
            <a:solidFill>
              <a:srgbClr val="445242"/>
            </a:solidFill>
          </a:ln>
        </p:spPr>
      </p:sp>
      <p:sp>
        <p:nvSpPr>
          <p:cNvPr id="15" name="">
            <a:extLst xmlns:a="http://schemas.openxmlformats.org/drawingml/2006/main">
              <a:ext uri="{FF2B5EF4-FFF2-40B4-BE49-F238E27FC236}">
                <a16:creationId xmlns:a16="http://schemas.microsoft.com/office/drawing/2014/main" id="{491A3F31-FD79-4D0F-9A1B-79841C2B75EA}"/>
              </a:ext>
            </a:extLst>
          </p:cNvPr>
          <p:cNvSpPr>
            <a:spLocks xmlns:a="http://schemas.openxmlformats.org/drawingml/2006/main" noGrp="1"/>
          </p:cNvSpPr>
          <p:nvPr/>
        </p:nvSpPr>
        <p:spPr>
          <a:xfrm xmlns:a="http://schemas.openxmlformats.org/drawingml/2006/main">
            <a:off x="8001000" y="4029075"/>
            <a:ext cx="152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F3F6EF"/>
                </a:solidFill>
                <a:latin typeface="Arial"/>
                <a:ea typeface="Arial"/>
                <a:cs typeface="Arial"/>
              </a:defRPr>
            </a:pPr>
            <a:r>
              <a:rPr sz="1125" b="1">
                <a:solidFill>
                  <a:srgbClr val="F3F6EF"/>
                </a:solidFill>
                <a:latin typeface="Arial"/>
                <a:ea typeface="Arial"/>
                <a:cs typeface="Arial"/>
              </a:rPr>
              <a:t>Resources</a:t>
            </a:r>
          </a:p>
        </p:txBody>
      </p:sp>
      <p:sp>
        <p:nvSpPr>
          <p:cNvPr id="16" name="">
            <a:extLst xmlns:a="http://schemas.openxmlformats.org/drawingml/2006/main">
              <a:ext uri="{FF2B5EF4-FFF2-40B4-BE49-F238E27FC236}">
                <a16:creationId xmlns:a16="http://schemas.microsoft.com/office/drawing/2014/main" id="{305B6D8B-45C7-4ABA-9DCA-7B26D7414FAE}"/>
              </a:ext>
            </a:extLst>
          </p:cNvPr>
          <p:cNvSpPr>
            <a:spLocks xmlns:a="http://schemas.openxmlformats.org/drawingml/2006/main" noGrp="1"/>
          </p:cNvSpPr>
          <p:nvPr/>
        </p:nvSpPr>
        <p:spPr>
          <a:xfrm xmlns:a="http://schemas.openxmlformats.org/drawingml/2006/main">
            <a:off x="8001000" y="4257675"/>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A9B5A5"/>
                </a:solidFill>
                <a:latin typeface="Arial"/>
                <a:ea typeface="Arial"/>
                <a:cs typeface="Arial"/>
              </a:defRPr>
            </a:pPr>
            <a:r>
              <a:rPr sz="900" b="0">
                <a:solidFill>
                  <a:srgbClr val="A9B5A5"/>
                </a:solidFill>
                <a:latin typeface="Arial"/>
                <a:ea typeface="Arial"/>
                <a:cs typeface="Arial"/>
              </a:rPr>
              <a:t>Crew count + skills</a:t>
            </a:r>
          </a:p>
        </p:txBody>
      </p:sp>
      <p:sp>
        <p:nvSpPr>
          <p:cNvPr id="17" name="">
            <a:extLst xmlns:a="http://schemas.openxmlformats.org/drawingml/2006/main">
              <a:ext uri="{FF2B5EF4-FFF2-40B4-BE49-F238E27FC236}">
                <a16:creationId xmlns:a16="http://schemas.microsoft.com/office/drawing/2014/main" id="{D8E45628-C2F5-4C4F-8705-00278B1E47E1}"/>
              </a:ext>
            </a:extLst>
          </p:cNvPr>
          <p:cNvSpPr>
            <a:spLocks xmlns:a="http://schemas.openxmlformats.org/drawingml/2006/main" noGrp="1"/>
          </p:cNvSpPr>
          <p:nvPr/>
        </p:nvSpPr>
        <p:spPr>
          <a:xfrm xmlns:a="http://schemas.openxmlformats.org/drawingml/2006/main">
            <a:off x="9334500" y="47625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CDEB85"/>
                </a:solidFill>
                <a:latin typeface="Arial"/>
                <a:ea typeface="Arial"/>
                <a:cs typeface="Arial"/>
              </a:defRPr>
            </a:pPr>
            <a:r>
              <a:rPr sz="1650" b="1">
                <a:solidFill>
                  <a:srgbClr val="CDEB85"/>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04EAE43F-9459-46ED-912B-4E2CDBAA9013}"/>
              </a:ext>
            </a:extLst>
          </p:cNvPr>
          <p:cNvSpPr>
            <a:spLocks xmlns:a="http://schemas.openxmlformats.org/drawingml/2006/main" noGrp="1"/>
          </p:cNvSpPr>
          <p:nvPr/>
        </p:nvSpPr>
        <p:spPr>
          <a:xfrm xmlns:a="http://schemas.openxmlformats.org/drawingml/2006/main">
            <a:off x="7791450" y="5095875"/>
            <a:ext cx="3238500" cy="638175"/>
          </a:xfrm>
          <a:prstGeom xmlns:a="http://schemas.openxmlformats.org/drawingml/2006/main" prst="roundRect">
            <a:avLst>
              <a:gd name="adj" fmla="val 17910"/>
            </a:avLst>
          </a:prstGeom>
          <a:solidFill xmlns:a="http://schemas.openxmlformats.org/drawingml/2006/main">
            <a:srgbClr val="2C3826"/>
          </a:solidFill>
          <a:ln xmlns:a="http://schemas.openxmlformats.org/drawingml/2006/main" w="9525">
            <a:solidFill>
              <a:srgbClr val="5A7138"/>
            </a:solidFill>
          </a:ln>
        </p:spPr>
      </p:sp>
      <p:sp>
        <p:nvSpPr>
          <p:cNvPr id="19" name="">
            <a:extLst xmlns:a="http://schemas.openxmlformats.org/drawingml/2006/main">
              <a:ext uri="{FF2B5EF4-FFF2-40B4-BE49-F238E27FC236}">
                <a16:creationId xmlns:a16="http://schemas.microsoft.com/office/drawing/2014/main" id="{72719185-021D-4E9B-A997-707B4739B03A}"/>
              </a:ext>
            </a:extLst>
          </p:cNvPr>
          <p:cNvSpPr>
            <a:spLocks xmlns:a="http://schemas.openxmlformats.org/drawingml/2006/main" noGrp="1"/>
          </p:cNvSpPr>
          <p:nvPr/>
        </p:nvSpPr>
        <p:spPr>
          <a:xfrm xmlns:a="http://schemas.openxmlformats.org/drawingml/2006/main">
            <a:off x="8001000" y="5210175"/>
            <a:ext cx="95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8270273B-6739-4B27-A94B-170E3106CBD8}"/>
              </a:ext>
            </a:extLst>
          </p:cNvPr>
          <p:cNvSpPr>
            <a:spLocks xmlns:a="http://schemas.openxmlformats.org/drawingml/2006/main" noGrp="1"/>
          </p:cNvSpPr>
          <p:nvPr/>
        </p:nvSpPr>
        <p:spPr>
          <a:xfrm xmlns:a="http://schemas.openxmlformats.org/drawingml/2006/main">
            <a:off x="8001000" y="544830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F3F6EF"/>
                </a:solidFill>
                <a:latin typeface="Arial"/>
                <a:ea typeface="Arial"/>
                <a:cs typeface="Arial"/>
              </a:defRPr>
            </a:pPr>
            <a:r>
              <a:rPr sz="1200" b="1">
                <a:solidFill>
                  <a:srgbClr val="F3F6EF"/>
                </a:solidFill>
                <a:latin typeface="Arial"/>
                <a:ea typeface="Arial"/>
                <a:cs typeface="Arial"/>
              </a:rPr>
              <a:t>Risk, priorities &amp; crews</a:t>
            </a:r>
          </a:p>
        </p:txBody>
      </p:sp>
    </p:spTree>
    <p:extLst>
      <p:ext uri="{BB962C8B-B14F-4D97-AF65-F5344CB8AC3E}">
        <p14:creationId xmlns:p14="http://schemas.microsoft.com/office/powerpoint/2010/main" val="1875922016"/>
      </p:ext>
    </p:extLst>
  </p:cSld>
</p:sld>
</file>

<file path=ppt/slides/slide4.xml><?xml version="1.0" encoding="utf-8"?>
<p:sld xmlns:p="http://schemas.openxmlformats.org/presentationml/2006/main">
  <p:cSld>
    <p:bg>
      <p:bgPr>
        <a:solidFill xmlns:a="http://schemas.openxmlformats.org/drawingml/2006/main">
          <a:srgbClr val="111713"/>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4562BFD-DF0C-4375-A56B-0D7916BAEB07}"/>
              </a:ext>
            </a:extLst>
          </p:cNvPr>
          <p:cNvSpPr>
            <a:spLocks xmlns:a="http://schemas.openxmlformats.org/drawingml/2006/main" noGrp="1"/>
          </p:cNvSpPr>
          <p:nvPr/>
        </p:nvSpPr>
        <p:spPr>
          <a:xfrm xmlns:a="http://schemas.openxmlformats.org/drawingml/2006/main">
            <a:off x="609600" y="3619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IBM BOBATHON 2026</a:t>
            </a:r>
          </a:p>
        </p:txBody>
      </p:sp>
      <p:sp>
        <p:nvSpPr>
          <p:cNvPr id="2" name="">
            <a:extLst xmlns:a="http://schemas.openxmlformats.org/drawingml/2006/main">
              <a:ext uri="{FF2B5EF4-FFF2-40B4-BE49-F238E27FC236}">
                <a16:creationId xmlns:a16="http://schemas.microsoft.com/office/drawing/2014/main" id="{92ACCBEA-5D0B-47F7-B341-F588559367D2}"/>
              </a:ext>
            </a:extLst>
          </p:cNvPr>
          <p:cNvSpPr>
            <a:spLocks xmlns:a="http://schemas.openxmlformats.org/drawingml/2006/main" noGrp="1"/>
          </p:cNvSpPr>
          <p:nvPr/>
        </p:nvSpPr>
        <p:spPr>
          <a:xfrm xmlns:a="http://schemas.openxmlformats.org/drawingml/2006/main">
            <a:off x="609600" y="7048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3F6EF"/>
                </a:solidFill>
                <a:latin typeface="Arial"/>
                <a:ea typeface="Arial"/>
                <a:cs typeface="Arial"/>
              </a:defRPr>
            </a:pPr>
            <a:r>
              <a:rPr sz="3150" b="1">
                <a:solidFill>
                  <a:srgbClr val="F3F6EF"/>
                </a:solidFill>
                <a:latin typeface="Arial"/>
                <a:ea typeface="Arial"/>
                <a:cs typeface="Arial"/>
              </a:rPr>
              <a:t>Architecture</a:t>
            </a:r>
          </a:p>
        </p:txBody>
      </p:sp>
      <p:sp>
        <p:nvSpPr>
          <p:cNvPr id="3" name="">
            <a:extLst xmlns:a="http://schemas.openxmlformats.org/drawingml/2006/main">
              <a:ext uri="{FF2B5EF4-FFF2-40B4-BE49-F238E27FC236}">
                <a16:creationId xmlns:a16="http://schemas.microsoft.com/office/drawing/2014/main" id="{DD623645-75DB-41BE-AB5B-B262A67D83E1}"/>
              </a:ext>
            </a:extLst>
          </p:cNvPr>
          <p:cNvSpPr>
            <a:spLocks xmlns:a="http://schemas.openxmlformats.org/drawingml/2006/main" noGrp="1"/>
          </p:cNvSpPr>
          <p:nvPr/>
        </p:nvSpPr>
        <p:spPr>
          <a:xfrm xmlns:a="http://schemas.openxmlformats.org/drawingml/2006/main">
            <a:off x="628650" y="134302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B5A5"/>
                </a:solidFill>
                <a:latin typeface="Arial"/>
                <a:ea typeface="Arial"/>
                <a:cs typeface="Arial"/>
              </a:defRPr>
            </a:pPr>
            <a:r>
              <a:rPr sz="1200" b="0">
                <a:solidFill>
                  <a:srgbClr val="A9B5A5"/>
                </a:solidFill>
                <a:latin typeface="Arial"/>
                <a:ea typeface="Arial"/>
                <a:cs typeface="Arial"/>
              </a:rPr>
              <a:t>One Python engine, two interfaces, two evidence tracks.</a:t>
            </a:r>
          </a:p>
        </p:txBody>
      </p:sp>
      <p:sp>
        <p:nvSpPr>
          <p:cNvPr id="4" name="">
            <a:extLst xmlns:a="http://schemas.openxmlformats.org/drawingml/2006/main">
              <a:ext uri="{FF2B5EF4-FFF2-40B4-BE49-F238E27FC236}">
                <a16:creationId xmlns:a16="http://schemas.microsoft.com/office/drawing/2014/main" id="{5E3C7C9E-1D24-4C4C-82B7-37108C4F19B0}"/>
              </a:ext>
            </a:extLst>
          </p:cNvPr>
          <p:cNvSpPr>
            <a:spLocks xmlns:a="http://schemas.openxmlformats.org/drawingml/2006/main" noGrp="1"/>
          </p:cNvSpPr>
          <p:nvPr/>
        </p:nvSpPr>
        <p:spPr>
          <a:xfrm xmlns:a="http://schemas.openxmlformats.org/drawingml/2006/main">
            <a:off x="609600" y="6419850"/>
            <a:ext cx="457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A9B5A5"/>
                </a:solidFill>
                <a:latin typeface="Arial"/>
                <a:ea typeface="Arial"/>
                <a:cs typeface="Arial"/>
              </a:defRPr>
            </a:pPr>
            <a:r>
              <a:rPr sz="825" b="1">
                <a:solidFill>
                  <a:srgbClr val="A9B5A5"/>
                </a:solidFill>
                <a:latin typeface="Arial"/>
                <a:ea typeface="Arial"/>
                <a:cs typeface="Arial"/>
              </a:rPr>
              <a:t>GRIDWATCH / U1</a:t>
            </a:r>
          </a:p>
        </p:txBody>
      </p:sp>
      <p:sp>
        <p:nvSpPr>
          <p:cNvPr id="5" name="">
            <a:extLst xmlns:a="http://schemas.openxmlformats.org/drawingml/2006/main">
              <a:ext uri="{FF2B5EF4-FFF2-40B4-BE49-F238E27FC236}">
                <a16:creationId xmlns:a16="http://schemas.microsoft.com/office/drawing/2014/main" id="{99783431-C48F-4A02-8DDF-9D836AF0C428}"/>
              </a:ext>
            </a:extLst>
          </p:cNvPr>
          <p:cNvSpPr>
            <a:spLocks xmlns:a="http://schemas.openxmlformats.org/drawingml/2006/main" noGrp="1"/>
          </p:cNvSpPr>
          <p:nvPr/>
        </p:nvSpPr>
        <p:spPr>
          <a:xfrm xmlns:a="http://schemas.openxmlformats.org/drawingml/2006/main">
            <a:off x="11239500" y="6419850"/>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9CB2E68D-8D2B-4BAE-BB08-E1057D3C27DC}"/>
              </a:ext>
            </a:extLst>
          </p:cNvPr>
          <p:cNvSpPr>
            <a:spLocks xmlns:a="http://schemas.openxmlformats.org/drawingml/2006/main" noGrp="1"/>
          </p:cNvSpPr>
          <p:nvPr/>
        </p:nvSpPr>
        <p:spPr>
          <a:xfrm xmlns:a="http://schemas.openxmlformats.org/drawingml/2006/main">
            <a:off x="609600" y="2428875"/>
            <a:ext cx="2238375" cy="1619250"/>
          </a:xfrm>
          <a:prstGeom xmlns:a="http://schemas.openxmlformats.org/drawingml/2006/main" prst="roundRect">
            <a:avLst>
              <a:gd name="adj" fmla="val 7059"/>
            </a:avLst>
          </a:prstGeom>
          <a:solidFill xmlns:a="http://schemas.openxmlformats.org/drawingml/2006/main">
            <a:srgbClr val="1E2820"/>
          </a:solidFill>
          <a:ln xmlns:a="http://schemas.openxmlformats.org/drawingml/2006/main" w="9525">
            <a:solidFill>
              <a:srgbClr val="445242"/>
            </a:solidFill>
          </a:ln>
        </p:spPr>
      </p:sp>
      <p:sp>
        <p:nvSpPr>
          <p:cNvPr id="7" name="">
            <a:extLst xmlns:a="http://schemas.openxmlformats.org/drawingml/2006/main">
              <a:ext uri="{FF2B5EF4-FFF2-40B4-BE49-F238E27FC236}">
                <a16:creationId xmlns:a16="http://schemas.microsoft.com/office/drawing/2014/main" id="{318C7CD4-1139-453A-9119-CC6B7324F8CE}"/>
              </a:ext>
            </a:extLst>
          </p:cNvPr>
          <p:cNvSpPr>
            <a:spLocks xmlns:a="http://schemas.openxmlformats.org/drawingml/2006/main" noGrp="1"/>
          </p:cNvSpPr>
          <p:nvPr/>
        </p:nvSpPr>
        <p:spPr>
          <a:xfrm xmlns:a="http://schemas.openxmlformats.org/drawingml/2006/main">
            <a:off x="819150" y="2657475"/>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1F5BE73C-43C6-42C2-BEC1-4D633936E93A}"/>
              </a:ext>
            </a:extLst>
          </p:cNvPr>
          <p:cNvSpPr>
            <a:spLocks xmlns:a="http://schemas.openxmlformats.org/drawingml/2006/main" noGrp="1"/>
          </p:cNvSpPr>
          <p:nvPr/>
        </p:nvSpPr>
        <p:spPr>
          <a:xfrm xmlns:a="http://schemas.openxmlformats.org/drawingml/2006/main">
            <a:off x="819150" y="3038475"/>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F3F6EF"/>
                </a:solidFill>
                <a:latin typeface="Arial"/>
                <a:ea typeface="Arial"/>
                <a:cs typeface="Arial"/>
              </a:defRPr>
            </a:pPr>
            <a:r>
              <a:rPr sz="1350" b="1">
                <a:solidFill>
                  <a:srgbClr val="F3F6EF"/>
                </a:solidFill>
                <a:latin typeface="Arial"/>
                <a:ea typeface="Arial"/>
                <a:cs typeface="Arial"/>
              </a:rPr>
              <a:t>ETTh1 observations</a:t>
            </a:r>
          </a:p>
        </p:txBody>
      </p:sp>
      <p:sp>
        <p:nvSpPr>
          <p:cNvPr id="9" name="">
            <a:extLst xmlns:a="http://schemas.openxmlformats.org/drawingml/2006/main">
              <a:ext uri="{FF2B5EF4-FFF2-40B4-BE49-F238E27FC236}">
                <a16:creationId xmlns:a16="http://schemas.microsoft.com/office/drawing/2014/main" id="{483C990A-FDA0-4271-84FA-07E3CCC269BB}"/>
              </a:ext>
            </a:extLst>
          </p:cNvPr>
          <p:cNvSpPr>
            <a:spLocks xmlns:a="http://schemas.openxmlformats.org/drawingml/2006/main" noGrp="1"/>
          </p:cNvSpPr>
          <p:nvPr/>
        </p:nvSpPr>
        <p:spPr>
          <a:xfrm xmlns:a="http://schemas.openxmlformats.org/drawingml/2006/main">
            <a:off x="819150" y="3457575"/>
            <a:ext cx="180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A9B5A5"/>
                </a:solidFill>
                <a:latin typeface="Arial"/>
                <a:ea typeface="Arial"/>
                <a:cs typeface="Arial"/>
              </a:defRPr>
            </a:pPr>
            <a:r>
              <a:rPr sz="975" b="0">
                <a:solidFill>
                  <a:srgbClr val="A9B5A5"/>
                </a:solidFill>
                <a:latin typeface="Arial"/>
                <a:ea typeface="Arial"/>
                <a:cs typeface="Arial"/>
              </a:rPr>
              <a:t>Real hourly transformer data</a:t>
            </a:r>
          </a:p>
        </p:txBody>
      </p:sp>
      <p:sp>
        <p:nvSpPr>
          <p:cNvPr id="10" name="">
            <a:extLst xmlns:a="http://schemas.openxmlformats.org/drawingml/2006/main">
              <a:ext uri="{FF2B5EF4-FFF2-40B4-BE49-F238E27FC236}">
                <a16:creationId xmlns:a16="http://schemas.microsoft.com/office/drawing/2014/main" id="{AAE00C4F-0069-4E52-85CE-D480BAB666C7}"/>
              </a:ext>
            </a:extLst>
          </p:cNvPr>
          <p:cNvSpPr>
            <a:spLocks xmlns:a="http://schemas.openxmlformats.org/drawingml/2006/main" noGrp="1"/>
          </p:cNvSpPr>
          <p:nvPr/>
        </p:nvSpPr>
        <p:spPr>
          <a:xfrm xmlns:a="http://schemas.openxmlformats.org/drawingml/2006/main">
            <a:off x="2914650" y="30480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CDEB85"/>
                </a:solidFill>
                <a:latin typeface="Arial"/>
                <a:ea typeface="Arial"/>
                <a:cs typeface="Arial"/>
              </a:defRPr>
            </a:pPr>
            <a:r>
              <a:rPr sz="2025" b="1">
                <a:solidFill>
                  <a:srgbClr val="CDEB85"/>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0028C92F-B968-4323-817D-98AFD1DA9A6C}"/>
              </a:ext>
            </a:extLst>
          </p:cNvPr>
          <p:cNvSpPr>
            <a:spLocks xmlns:a="http://schemas.openxmlformats.org/drawingml/2006/main" noGrp="1"/>
          </p:cNvSpPr>
          <p:nvPr/>
        </p:nvSpPr>
        <p:spPr>
          <a:xfrm xmlns:a="http://schemas.openxmlformats.org/drawingml/2006/main">
            <a:off x="3409950" y="2428875"/>
            <a:ext cx="2238375" cy="1619250"/>
          </a:xfrm>
          <a:prstGeom xmlns:a="http://schemas.openxmlformats.org/drawingml/2006/main" prst="roundRect">
            <a:avLst>
              <a:gd name="adj" fmla="val 7059"/>
            </a:avLst>
          </a:prstGeom>
          <a:solidFill xmlns:a="http://schemas.openxmlformats.org/drawingml/2006/main">
            <a:srgbClr val="1E2820"/>
          </a:solidFill>
          <a:ln xmlns:a="http://schemas.openxmlformats.org/drawingml/2006/main" w="9525">
            <a:solidFill>
              <a:srgbClr val="445242"/>
            </a:solidFill>
          </a:ln>
        </p:spPr>
      </p:sp>
      <p:sp>
        <p:nvSpPr>
          <p:cNvPr id="12" name="">
            <a:extLst xmlns:a="http://schemas.openxmlformats.org/drawingml/2006/main">
              <a:ext uri="{FF2B5EF4-FFF2-40B4-BE49-F238E27FC236}">
                <a16:creationId xmlns:a16="http://schemas.microsoft.com/office/drawing/2014/main" id="{8BA09079-0376-4929-9046-B2E9DEF3D486}"/>
              </a:ext>
            </a:extLst>
          </p:cNvPr>
          <p:cNvSpPr>
            <a:spLocks xmlns:a="http://schemas.openxmlformats.org/drawingml/2006/main" noGrp="1"/>
          </p:cNvSpPr>
          <p:nvPr/>
        </p:nvSpPr>
        <p:spPr>
          <a:xfrm xmlns:a="http://schemas.openxmlformats.org/drawingml/2006/main">
            <a:off x="3619500" y="2657475"/>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02</a:t>
            </a:r>
          </a:p>
        </p:txBody>
      </p:sp>
      <p:sp>
        <p:nvSpPr>
          <p:cNvPr id="13" name="">
            <a:extLst xmlns:a="http://schemas.openxmlformats.org/drawingml/2006/main">
              <a:ext uri="{FF2B5EF4-FFF2-40B4-BE49-F238E27FC236}">
                <a16:creationId xmlns:a16="http://schemas.microsoft.com/office/drawing/2014/main" id="{3AE0A761-014E-4E97-8697-2FA3D4B339B0}"/>
              </a:ext>
            </a:extLst>
          </p:cNvPr>
          <p:cNvSpPr>
            <a:spLocks xmlns:a="http://schemas.openxmlformats.org/drawingml/2006/main" noGrp="1"/>
          </p:cNvSpPr>
          <p:nvPr/>
        </p:nvSpPr>
        <p:spPr>
          <a:xfrm xmlns:a="http://schemas.openxmlformats.org/drawingml/2006/main">
            <a:off x="3619500" y="3038475"/>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F3F6EF"/>
                </a:solidFill>
                <a:latin typeface="Arial"/>
                <a:ea typeface="Arial"/>
                <a:cs typeface="Arial"/>
              </a:defRPr>
            </a:pPr>
            <a:r>
              <a:rPr sz="1350" b="1">
                <a:solidFill>
                  <a:srgbClr val="F3F6EF"/>
                </a:solidFill>
                <a:latin typeface="Arial"/>
                <a:ea typeface="Arial"/>
                <a:cs typeface="Arial"/>
              </a:rPr>
              <a:t>Failure simulator</a:t>
            </a:r>
          </a:p>
        </p:txBody>
      </p:sp>
      <p:sp>
        <p:nvSpPr>
          <p:cNvPr id="14" name="">
            <a:extLst xmlns:a="http://schemas.openxmlformats.org/drawingml/2006/main">
              <a:ext uri="{FF2B5EF4-FFF2-40B4-BE49-F238E27FC236}">
                <a16:creationId xmlns:a16="http://schemas.microsoft.com/office/drawing/2014/main" id="{5CD4BC2C-8368-4CCE-A668-E1EED794D08A}"/>
              </a:ext>
            </a:extLst>
          </p:cNvPr>
          <p:cNvSpPr>
            <a:spLocks xmlns:a="http://schemas.openxmlformats.org/drawingml/2006/main" noGrp="1"/>
          </p:cNvSpPr>
          <p:nvPr/>
        </p:nvSpPr>
        <p:spPr>
          <a:xfrm xmlns:a="http://schemas.openxmlformats.org/drawingml/2006/main">
            <a:off x="3619500" y="3457575"/>
            <a:ext cx="180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A9B5A5"/>
                </a:solidFill>
                <a:latin typeface="Arial"/>
                <a:ea typeface="Arial"/>
                <a:cs typeface="Arial"/>
              </a:defRPr>
            </a:pPr>
            <a:r>
              <a:rPr sz="975" b="0">
                <a:solidFill>
                  <a:srgbClr val="A9B5A5"/>
                </a:solidFill>
                <a:latin typeface="Arial"/>
                <a:ea typeface="Arial"/>
                <a:cs typeface="Arial"/>
              </a:rPr>
              <a:t>Synthetic sensor + weather events</a:t>
            </a:r>
          </a:p>
        </p:txBody>
      </p:sp>
      <p:sp>
        <p:nvSpPr>
          <p:cNvPr id="15" name="">
            <a:extLst xmlns:a="http://schemas.openxmlformats.org/drawingml/2006/main">
              <a:ext uri="{FF2B5EF4-FFF2-40B4-BE49-F238E27FC236}">
                <a16:creationId xmlns:a16="http://schemas.microsoft.com/office/drawing/2014/main" id="{89974F02-2CE6-452A-B4CF-8F649D479D18}"/>
              </a:ext>
            </a:extLst>
          </p:cNvPr>
          <p:cNvSpPr>
            <a:spLocks xmlns:a="http://schemas.openxmlformats.org/drawingml/2006/main" noGrp="1"/>
          </p:cNvSpPr>
          <p:nvPr/>
        </p:nvSpPr>
        <p:spPr>
          <a:xfrm xmlns:a="http://schemas.openxmlformats.org/drawingml/2006/main">
            <a:off x="5715000" y="30480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CDEB85"/>
                </a:solidFill>
                <a:latin typeface="Arial"/>
                <a:ea typeface="Arial"/>
                <a:cs typeface="Arial"/>
              </a:defRPr>
            </a:pPr>
            <a:r>
              <a:rPr sz="2025" b="1">
                <a:solidFill>
                  <a:srgbClr val="CDEB85"/>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7784D64C-D7D0-436A-AB52-9DC2A5A45821}"/>
              </a:ext>
            </a:extLst>
          </p:cNvPr>
          <p:cNvSpPr>
            <a:spLocks xmlns:a="http://schemas.openxmlformats.org/drawingml/2006/main" noGrp="1"/>
          </p:cNvSpPr>
          <p:nvPr/>
        </p:nvSpPr>
        <p:spPr>
          <a:xfrm xmlns:a="http://schemas.openxmlformats.org/drawingml/2006/main">
            <a:off x="6210300" y="2428875"/>
            <a:ext cx="2238375" cy="1619250"/>
          </a:xfrm>
          <a:prstGeom xmlns:a="http://schemas.openxmlformats.org/drawingml/2006/main" prst="roundRect">
            <a:avLst>
              <a:gd name="adj" fmla="val 7059"/>
            </a:avLst>
          </a:prstGeom>
          <a:solidFill xmlns:a="http://schemas.openxmlformats.org/drawingml/2006/main">
            <a:srgbClr val="2C3826"/>
          </a:solidFill>
          <a:ln xmlns:a="http://schemas.openxmlformats.org/drawingml/2006/main" w="9525">
            <a:solidFill>
              <a:srgbClr val="718B44"/>
            </a:solidFill>
          </a:ln>
        </p:spPr>
      </p:sp>
      <p:sp>
        <p:nvSpPr>
          <p:cNvPr id="17" name="">
            <a:extLst xmlns:a="http://schemas.openxmlformats.org/drawingml/2006/main">
              <a:ext uri="{FF2B5EF4-FFF2-40B4-BE49-F238E27FC236}">
                <a16:creationId xmlns:a16="http://schemas.microsoft.com/office/drawing/2014/main" id="{A198B4D7-9581-4C56-97B5-4BD448D014D9}"/>
              </a:ext>
            </a:extLst>
          </p:cNvPr>
          <p:cNvSpPr>
            <a:spLocks xmlns:a="http://schemas.openxmlformats.org/drawingml/2006/main" noGrp="1"/>
          </p:cNvSpPr>
          <p:nvPr/>
        </p:nvSpPr>
        <p:spPr>
          <a:xfrm xmlns:a="http://schemas.openxmlformats.org/drawingml/2006/main">
            <a:off x="6419850" y="2657475"/>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D4BF5011-D47B-4742-A619-5BF6BCB30FD5}"/>
              </a:ext>
            </a:extLst>
          </p:cNvPr>
          <p:cNvSpPr>
            <a:spLocks xmlns:a="http://schemas.openxmlformats.org/drawingml/2006/main" noGrp="1"/>
          </p:cNvSpPr>
          <p:nvPr/>
        </p:nvSpPr>
        <p:spPr>
          <a:xfrm xmlns:a="http://schemas.openxmlformats.org/drawingml/2006/main">
            <a:off x="6419850" y="3038475"/>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F3F6EF"/>
                </a:solidFill>
                <a:latin typeface="Arial"/>
                <a:ea typeface="Arial"/>
                <a:cs typeface="Arial"/>
              </a:defRPr>
            </a:pPr>
            <a:r>
              <a:rPr sz="1350" b="1">
                <a:solidFill>
                  <a:srgbClr val="F3F6EF"/>
                </a:solidFill>
                <a:latin typeface="Arial"/>
                <a:ea typeface="Arial"/>
                <a:cs typeface="Arial"/>
              </a:rPr>
              <a:t>Shared advisor</a:t>
            </a:r>
          </a:p>
        </p:txBody>
      </p:sp>
      <p:sp>
        <p:nvSpPr>
          <p:cNvPr id="19" name="">
            <a:extLst xmlns:a="http://schemas.openxmlformats.org/drawingml/2006/main">
              <a:ext uri="{FF2B5EF4-FFF2-40B4-BE49-F238E27FC236}">
                <a16:creationId xmlns:a16="http://schemas.microsoft.com/office/drawing/2014/main" id="{20379F89-5006-4092-9BCD-A0B4C3914BF1}"/>
              </a:ext>
            </a:extLst>
          </p:cNvPr>
          <p:cNvSpPr>
            <a:spLocks xmlns:a="http://schemas.openxmlformats.org/drawingml/2006/main" noGrp="1"/>
          </p:cNvSpPr>
          <p:nvPr/>
        </p:nvSpPr>
        <p:spPr>
          <a:xfrm xmlns:a="http://schemas.openxmlformats.org/drawingml/2006/main">
            <a:off x="6419850" y="3457575"/>
            <a:ext cx="180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A9B5A5"/>
                </a:solidFill>
                <a:latin typeface="Arial"/>
                <a:ea typeface="Arial"/>
                <a:cs typeface="Arial"/>
              </a:defRPr>
            </a:pPr>
            <a:r>
              <a:rPr sz="975" b="0">
                <a:solidFill>
                  <a:srgbClr val="A9B5A5"/>
                </a:solidFill>
                <a:latin typeface="Arial"/>
                <a:ea typeface="Arial"/>
                <a:cs typeface="Arial"/>
              </a:rPr>
              <a:t>Risk, impact and crew plan</a:t>
            </a:r>
          </a:p>
        </p:txBody>
      </p:sp>
      <p:sp>
        <p:nvSpPr>
          <p:cNvPr id="20" name="">
            <a:extLst xmlns:a="http://schemas.openxmlformats.org/drawingml/2006/main">
              <a:ext uri="{FF2B5EF4-FFF2-40B4-BE49-F238E27FC236}">
                <a16:creationId xmlns:a16="http://schemas.microsoft.com/office/drawing/2014/main" id="{D524D9CE-3A17-4CAC-91D9-DBFCA39C8043}"/>
              </a:ext>
            </a:extLst>
          </p:cNvPr>
          <p:cNvSpPr>
            <a:spLocks xmlns:a="http://schemas.openxmlformats.org/drawingml/2006/main" noGrp="1"/>
          </p:cNvSpPr>
          <p:nvPr/>
        </p:nvSpPr>
        <p:spPr>
          <a:xfrm xmlns:a="http://schemas.openxmlformats.org/drawingml/2006/main">
            <a:off x="8515350" y="30480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CDEB85"/>
                </a:solidFill>
                <a:latin typeface="Arial"/>
                <a:ea typeface="Arial"/>
                <a:cs typeface="Arial"/>
              </a:defRPr>
            </a:pPr>
            <a:r>
              <a:rPr sz="2025" b="1">
                <a:solidFill>
                  <a:srgbClr val="CDEB85"/>
                </a:solidFill>
                <a:latin typeface="Arial"/>
                <a:ea typeface="Arial"/>
                <a:cs typeface="Arial"/>
              </a:rPr>
              <a:t>→</a:t>
            </a:r>
          </a:p>
        </p:txBody>
      </p:sp>
      <p:sp>
        <p:nvSpPr>
          <p:cNvPr id="21" name="">
            <a:extLst xmlns:a="http://schemas.openxmlformats.org/drawingml/2006/main">
              <a:ext uri="{FF2B5EF4-FFF2-40B4-BE49-F238E27FC236}">
                <a16:creationId xmlns:a16="http://schemas.microsoft.com/office/drawing/2014/main" id="{76DFD5D1-189F-4C42-829D-05BDA06D6568}"/>
              </a:ext>
            </a:extLst>
          </p:cNvPr>
          <p:cNvSpPr>
            <a:spLocks xmlns:a="http://schemas.openxmlformats.org/drawingml/2006/main" noGrp="1"/>
          </p:cNvSpPr>
          <p:nvPr/>
        </p:nvSpPr>
        <p:spPr>
          <a:xfrm xmlns:a="http://schemas.openxmlformats.org/drawingml/2006/main">
            <a:off x="9010650" y="2428875"/>
            <a:ext cx="2238375" cy="1619250"/>
          </a:xfrm>
          <a:prstGeom xmlns:a="http://schemas.openxmlformats.org/drawingml/2006/main" prst="roundRect">
            <a:avLst>
              <a:gd name="adj" fmla="val 7059"/>
            </a:avLst>
          </a:prstGeom>
          <a:solidFill xmlns:a="http://schemas.openxmlformats.org/drawingml/2006/main">
            <a:srgbClr val="1E2820"/>
          </a:solidFill>
          <a:ln xmlns:a="http://schemas.openxmlformats.org/drawingml/2006/main" w="9525">
            <a:solidFill>
              <a:srgbClr val="445242"/>
            </a:solidFill>
          </a:ln>
        </p:spPr>
      </p:sp>
      <p:sp>
        <p:nvSpPr>
          <p:cNvPr id="22" name="">
            <a:extLst xmlns:a="http://schemas.openxmlformats.org/drawingml/2006/main">
              <a:ext uri="{FF2B5EF4-FFF2-40B4-BE49-F238E27FC236}">
                <a16:creationId xmlns:a16="http://schemas.microsoft.com/office/drawing/2014/main" id="{731FE32E-33E1-4ED2-AF40-2D75DF762BE9}"/>
              </a:ext>
            </a:extLst>
          </p:cNvPr>
          <p:cNvSpPr>
            <a:spLocks xmlns:a="http://schemas.openxmlformats.org/drawingml/2006/main" noGrp="1"/>
          </p:cNvSpPr>
          <p:nvPr/>
        </p:nvSpPr>
        <p:spPr>
          <a:xfrm xmlns:a="http://schemas.openxmlformats.org/drawingml/2006/main">
            <a:off x="9220200" y="2657475"/>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04</a:t>
            </a:r>
          </a:p>
        </p:txBody>
      </p:sp>
      <p:sp>
        <p:nvSpPr>
          <p:cNvPr id="23" name="">
            <a:extLst xmlns:a="http://schemas.openxmlformats.org/drawingml/2006/main">
              <a:ext uri="{FF2B5EF4-FFF2-40B4-BE49-F238E27FC236}">
                <a16:creationId xmlns:a16="http://schemas.microsoft.com/office/drawing/2014/main" id="{945985E2-B18C-415D-8E7D-9960538541E3}"/>
              </a:ext>
            </a:extLst>
          </p:cNvPr>
          <p:cNvSpPr>
            <a:spLocks xmlns:a="http://schemas.openxmlformats.org/drawingml/2006/main" noGrp="1"/>
          </p:cNvSpPr>
          <p:nvPr/>
        </p:nvSpPr>
        <p:spPr>
          <a:xfrm xmlns:a="http://schemas.openxmlformats.org/drawingml/2006/main">
            <a:off x="9220200" y="3038475"/>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F3F6EF"/>
                </a:solidFill>
                <a:latin typeface="Arial"/>
                <a:ea typeface="Arial"/>
                <a:cs typeface="Arial"/>
              </a:defRPr>
            </a:pPr>
            <a:r>
              <a:rPr sz="1350" b="1">
                <a:solidFill>
                  <a:srgbClr val="F3F6EF"/>
                </a:solidFill>
                <a:latin typeface="Arial"/>
                <a:ea typeface="Arial"/>
                <a:cs typeface="Arial"/>
              </a:rPr>
              <a:t>Operator surfaces</a:t>
            </a:r>
          </a:p>
        </p:txBody>
      </p:sp>
      <p:sp>
        <p:nvSpPr>
          <p:cNvPr id="24" name="">
            <a:extLst xmlns:a="http://schemas.openxmlformats.org/drawingml/2006/main">
              <a:ext uri="{FF2B5EF4-FFF2-40B4-BE49-F238E27FC236}">
                <a16:creationId xmlns:a16="http://schemas.microsoft.com/office/drawing/2014/main" id="{76966C0D-88A8-4888-B539-3347829F0422}"/>
              </a:ext>
            </a:extLst>
          </p:cNvPr>
          <p:cNvSpPr>
            <a:spLocks xmlns:a="http://schemas.openxmlformats.org/drawingml/2006/main" noGrp="1"/>
          </p:cNvSpPr>
          <p:nvPr/>
        </p:nvSpPr>
        <p:spPr>
          <a:xfrm xmlns:a="http://schemas.openxmlformats.org/drawingml/2006/main">
            <a:off x="9220200" y="3457575"/>
            <a:ext cx="180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A9B5A5"/>
                </a:solidFill>
                <a:latin typeface="Arial"/>
                <a:ea typeface="Arial"/>
                <a:cs typeface="Arial"/>
              </a:defRPr>
            </a:pPr>
            <a:r>
              <a:rPr sz="975" b="0">
                <a:solidFill>
                  <a:srgbClr val="A9B5A5"/>
                </a:solidFill>
                <a:latin typeface="Arial"/>
                <a:ea typeface="Arial"/>
                <a:cs typeface="Arial"/>
              </a:rPr>
              <a:t>Browser dashboard + IBM Bob MCP</a:t>
            </a:r>
          </a:p>
        </p:txBody>
      </p:sp>
      <p:sp>
        <p:nvSpPr>
          <p:cNvPr id="25" name="">
            <a:extLst xmlns:a="http://schemas.openxmlformats.org/drawingml/2006/main">
              <a:ext uri="{FF2B5EF4-FFF2-40B4-BE49-F238E27FC236}">
                <a16:creationId xmlns:a16="http://schemas.microsoft.com/office/drawing/2014/main" id="{2049F731-D691-4777-9F3A-8F8C709B1BD8}"/>
              </a:ext>
            </a:extLst>
          </p:cNvPr>
          <p:cNvSpPr>
            <a:spLocks xmlns:a="http://schemas.openxmlformats.org/drawingml/2006/main" noGrp="1"/>
          </p:cNvSpPr>
          <p:nvPr/>
        </p:nvSpPr>
        <p:spPr>
          <a:xfrm xmlns:a="http://schemas.openxmlformats.org/drawingml/2006/main">
            <a:off x="628650" y="4762500"/>
            <a:ext cx="1000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F3F6EF"/>
                </a:solidFill>
                <a:latin typeface="Arial"/>
                <a:ea typeface="Arial"/>
                <a:cs typeface="Arial"/>
              </a:defRPr>
            </a:pPr>
            <a:r>
              <a:rPr sz="1500" b="1">
                <a:solidFill>
                  <a:srgbClr val="F3F6EF"/>
                </a:solidFill>
                <a:latin typeface="Arial"/>
                <a:ea typeface="Arial"/>
                <a:cs typeface="Arial"/>
              </a:rPr>
              <a:t>Models are trained first. The advisor is the shared contract between prediction and action.</a:t>
            </a:r>
          </a:p>
        </p:txBody>
      </p:sp>
      <p:sp>
        <p:nvSpPr>
          <p:cNvPr id="26" name="">
            <a:extLst xmlns:a="http://schemas.openxmlformats.org/drawingml/2006/main">
              <a:ext uri="{FF2B5EF4-FFF2-40B4-BE49-F238E27FC236}">
                <a16:creationId xmlns:a16="http://schemas.microsoft.com/office/drawing/2014/main" id="{506FA515-F60B-4D34-ABDD-A97BFD404F7E}"/>
              </a:ext>
            </a:extLst>
          </p:cNvPr>
          <p:cNvSpPr>
            <a:spLocks xmlns:a="http://schemas.openxmlformats.org/drawingml/2006/main" noGrp="1"/>
          </p:cNvSpPr>
          <p:nvPr/>
        </p:nvSpPr>
        <p:spPr>
          <a:xfrm xmlns:a="http://schemas.openxmlformats.org/drawingml/2006/main">
            <a:off x="638175" y="5219700"/>
            <a:ext cx="933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9B5A5"/>
                </a:solidFill>
                <a:latin typeface="Arial"/>
                <a:ea typeface="Arial"/>
                <a:cs typeface="Arial"/>
              </a:defRPr>
            </a:pPr>
            <a:r>
              <a:rPr sz="1050" b="0">
                <a:solidFill>
                  <a:srgbClr val="A9B5A5"/>
                </a:solidFill>
                <a:latin typeface="Arial"/>
                <a:ea typeface="Arial"/>
                <a:cs typeface="Arial"/>
              </a:rPr>
              <a:t>REAL DATA → temperature forecast     |     SYNTHETIC DATA → failure demonstration</a:t>
            </a:r>
          </a:p>
        </p:txBody>
      </p:sp>
    </p:spTree>
    <p:extLst>
      <p:ext uri="{BB962C8B-B14F-4D97-AF65-F5344CB8AC3E}">
        <p14:creationId xmlns:p14="http://schemas.microsoft.com/office/powerpoint/2010/main" val="618411643"/>
      </p:ext>
    </p:extLst>
  </p:cSld>
</p:sld>
</file>

<file path=ppt/slides/slide5.xml><?xml version="1.0" encoding="utf-8"?>
<p:sld xmlns:p="http://schemas.openxmlformats.org/presentationml/2006/main">
  <p:cSld>
    <p:bg>
      <p:bgPr>
        <a:solidFill xmlns:a="http://schemas.openxmlformats.org/drawingml/2006/main">
          <a:srgbClr val="111713"/>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268EC16-EBC0-45A2-9D61-C217E97CB31A}"/>
              </a:ext>
            </a:extLst>
          </p:cNvPr>
          <p:cNvSpPr>
            <a:spLocks xmlns:a="http://schemas.openxmlformats.org/drawingml/2006/main" noGrp="1"/>
          </p:cNvSpPr>
          <p:nvPr/>
        </p:nvSpPr>
        <p:spPr>
          <a:xfrm xmlns:a="http://schemas.openxmlformats.org/drawingml/2006/main">
            <a:off x="609600" y="3619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IBM BOBATHON 2026</a:t>
            </a:r>
          </a:p>
        </p:txBody>
      </p:sp>
      <p:sp>
        <p:nvSpPr>
          <p:cNvPr id="2" name="">
            <a:extLst xmlns:a="http://schemas.openxmlformats.org/drawingml/2006/main">
              <a:ext uri="{FF2B5EF4-FFF2-40B4-BE49-F238E27FC236}">
                <a16:creationId xmlns:a16="http://schemas.microsoft.com/office/drawing/2014/main" id="{ACD7D074-964A-4AE7-AFAD-7DBEBD1EB449}"/>
              </a:ext>
            </a:extLst>
          </p:cNvPr>
          <p:cNvSpPr>
            <a:spLocks xmlns:a="http://schemas.openxmlformats.org/drawingml/2006/main" noGrp="1"/>
          </p:cNvSpPr>
          <p:nvPr/>
        </p:nvSpPr>
        <p:spPr>
          <a:xfrm xmlns:a="http://schemas.openxmlformats.org/drawingml/2006/main">
            <a:off x="609600" y="7048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3F6EF"/>
                </a:solidFill>
                <a:latin typeface="Arial"/>
                <a:ea typeface="Arial"/>
                <a:cs typeface="Arial"/>
              </a:defRPr>
            </a:pPr>
            <a:r>
              <a:rPr sz="3150" b="1">
                <a:solidFill>
                  <a:srgbClr val="F3F6EF"/>
                </a:solidFill>
                <a:latin typeface="Arial"/>
                <a:ea typeface="Arial"/>
                <a:cs typeface="Arial"/>
              </a:rPr>
              <a:t>Demo: from storm scenario to crew plan</a:t>
            </a:r>
          </a:p>
        </p:txBody>
      </p:sp>
      <p:sp>
        <p:nvSpPr>
          <p:cNvPr id="3" name="">
            <a:extLst xmlns:a="http://schemas.openxmlformats.org/drawingml/2006/main">
              <a:ext uri="{FF2B5EF4-FFF2-40B4-BE49-F238E27FC236}">
                <a16:creationId xmlns:a16="http://schemas.microsoft.com/office/drawing/2014/main" id="{879500B2-172D-48AD-9F8F-B930810F1470}"/>
              </a:ext>
            </a:extLst>
          </p:cNvPr>
          <p:cNvSpPr>
            <a:spLocks xmlns:a="http://schemas.openxmlformats.org/drawingml/2006/main" noGrp="1"/>
          </p:cNvSpPr>
          <p:nvPr/>
        </p:nvSpPr>
        <p:spPr>
          <a:xfrm xmlns:a="http://schemas.openxmlformats.org/drawingml/2006/main">
            <a:off x="628650" y="134302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B5A5"/>
                </a:solidFill>
                <a:latin typeface="Arial"/>
                <a:ea typeface="Arial"/>
                <a:cs typeface="Arial"/>
              </a:defRPr>
            </a:pPr>
            <a:r>
              <a:rPr sz="1200" b="0">
                <a:solidFill>
                  <a:srgbClr val="A9B5A5"/>
                </a:solidFill>
                <a:latin typeface="Arial"/>
                <a:ea typeface="Arial"/>
                <a:cs typeface="Arial"/>
              </a:rPr>
              <a:t>The same asset risk can produce a different work queue when capacity changes.</a:t>
            </a:r>
          </a:p>
        </p:txBody>
      </p:sp>
      <p:sp>
        <p:nvSpPr>
          <p:cNvPr id="4" name="">
            <a:extLst xmlns:a="http://schemas.openxmlformats.org/drawingml/2006/main">
              <a:ext uri="{FF2B5EF4-FFF2-40B4-BE49-F238E27FC236}">
                <a16:creationId xmlns:a16="http://schemas.microsoft.com/office/drawing/2014/main" id="{9FAFC24A-B548-4153-AFD8-62BBAD665C98}"/>
              </a:ext>
            </a:extLst>
          </p:cNvPr>
          <p:cNvSpPr>
            <a:spLocks xmlns:a="http://schemas.openxmlformats.org/drawingml/2006/main" noGrp="1"/>
          </p:cNvSpPr>
          <p:nvPr/>
        </p:nvSpPr>
        <p:spPr>
          <a:xfrm xmlns:a="http://schemas.openxmlformats.org/drawingml/2006/main">
            <a:off x="609600" y="6419850"/>
            <a:ext cx="457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A9B5A5"/>
                </a:solidFill>
                <a:latin typeface="Arial"/>
                <a:ea typeface="Arial"/>
                <a:cs typeface="Arial"/>
              </a:defRPr>
            </a:pPr>
            <a:r>
              <a:rPr sz="825" b="1">
                <a:solidFill>
                  <a:srgbClr val="A9B5A5"/>
                </a:solidFill>
                <a:latin typeface="Arial"/>
                <a:ea typeface="Arial"/>
                <a:cs typeface="Arial"/>
              </a:rPr>
              <a:t>GRIDWATCH / U1</a:t>
            </a:r>
          </a:p>
        </p:txBody>
      </p:sp>
      <p:sp>
        <p:nvSpPr>
          <p:cNvPr id="5" name="">
            <a:extLst xmlns:a="http://schemas.openxmlformats.org/drawingml/2006/main">
              <a:ext uri="{FF2B5EF4-FFF2-40B4-BE49-F238E27FC236}">
                <a16:creationId xmlns:a16="http://schemas.microsoft.com/office/drawing/2014/main" id="{FCEC1526-83D1-4D62-8D82-57E8F0570671}"/>
              </a:ext>
            </a:extLst>
          </p:cNvPr>
          <p:cNvSpPr>
            <a:spLocks xmlns:a="http://schemas.openxmlformats.org/drawingml/2006/main" noGrp="1"/>
          </p:cNvSpPr>
          <p:nvPr/>
        </p:nvSpPr>
        <p:spPr>
          <a:xfrm xmlns:a="http://schemas.openxmlformats.org/drawingml/2006/main">
            <a:off x="11239500" y="6419850"/>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05</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d2b4737a22d41d5"/>
          <a:srcRect xmlns:a="http://schemas.openxmlformats.org/drawingml/2006/main" l="575" t="0" r="575" b="0"/>
          <a:stretch xmlns:a="http://schemas.openxmlformats.org/drawingml/2006/main">
            <a:fillRect l="0" t="0" r="0" b="0"/>
          </a:stretch>
        </p:blipFill>
        <p:spPr>
          <a:xfrm xmlns:a="http://schemas.openxmlformats.org/drawingml/2006/main">
            <a:off x="609600" y="2038350"/>
            <a:ext cx="4095750" cy="2762250"/>
          </a:xfrm>
          <a:prstGeom xmlns:a="http://schemas.openxmlformats.org/drawingml/2006/main" prst="roundRect">
            <a:avLst>
              <a:gd name="adj" fmla="val 4138"/>
            </a:avLst>
          </a:prstGeom>
        </p:spPr>
      </p:pic>
      <p:sp>
        <p:nvSpPr>
          <p:cNvPr id="7" name="">
            <a:extLst xmlns:a="http://schemas.openxmlformats.org/drawingml/2006/main">
              <a:ext uri="{FF2B5EF4-FFF2-40B4-BE49-F238E27FC236}">
                <a16:creationId xmlns:a16="http://schemas.microsoft.com/office/drawing/2014/main" id="{355B446A-FC5E-4585-9161-9C1BBF8761D6}"/>
              </a:ext>
            </a:extLst>
          </p:cNvPr>
          <p:cNvSpPr>
            <a:spLocks xmlns:a="http://schemas.openxmlformats.org/drawingml/2006/main" noGrp="1"/>
          </p:cNvSpPr>
          <p:nvPr/>
        </p:nvSpPr>
        <p:spPr>
          <a:xfrm xmlns:a="http://schemas.openxmlformats.org/drawingml/2006/main">
            <a:off x="5095875" y="2038350"/>
            <a:ext cx="6477000" cy="2762250"/>
          </a:xfrm>
          <a:prstGeom xmlns:a="http://schemas.openxmlformats.org/drawingml/2006/main" prst="roundRect">
            <a:avLst>
              <a:gd name="adj" fmla="val 4138"/>
            </a:avLst>
          </a:prstGeom>
          <a:solidFill xmlns:a="http://schemas.openxmlformats.org/drawingml/2006/main">
            <a:srgbClr val="1E2820"/>
          </a:solidFill>
          <a:ln xmlns:a="http://schemas.openxmlformats.org/drawingml/2006/main" w="9525">
            <a:solidFill>
              <a:srgbClr val="445242"/>
            </a:solidFill>
          </a:ln>
        </p:spPr>
      </p:sp>
      <p:sp>
        <p:nvSpPr>
          <p:cNvPr id="8" name="">
            <a:extLst xmlns:a="http://schemas.openxmlformats.org/drawingml/2006/main">
              <a:ext uri="{FF2B5EF4-FFF2-40B4-BE49-F238E27FC236}">
                <a16:creationId xmlns:a16="http://schemas.microsoft.com/office/drawing/2014/main" id="{5FF07D84-7C6C-4179-8C90-9463D83ECE50}"/>
              </a:ext>
            </a:extLst>
          </p:cNvPr>
          <p:cNvSpPr>
            <a:spLocks xmlns:a="http://schemas.openxmlformats.org/drawingml/2006/main" noGrp="1"/>
          </p:cNvSpPr>
          <p:nvPr/>
        </p:nvSpPr>
        <p:spPr>
          <a:xfrm xmlns:a="http://schemas.openxmlformats.org/drawingml/2006/main">
            <a:off x="5381625" y="230505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STORM SCENARIO</a:t>
            </a:r>
          </a:p>
        </p:txBody>
      </p:sp>
      <p:sp>
        <p:nvSpPr>
          <p:cNvPr id="9" name="">
            <a:extLst xmlns:a="http://schemas.openxmlformats.org/drawingml/2006/main">
              <a:ext uri="{FF2B5EF4-FFF2-40B4-BE49-F238E27FC236}">
                <a16:creationId xmlns:a16="http://schemas.microsoft.com/office/drawing/2014/main" id="{E14023A8-F7C5-4608-9853-52F43F898BFF}"/>
              </a:ext>
            </a:extLst>
          </p:cNvPr>
          <p:cNvSpPr>
            <a:spLocks xmlns:a="http://schemas.openxmlformats.org/drawingml/2006/main" noGrp="1"/>
          </p:cNvSpPr>
          <p:nvPr/>
        </p:nvSpPr>
        <p:spPr>
          <a:xfrm xmlns:a="http://schemas.openxmlformats.org/drawingml/2006/main">
            <a:off x="5381625" y="260985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F3F6EF"/>
                </a:solidFill>
                <a:latin typeface="Arial"/>
                <a:ea typeface="Arial"/>
                <a:cs typeface="Arial"/>
              </a:defRPr>
            </a:pPr>
            <a:r>
              <a:rPr sz="1875" b="1">
                <a:solidFill>
                  <a:srgbClr val="F3F6EF"/>
                </a:solidFill>
                <a:latin typeface="Arial"/>
                <a:ea typeface="Arial"/>
                <a:cs typeface="Arial"/>
              </a:rPr>
              <a:t>85 km/h wind  ·  65 mm rain</a:t>
            </a:r>
          </a:p>
        </p:txBody>
      </p:sp>
      <p:sp>
        <p:nvSpPr>
          <p:cNvPr id="10" name="">
            <a:extLst xmlns:a="http://schemas.openxmlformats.org/drawingml/2006/main">
              <a:ext uri="{FF2B5EF4-FFF2-40B4-BE49-F238E27FC236}">
                <a16:creationId xmlns:a16="http://schemas.microsoft.com/office/drawing/2014/main" id="{A594AA6B-97BC-4D63-99B5-0E153E969309}"/>
              </a:ext>
            </a:extLst>
          </p:cNvPr>
          <p:cNvSpPr>
            <a:spLocks xmlns:a="http://schemas.openxmlformats.org/drawingml/2006/main" noGrp="1"/>
          </p:cNvSpPr>
          <p:nvPr/>
        </p:nvSpPr>
        <p:spPr>
          <a:xfrm xmlns:a="http://schemas.openxmlformats.org/drawingml/2006/main">
            <a:off x="5381625" y="323850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CDEB85"/>
                </a:solidFill>
                <a:latin typeface="Arial"/>
                <a:ea typeface="Arial"/>
                <a:cs typeface="Arial"/>
              </a:defRPr>
            </a:pPr>
            <a:r>
              <a:rPr sz="2250" b="1">
                <a:solidFill>
                  <a:srgbClr val="CDEB85"/>
                </a:solidFill>
                <a:latin typeface="Arial"/>
                <a:ea typeface="Arial"/>
                <a:cs typeface="Arial"/>
              </a:rPr>
              <a:t>10 / 12</a:t>
            </a:r>
          </a:p>
        </p:txBody>
      </p:sp>
      <p:sp>
        <p:nvSpPr>
          <p:cNvPr id="11" name="">
            <a:extLst xmlns:a="http://schemas.openxmlformats.org/drawingml/2006/main">
              <a:ext uri="{FF2B5EF4-FFF2-40B4-BE49-F238E27FC236}">
                <a16:creationId xmlns:a16="http://schemas.microsoft.com/office/drawing/2014/main" id="{499C1526-8811-4255-AC86-36A1259C126F}"/>
              </a:ext>
            </a:extLst>
          </p:cNvPr>
          <p:cNvSpPr>
            <a:spLocks xmlns:a="http://schemas.openxmlformats.org/drawingml/2006/main" noGrp="1"/>
          </p:cNvSpPr>
          <p:nvPr/>
        </p:nvSpPr>
        <p:spPr>
          <a:xfrm xmlns:a="http://schemas.openxmlformats.org/drawingml/2006/main">
            <a:off x="5381625" y="36671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A9B5A5"/>
                </a:solidFill>
                <a:latin typeface="Arial"/>
                <a:ea typeface="Arial"/>
                <a:cs typeface="Arial"/>
              </a:defRPr>
            </a:pPr>
            <a:r>
              <a:rPr sz="900" b="0">
                <a:solidFill>
                  <a:srgbClr val="A9B5A5"/>
                </a:solidFill>
                <a:latin typeface="Arial"/>
                <a:ea typeface="Arial"/>
                <a:cs typeface="Arial"/>
              </a:rPr>
              <a:t>assets flagged</a:t>
            </a:r>
          </a:p>
        </p:txBody>
      </p:sp>
      <p:sp>
        <p:nvSpPr>
          <p:cNvPr id="12" name="">
            <a:extLst xmlns:a="http://schemas.openxmlformats.org/drawingml/2006/main">
              <a:ext uri="{FF2B5EF4-FFF2-40B4-BE49-F238E27FC236}">
                <a16:creationId xmlns:a16="http://schemas.microsoft.com/office/drawing/2014/main" id="{488B7C4F-995C-4E85-9964-06854AA0F78B}"/>
              </a:ext>
            </a:extLst>
          </p:cNvPr>
          <p:cNvSpPr>
            <a:spLocks xmlns:a="http://schemas.openxmlformats.org/drawingml/2006/main" noGrp="1"/>
          </p:cNvSpPr>
          <p:nvPr/>
        </p:nvSpPr>
        <p:spPr>
          <a:xfrm xmlns:a="http://schemas.openxmlformats.org/drawingml/2006/main">
            <a:off x="7381875" y="323850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CDEB85"/>
                </a:solidFill>
                <a:latin typeface="Arial"/>
                <a:ea typeface="Arial"/>
                <a:cs typeface="Arial"/>
              </a:defRPr>
            </a:pPr>
            <a:r>
              <a:rPr sz="2250" b="1">
                <a:solidFill>
                  <a:srgbClr val="CDEB85"/>
                </a:solidFill>
                <a:latin typeface="Arial"/>
                <a:ea typeface="Arial"/>
                <a:cs typeface="Arial"/>
              </a:rPr>
              <a:t>38,904</a:t>
            </a:r>
          </a:p>
        </p:txBody>
      </p:sp>
      <p:sp>
        <p:nvSpPr>
          <p:cNvPr id="13" name="">
            <a:extLst xmlns:a="http://schemas.openxmlformats.org/drawingml/2006/main">
              <a:ext uri="{FF2B5EF4-FFF2-40B4-BE49-F238E27FC236}">
                <a16:creationId xmlns:a16="http://schemas.microsoft.com/office/drawing/2014/main" id="{70CB17BD-8A39-4983-A3AE-21BC3BF680F9}"/>
              </a:ext>
            </a:extLst>
          </p:cNvPr>
          <p:cNvSpPr>
            <a:spLocks xmlns:a="http://schemas.openxmlformats.org/drawingml/2006/main" noGrp="1"/>
          </p:cNvSpPr>
          <p:nvPr/>
        </p:nvSpPr>
        <p:spPr>
          <a:xfrm xmlns:a="http://schemas.openxmlformats.org/drawingml/2006/main">
            <a:off x="7381875" y="36671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A9B5A5"/>
                </a:solidFill>
                <a:latin typeface="Arial"/>
                <a:ea typeface="Arial"/>
                <a:cs typeface="Arial"/>
              </a:defRPr>
            </a:pPr>
            <a:r>
              <a:rPr sz="900" b="0">
                <a:solidFill>
                  <a:srgbClr val="A9B5A5"/>
                </a:solidFill>
                <a:latin typeface="Arial"/>
                <a:ea typeface="Arial"/>
                <a:cs typeface="Arial"/>
              </a:rPr>
              <a:t>risk-weighted exposure</a:t>
            </a:r>
          </a:p>
        </p:txBody>
      </p:sp>
      <p:sp>
        <p:nvSpPr>
          <p:cNvPr id="14" name="">
            <a:extLst xmlns:a="http://schemas.openxmlformats.org/drawingml/2006/main">
              <a:ext uri="{FF2B5EF4-FFF2-40B4-BE49-F238E27FC236}">
                <a16:creationId xmlns:a16="http://schemas.microsoft.com/office/drawing/2014/main" id="{A13580EE-CF5F-4FD9-8F42-79241ADDE550}"/>
              </a:ext>
            </a:extLst>
          </p:cNvPr>
          <p:cNvSpPr>
            <a:spLocks xmlns:a="http://schemas.openxmlformats.org/drawingml/2006/main" noGrp="1"/>
          </p:cNvSpPr>
          <p:nvPr/>
        </p:nvSpPr>
        <p:spPr>
          <a:xfrm xmlns:a="http://schemas.openxmlformats.org/drawingml/2006/main">
            <a:off x="9382125" y="3238500"/>
            <a:ext cx="171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E39B5D"/>
                </a:solidFill>
                <a:latin typeface="Arial"/>
                <a:ea typeface="Arial"/>
                <a:cs typeface="Arial"/>
              </a:defRPr>
            </a:pPr>
            <a:r>
              <a:rPr sz="2250" b="1">
                <a:solidFill>
                  <a:srgbClr val="E39B5D"/>
                </a:solidFill>
                <a:latin typeface="Arial"/>
                <a:ea typeface="Arial"/>
                <a:cs typeface="Arial"/>
              </a:rPr>
              <a:t>6</a:t>
            </a:r>
          </a:p>
        </p:txBody>
      </p:sp>
      <p:sp>
        <p:nvSpPr>
          <p:cNvPr id="15" name="">
            <a:extLst xmlns:a="http://schemas.openxmlformats.org/drawingml/2006/main">
              <a:ext uri="{FF2B5EF4-FFF2-40B4-BE49-F238E27FC236}">
                <a16:creationId xmlns:a16="http://schemas.microsoft.com/office/drawing/2014/main" id="{8AB19D2A-BD6A-4E29-9BB9-0ED049815F24}"/>
              </a:ext>
            </a:extLst>
          </p:cNvPr>
          <p:cNvSpPr>
            <a:spLocks xmlns:a="http://schemas.openxmlformats.org/drawingml/2006/main" noGrp="1"/>
          </p:cNvSpPr>
          <p:nvPr/>
        </p:nvSpPr>
        <p:spPr>
          <a:xfrm xmlns:a="http://schemas.openxmlformats.org/drawingml/2006/main">
            <a:off x="9382125" y="36671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A9B5A5"/>
                </a:solidFill>
                <a:latin typeface="Arial"/>
                <a:ea typeface="Arial"/>
                <a:cs typeface="Arial"/>
              </a:defRPr>
            </a:pPr>
            <a:r>
              <a:rPr sz="900" b="0">
                <a:solidFill>
                  <a:srgbClr val="A9B5A5"/>
                </a:solidFill>
                <a:latin typeface="Arial"/>
                <a:ea typeface="Arial"/>
                <a:cs typeface="Arial"/>
              </a:rPr>
              <a:t>jobs unassigned with 3 crews</a:t>
            </a:r>
          </a:p>
        </p:txBody>
      </p:sp>
      <p:sp>
        <p:nvSpPr>
          <p:cNvPr id="16" name="">
            <a:extLst xmlns:a="http://schemas.openxmlformats.org/drawingml/2006/main">
              <a:ext uri="{FF2B5EF4-FFF2-40B4-BE49-F238E27FC236}">
                <a16:creationId xmlns:a16="http://schemas.microsoft.com/office/drawing/2014/main" id="{3159AECA-4F2B-4441-A83E-D58082FA50D4}"/>
              </a:ext>
            </a:extLst>
          </p:cNvPr>
          <p:cNvSpPr>
            <a:spLocks xmlns:a="http://schemas.openxmlformats.org/drawingml/2006/main" noGrp="1"/>
          </p:cNvSpPr>
          <p:nvPr/>
        </p:nvSpPr>
        <p:spPr>
          <a:xfrm xmlns:a="http://schemas.openxmlformats.org/drawingml/2006/main">
            <a:off x="5381625" y="4324350"/>
            <a:ext cx="5334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F3F6EF"/>
                </a:solidFill>
                <a:latin typeface="Arial"/>
                <a:ea typeface="Arial"/>
                <a:cs typeface="Arial"/>
              </a:defRPr>
            </a:pPr>
            <a:r>
              <a:rPr sz="1125" b="1">
                <a:solidFill>
                  <a:srgbClr val="F3F6EF"/>
                </a:solidFill>
                <a:latin typeface="Arial"/>
                <a:ea typeface="Arial"/>
                <a:cs typeface="Arial"/>
              </a:rPr>
              <a:t>Add three crews → unassigned jobs fall to 1. Risk does not change; response capacity does.</a:t>
            </a:r>
          </a:p>
        </p:txBody>
      </p:sp>
      <p:sp>
        <p:nvSpPr>
          <p:cNvPr id="17" name="">
            <a:extLst xmlns:a="http://schemas.openxmlformats.org/drawingml/2006/main">
              <a:ext uri="{FF2B5EF4-FFF2-40B4-BE49-F238E27FC236}">
                <a16:creationId xmlns:a16="http://schemas.microsoft.com/office/drawing/2014/main" id="{D1F74678-6B57-4A00-85BD-9624F24B56CE}"/>
              </a:ext>
            </a:extLst>
          </p:cNvPr>
          <p:cNvSpPr>
            <a:spLocks xmlns:a="http://schemas.openxmlformats.org/drawingml/2006/main" noGrp="1"/>
          </p:cNvSpPr>
          <p:nvPr/>
        </p:nvSpPr>
        <p:spPr>
          <a:xfrm xmlns:a="http://schemas.openxmlformats.org/drawingml/2006/main">
            <a:off x="609600" y="5286375"/>
            <a:ext cx="10953750" cy="523875"/>
          </a:xfrm>
          <a:prstGeom xmlns:a="http://schemas.openxmlformats.org/drawingml/2006/main" prst="roundRect">
            <a:avLst>
              <a:gd name="adj" fmla="val 21818"/>
            </a:avLst>
          </a:prstGeom>
          <a:solidFill xmlns:a="http://schemas.openxmlformats.org/drawingml/2006/main">
            <a:srgbClr val="2C3826"/>
          </a:solidFill>
          <a:ln xmlns:a="http://schemas.openxmlformats.org/drawingml/2006/main" w="9525">
            <a:solidFill>
              <a:srgbClr val="5A7138"/>
            </a:solidFill>
          </a:ln>
        </p:spPr>
      </p:sp>
      <p:sp>
        <p:nvSpPr>
          <p:cNvPr id="18" name="">
            <a:extLst xmlns:a="http://schemas.openxmlformats.org/drawingml/2006/main">
              <a:ext uri="{FF2B5EF4-FFF2-40B4-BE49-F238E27FC236}">
                <a16:creationId xmlns:a16="http://schemas.microsoft.com/office/drawing/2014/main" id="{880D21C3-5E64-4B15-9B29-8DC13FBB0646}"/>
              </a:ext>
            </a:extLst>
          </p:cNvPr>
          <p:cNvSpPr>
            <a:spLocks xmlns:a="http://schemas.openxmlformats.org/drawingml/2006/main" noGrp="1"/>
          </p:cNvSpPr>
          <p:nvPr/>
        </p:nvSpPr>
        <p:spPr>
          <a:xfrm xmlns:a="http://schemas.openxmlformats.org/drawingml/2006/main">
            <a:off x="828675" y="5448300"/>
            <a:ext cx="10382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F3F6EF"/>
                </a:solidFill>
                <a:latin typeface="Arial"/>
                <a:ea typeface="Arial"/>
                <a:cs typeface="Arial"/>
              </a:defRPr>
            </a:pPr>
            <a:r>
              <a:rPr sz="1050" b="0">
                <a:solidFill>
                  <a:srgbClr val="F3F6EF"/>
                </a:solidFill>
                <a:latin typeface="Arial"/>
                <a:ea typeface="Arial"/>
                <a:cs typeface="Arial"/>
              </a:rPr>
              <a:t>Operator review remains required. The planner does not dispatch crews or optimize road routes.</a:t>
            </a:r>
          </a:p>
        </p:txBody>
      </p:sp>
    </p:spTree>
    <p:extLst>
      <p:ext uri="{BB962C8B-B14F-4D97-AF65-F5344CB8AC3E}">
        <p14:creationId xmlns:p14="http://schemas.microsoft.com/office/powerpoint/2010/main" val="996290784"/>
      </p:ext>
    </p:extLst>
  </p:cSld>
</p:sld>
</file>

<file path=ppt/slides/slide6.xml><?xml version="1.0" encoding="utf-8"?>
<p:sld xmlns:p="http://schemas.openxmlformats.org/presentationml/2006/main">
  <p:cSld>
    <p:bg>
      <p:bgPr>
        <a:solidFill xmlns:a="http://schemas.openxmlformats.org/drawingml/2006/main">
          <a:srgbClr val="111713"/>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C1550CA-EED3-4F80-AFB4-5A96291B62DA}"/>
              </a:ext>
            </a:extLst>
          </p:cNvPr>
          <p:cNvSpPr>
            <a:spLocks xmlns:a="http://schemas.openxmlformats.org/drawingml/2006/main" noGrp="1"/>
          </p:cNvSpPr>
          <p:nvPr/>
        </p:nvSpPr>
        <p:spPr>
          <a:xfrm xmlns:a="http://schemas.openxmlformats.org/drawingml/2006/main">
            <a:off x="609600" y="3619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IBM BOBATHON 2026</a:t>
            </a:r>
          </a:p>
        </p:txBody>
      </p:sp>
      <p:sp>
        <p:nvSpPr>
          <p:cNvPr id="2" name="">
            <a:extLst xmlns:a="http://schemas.openxmlformats.org/drawingml/2006/main">
              <a:ext uri="{FF2B5EF4-FFF2-40B4-BE49-F238E27FC236}">
                <a16:creationId xmlns:a16="http://schemas.microsoft.com/office/drawing/2014/main" id="{C46AA5FB-AE18-4D3E-8CCB-4A56368BC337}"/>
              </a:ext>
            </a:extLst>
          </p:cNvPr>
          <p:cNvSpPr>
            <a:spLocks xmlns:a="http://schemas.openxmlformats.org/drawingml/2006/main" noGrp="1"/>
          </p:cNvSpPr>
          <p:nvPr/>
        </p:nvSpPr>
        <p:spPr>
          <a:xfrm xmlns:a="http://schemas.openxmlformats.org/drawingml/2006/main">
            <a:off x="609600" y="7048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3F6EF"/>
                </a:solidFill>
                <a:latin typeface="Arial"/>
                <a:ea typeface="Arial"/>
                <a:cs typeface="Arial"/>
              </a:defRPr>
            </a:pPr>
            <a:r>
              <a:rPr sz="3150" b="1">
                <a:solidFill>
                  <a:srgbClr val="F3F6EF"/>
                </a:solidFill>
                <a:latin typeface="Arial"/>
                <a:ea typeface="Arial"/>
                <a:cs typeface="Arial"/>
              </a:rPr>
              <a:t>IBM Bob integration</a:t>
            </a:r>
          </a:p>
        </p:txBody>
      </p:sp>
      <p:sp>
        <p:nvSpPr>
          <p:cNvPr id="3" name="">
            <a:extLst xmlns:a="http://schemas.openxmlformats.org/drawingml/2006/main">
              <a:ext uri="{FF2B5EF4-FFF2-40B4-BE49-F238E27FC236}">
                <a16:creationId xmlns:a16="http://schemas.microsoft.com/office/drawing/2014/main" id="{D2E3A333-610B-4402-B809-E617F6C8A7F5}"/>
              </a:ext>
            </a:extLst>
          </p:cNvPr>
          <p:cNvSpPr>
            <a:spLocks xmlns:a="http://schemas.openxmlformats.org/drawingml/2006/main" noGrp="1"/>
          </p:cNvSpPr>
          <p:nvPr/>
        </p:nvSpPr>
        <p:spPr>
          <a:xfrm xmlns:a="http://schemas.openxmlformats.org/drawingml/2006/main">
            <a:off x="628650" y="134302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B5A5"/>
                </a:solidFill>
                <a:latin typeface="Arial"/>
                <a:ea typeface="Arial"/>
                <a:cs typeface="Arial"/>
              </a:defRPr>
            </a:pPr>
            <a:r>
              <a:rPr sz="1200" b="0">
                <a:solidFill>
                  <a:srgbClr val="A9B5A5"/>
                </a:solidFill>
                <a:latin typeface="Arial"/>
                <a:ea typeface="Arial"/>
                <a:cs typeface="Arial"/>
              </a:rPr>
              <a:t>Bob explains the model-backed result through the Model Context Protocol.</a:t>
            </a:r>
          </a:p>
        </p:txBody>
      </p:sp>
      <p:sp>
        <p:nvSpPr>
          <p:cNvPr id="4" name="">
            <a:extLst xmlns:a="http://schemas.openxmlformats.org/drawingml/2006/main">
              <a:ext uri="{FF2B5EF4-FFF2-40B4-BE49-F238E27FC236}">
                <a16:creationId xmlns:a16="http://schemas.microsoft.com/office/drawing/2014/main" id="{A7BC8305-C93F-4879-B210-9632A5F3BF31}"/>
              </a:ext>
            </a:extLst>
          </p:cNvPr>
          <p:cNvSpPr>
            <a:spLocks xmlns:a="http://schemas.openxmlformats.org/drawingml/2006/main" noGrp="1"/>
          </p:cNvSpPr>
          <p:nvPr/>
        </p:nvSpPr>
        <p:spPr>
          <a:xfrm xmlns:a="http://schemas.openxmlformats.org/drawingml/2006/main">
            <a:off x="609600" y="6419850"/>
            <a:ext cx="457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A9B5A5"/>
                </a:solidFill>
                <a:latin typeface="Arial"/>
                <a:ea typeface="Arial"/>
                <a:cs typeface="Arial"/>
              </a:defRPr>
            </a:pPr>
            <a:r>
              <a:rPr sz="825" b="1">
                <a:solidFill>
                  <a:srgbClr val="A9B5A5"/>
                </a:solidFill>
                <a:latin typeface="Arial"/>
                <a:ea typeface="Arial"/>
                <a:cs typeface="Arial"/>
              </a:rPr>
              <a:t>GRIDWATCH / U1</a:t>
            </a:r>
          </a:p>
        </p:txBody>
      </p:sp>
      <p:sp>
        <p:nvSpPr>
          <p:cNvPr id="5" name="">
            <a:extLst xmlns:a="http://schemas.openxmlformats.org/drawingml/2006/main">
              <a:ext uri="{FF2B5EF4-FFF2-40B4-BE49-F238E27FC236}">
                <a16:creationId xmlns:a16="http://schemas.microsoft.com/office/drawing/2014/main" id="{444E114C-C8D7-4C09-B390-DBEF44CFD311}"/>
              </a:ext>
            </a:extLst>
          </p:cNvPr>
          <p:cNvSpPr>
            <a:spLocks xmlns:a="http://schemas.openxmlformats.org/drawingml/2006/main" noGrp="1"/>
          </p:cNvSpPr>
          <p:nvPr/>
        </p:nvSpPr>
        <p:spPr>
          <a:xfrm xmlns:a="http://schemas.openxmlformats.org/drawingml/2006/main">
            <a:off x="11239500" y="6419850"/>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15023D14-924B-4912-85B0-27404FFA3C03}"/>
              </a:ext>
            </a:extLst>
          </p:cNvPr>
          <p:cNvSpPr>
            <a:spLocks xmlns:a="http://schemas.openxmlformats.org/drawingml/2006/main" noGrp="1"/>
          </p:cNvSpPr>
          <p:nvPr/>
        </p:nvSpPr>
        <p:spPr>
          <a:xfrm xmlns:a="http://schemas.openxmlformats.org/drawingml/2006/main">
            <a:off x="609600" y="2066925"/>
            <a:ext cx="5048250" cy="3476625"/>
          </a:xfrm>
          <a:prstGeom xmlns:a="http://schemas.openxmlformats.org/drawingml/2006/main" prst="roundRect">
            <a:avLst>
              <a:gd name="adj" fmla="val 3288"/>
            </a:avLst>
          </a:prstGeom>
          <a:solidFill xmlns:a="http://schemas.openxmlformats.org/drawingml/2006/main">
            <a:srgbClr val="1E2820"/>
          </a:solidFill>
          <a:ln xmlns:a="http://schemas.openxmlformats.org/drawingml/2006/main" w="9525">
            <a:solidFill>
              <a:srgbClr val="445242"/>
            </a:solidFill>
          </a:ln>
        </p:spPr>
      </p:sp>
      <p:sp>
        <p:nvSpPr>
          <p:cNvPr id="7" name="">
            <a:extLst xmlns:a="http://schemas.openxmlformats.org/drawingml/2006/main">
              <a:ext uri="{FF2B5EF4-FFF2-40B4-BE49-F238E27FC236}">
                <a16:creationId xmlns:a16="http://schemas.microsoft.com/office/drawing/2014/main" id="{4CADBA7B-AA21-425C-99C5-A0825478FA40}"/>
              </a:ext>
            </a:extLst>
          </p:cNvPr>
          <p:cNvSpPr>
            <a:spLocks xmlns:a="http://schemas.openxmlformats.org/drawingml/2006/main" noGrp="1"/>
          </p:cNvSpPr>
          <p:nvPr/>
        </p:nvSpPr>
        <p:spPr>
          <a:xfrm xmlns:a="http://schemas.openxmlformats.org/drawingml/2006/main">
            <a:off x="904875" y="2400300"/>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LOCAL MCP SERVER</a:t>
            </a:r>
          </a:p>
        </p:txBody>
      </p:sp>
      <p:sp>
        <p:nvSpPr>
          <p:cNvPr id="8" name="">
            <a:extLst xmlns:a="http://schemas.openxmlformats.org/drawingml/2006/main">
              <a:ext uri="{FF2B5EF4-FFF2-40B4-BE49-F238E27FC236}">
                <a16:creationId xmlns:a16="http://schemas.microsoft.com/office/drawing/2014/main" id="{3E2CF2BA-7B46-4D56-BF73-9032B38E94AA}"/>
              </a:ext>
            </a:extLst>
          </p:cNvPr>
          <p:cNvSpPr>
            <a:spLocks xmlns:a="http://schemas.openxmlformats.org/drawingml/2006/main" noGrp="1"/>
          </p:cNvSpPr>
          <p:nvPr/>
        </p:nvSpPr>
        <p:spPr>
          <a:xfrm xmlns:a="http://schemas.openxmlformats.org/drawingml/2006/main">
            <a:off x="904875" y="277177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F3F6EF"/>
                </a:solidFill>
                <a:latin typeface="Arial"/>
                <a:ea typeface="Arial"/>
                <a:cs typeface="Arial"/>
              </a:defRPr>
            </a:pPr>
            <a:r>
              <a:rPr sz="2250" b="1">
                <a:solidFill>
                  <a:srgbClr val="F3F6EF"/>
                </a:solidFill>
                <a:latin typeface="Arial"/>
                <a:ea typeface="Arial"/>
                <a:cs typeface="Arial"/>
              </a:rPr>
              <a:t>GridWatch tools</a:t>
            </a:r>
          </a:p>
        </p:txBody>
      </p:sp>
      <p:sp>
        <p:nvSpPr>
          <p:cNvPr id="9" name="">
            <a:extLst xmlns:a="http://schemas.openxmlformats.org/drawingml/2006/main">
              <a:ext uri="{FF2B5EF4-FFF2-40B4-BE49-F238E27FC236}">
                <a16:creationId xmlns:a16="http://schemas.microsoft.com/office/drawing/2014/main" id="{0D8D7E44-2D72-4814-98EA-CC94DDE6ABE4}"/>
              </a:ext>
            </a:extLst>
          </p:cNvPr>
          <p:cNvSpPr>
            <a:spLocks xmlns:a="http://schemas.openxmlformats.org/drawingml/2006/main" noGrp="1"/>
          </p:cNvSpPr>
          <p:nvPr/>
        </p:nvSpPr>
        <p:spPr>
          <a:xfrm xmlns:a="http://schemas.openxmlformats.org/drawingml/2006/main">
            <a:off x="904875" y="34766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CDEB85"/>
                </a:solidFill>
                <a:latin typeface="Arial"/>
                <a:ea typeface="Arial"/>
                <a:cs typeface="Arial"/>
              </a:defRPr>
            </a:pPr>
            <a:r>
              <a:rPr sz="1425" b="1">
                <a:solidFill>
                  <a:srgbClr val="CDEB85"/>
                </a:solidFill>
                <a:latin typeface="Arial"/>
                <a:ea typeface="Arial"/>
                <a:cs typeface="Arial"/>
              </a:rPr>
              <a:t>assess_grid_risk</a:t>
            </a:r>
          </a:p>
        </p:txBody>
      </p:sp>
      <p:sp>
        <p:nvSpPr>
          <p:cNvPr id="10" name="">
            <a:extLst xmlns:a="http://schemas.openxmlformats.org/drawingml/2006/main">
              <a:ext uri="{FF2B5EF4-FFF2-40B4-BE49-F238E27FC236}">
                <a16:creationId xmlns:a16="http://schemas.microsoft.com/office/drawing/2014/main" id="{8EFEC49C-90F6-46AA-A068-192028E12A13}"/>
              </a:ext>
            </a:extLst>
          </p:cNvPr>
          <p:cNvSpPr>
            <a:spLocks xmlns:a="http://schemas.openxmlformats.org/drawingml/2006/main" noGrp="1"/>
          </p:cNvSpPr>
          <p:nvPr/>
        </p:nvSpPr>
        <p:spPr>
          <a:xfrm xmlns:a="http://schemas.openxmlformats.org/drawingml/2006/main">
            <a:off x="904875" y="3781425"/>
            <a:ext cx="333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9B5A5"/>
                </a:solidFill>
                <a:latin typeface="Arial"/>
                <a:ea typeface="Arial"/>
                <a:cs typeface="Arial"/>
              </a:defRPr>
            </a:pPr>
            <a:r>
              <a:rPr sz="1050" b="0">
                <a:solidFill>
                  <a:srgbClr val="A9B5A5"/>
                </a:solidFill>
                <a:latin typeface="Arial"/>
                <a:ea typeface="Arial"/>
                <a:cs typeface="Arial"/>
              </a:rPr>
              <a:t>Probabilities · evidence · crew plan</a:t>
            </a:r>
          </a:p>
        </p:txBody>
      </p:sp>
      <p:sp>
        <p:nvSpPr>
          <p:cNvPr id="11" name="">
            <a:extLst xmlns:a="http://schemas.openxmlformats.org/drawingml/2006/main">
              <a:ext uri="{FF2B5EF4-FFF2-40B4-BE49-F238E27FC236}">
                <a16:creationId xmlns:a16="http://schemas.microsoft.com/office/drawing/2014/main" id="{60C63EEE-BDCC-49C8-BF10-227856196648}"/>
              </a:ext>
            </a:extLst>
          </p:cNvPr>
          <p:cNvSpPr>
            <a:spLocks xmlns:a="http://schemas.openxmlformats.org/drawingml/2006/main" noGrp="1"/>
          </p:cNvSpPr>
          <p:nvPr/>
        </p:nvSpPr>
        <p:spPr>
          <a:xfrm xmlns:a="http://schemas.openxmlformats.org/drawingml/2006/main">
            <a:off x="904875" y="4343400"/>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CDEB85"/>
                </a:solidFill>
                <a:latin typeface="Arial"/>
                <a:ea typeface="Arial"/>
                <a:cs typeface="Arial"/>
              </a:defRPr>
            </a:pPr>
            <a:r>
              <a:rPr sz="1425" b="1">
                <a:solidFill>
                  <a:srgbClr val="CDEB85"/>
                </a:solidFill>
                <a:latin typeface="Arial"/>
                <a:ea typeface="Arial"/>
                <a:cs typeface="Arial"/>
              </a:rPr>
              <a:t>get_model_evaluation</a:t>
            </a:r>
          </a:p>
        </p:txBody>
      </p:sp>
      <p:sp>
        <p:nvSpPr>
          <p:cNvPr id="12" name="">
            <a:extLst xmlns:a="http://schemas.openxmlformats.org/drawingml/2006/main">
              <a:ext uri="{FF2B5EF4-FFF2-40B4-BE49-F238E27FC236}">
                <a16:creationId xmlns:a16="http://schemas.microsoft.com/office/drawing/2014/main" id="{E803581E-C20A-445C-8B36-ABA97DF212BE}"/>
              </a:ext>
            </a:extLst>
          </p:cNvPr>
          <p:cNvSpPr>
            <a:spLocks xmlns:a="http://schemas.openxmlformats.org/drawingml/2006/main" noGrp="1"/>
          </p:cNvSpPr>
          <p:nvPr/>
        </p:nvSpPr>
        <p:spPr>
          <a:xfrm xmlns:a="http://schemas.openxmlformats.org/drawingml/2006/main">
            <a:off x="904875" y="4648200"/>
            <a:ext cx="3524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9B5A5"/>
                </a:solidFill>
                <a:latin typeface="Arial"/>
                <a:ea typeface="Arial"/>
                <a:cs typeface="Arial"/>
              </a:defRPr>
            </a:pPr>
            <a:r>
              <a:rPr sz="1050" b="0">
                <a:solidFill>
                  <a:srgbClr val="A9B5A5"/>
                </a:solidFill>
                <a:latin typeface="Arial"/>
                <a:ea typeface="Arial"/>
                <a:cs typeface="Arial"/>
              </a:rPr>
              <a:t>Holdout metrics · provenance · limits</a:t>
            </a:r>
          </a:p>
        </p:txBody>
      </p:sp>
      <p:sp>
        <p:nvSpPr>
          <p:cNvPr id="13" name="">
            <a:extLst xmlns:a="http://schemas.openxmlformats.org/drawingml/2006/main">
              <a:ext uri="{FF2B5EF4-FFF2-40B4-BE49-F238E27FC236}">
                <a16:creationId xmlns:a16="http://schemas.microsoft.com/office/drawing/2014/main" id="{EDFB2BAB-7038-4250-B3E6-364ACCD0BCE7}"/>
              </a:ext>
            </a:extLst>
          </p:cNvPr>
          <p:cNvSpPr>
            <a:spLocks xmlns:a="http://schemas.openxmlformats.org/drawingml/2006/main" noGrp="1"/>
          </p:cNvSpPr>
          <p:nvPr/>
        </p:nvSpPr>
        <p:spPr>
          <a:xfrm xmlns:a="http://schemas.openxmlformats.org/drawingml/2006/main">
            <a:off x="6858000" y="2381250"/>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F3F6EF"/>
                </a:solidFill>
                <a:latin typeface="Arial"/>
                <a:ea typeface="Arial"/>
                <a:cs typeface="Arial"/>
              </a:defRPr>
            </a:pPr>
            <a:r>
              <a:rPr sz="2400" b="1">
                <a:solidFill>
                  <a:srgbClr val="F3F6EF"/>
                </a:solidFill>
                <a:latin typeface="Arial"/>
                <a:ea typeface="Arial"/>
                <a:cs typeface="Arial"/>
              </a:rPr>
              <a:t>IBM Bob</a:t>
            </a:r>
          </a:p>
        </p:txBody>
      </p:sp>
      <p:sp>
        <p:nvSpPr>
          <p:cNvPr id="14" name="">
            <a:extLst xmlns:a="http://schemas.openxmlformats.org/drawingml/2006/main">
              <a:ext uri="{FF2B5EF4-FFF2-40B4-BE49-F238E27FC236}">
                <a16:creationId xmlns:a16="http://schemas.microsoft.com/office/drawing/2014/main" id="{A576FEE7-4F32-40F3-A8B1-184242975378}"/>
              </a:ext>
            </a:extLst>
          </p:cNvPr>
          <p:cNvSpPr>
            <a:spLocks xmlns:a="http://schemas.openxmlformats.org/drawingml/2006/main" noGrp="1"/>
          </p:cNvSpPr>
          <p:nvPr/>
        </p:nvSpPr>
        <p:spPr>
          <a:xfrm xmlns:a="http://schemas.openxmlformats.org/drawingml/2006/main">
            <a:off x="6048375" y="33528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CDEB85"/>
                </a:solidFill>
                <a:latin typeface="Arial"/>
                <a:ea typeface="Arial"/>
                <a:cs typeface="Arial"/>
              </a:defRPr>
            </a:pPr>
            <a:r>
              <a:rPr sz="2100" b="1">
                <a:solidFill>
                  <a:srgbClr val="CDEB85"/>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A89BDE1F-490A-41C3-9D0A-76F8D1D154D0}"/>
              </a:ext>
            </a:extLst>
          </p:cNvPr>
          <p:cNvSpPr>
            <a:spLocks xmlns:a="http://schemas.openxmlformats.org/drawingml/2006/main" noGrp="1"/>
          </p:cNvSpPr>
          <p:nvPr/>
        </p:nvSpPr>
        <p:spPr>
          <a:xfrm xmlns:a="http://schemas.openxmlformats.org/drawingml/2006/main">
            <a:off x="6858000" y="3009900"/>
            <a:ext cx="4143375" cy="1447800"/>
          </a:xfrm>
          <a:prstGeom xmlns:a="http://schemas.openxmlformats.org/drawingml/2006/main" prst="roundRect">
            <a:avLst>
              <a:gd name="adj" fmla="val 7895"/>
            </a:avLst>
          </a:prstGeom>
          <a:solidFill xmlns:a="http://schemas.openxmlformats.org/drawingml/2006/main">
            <a:srgbClr val="2C3826"/>
          </a:solidFill>
          <a:ln xmlns:a="http://schemas.openxmlformats.org/drawingml/2006/main" w="9525">
            <a:solidFill>
              <a:srgbClr val="5A7138"/>
            </a:solidFill>
          </a:ln>
        </p:spPr>
      </p:sp>
      <p:sp>
        <p:nvSpPr>
          <p:cNvPr id="16" name="">
            <a:extLst xmlns:a="http://schemas.openxmlformats.org/drawingml/2006/main">
              <a:ext uri="{FF2B5EF4-FFF2-40B4-BE49-F238E27FC236}">
                <a16:creationId xmlns:a16="http://schemas.microsoft.com/office/drawing/2014/main" id="{6E4D9DC4-DD4A-41E7-B0F1-91779A6DE1A8}"/>
              </a:ext>
            </a:extLst>
          </p:cNvPr>
          <p:cNvSpPr>
            <a:spLocks xmlns:a="http://schemas.openxmlformats.org/drawingml/2006/main" noGrp="1"/>
          </p:cNvSpPr>
          <p:nvPr/>
        </p:nvSpPr>
        <p:spPr>
          <a:xfrm xmlns:a="http://schemas.openxmlformats.org/drawingml/2006/main">
            <a:off x="7153275" y="328612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F3F6EF"/>
                </a:solidFill>
                <a:latin typeface="Arial"/>
                <a:ea typeface="Arial"/>
                <a:cs typeface="Arial"/>
              </a:defRPr>
            </a:pPr>
            <a:r>
              <a:rPr sz="1650" b="1">
                <a:solidFill>
                  <a:srgbClr val="F3F6EF"/>
                </a:solidFill>
                <a:latin typeface="Arial"/>
                <a:ea typeface="Arial"/>
                <a:cs typeface="Arial"/>
              </a:rPr>
              <a:t>A grounded operator brief</a:t>
            </a:r>
          </a:p>
        </p:txBody>
      </p:sp>
      <p:sp>
        <p:nvSpPr>
          <p:cNvPr id="17" name="">
            <a:extLst xmlns:a="http://schemas.openxmlformats.org/drawingml/2006/main">
              <a:ext uri="{FF2B5EF4-FFF2-40B4-BE49-F238E27FC236}">
                <a16:creationId xmlns:a16="http://schemas.microsoft.com/office/drawing/2014/main" id="{2CFD9BAE-5056-41F5-AB21-385E06E1B8F5}"/>
              </a:ext>
            </a:extLst>
          </p:cNvPr>
          <p:cNvSpPr>
            <a:spLocks xmlns:a="http://schemas.openxmlformats.org/drawingml/2006/main" noGrp="1"/>
          </p:cNvSpPr>
          <p:nvPr/>
        </p:nvSpPr>
        <p:spPr>
          <a:xfrm xmlns:a="http://schemas.openxmlformats.org/drawingml/2006/main">
            <a:off x="7153275" y="3714750"/>
            <a:ext cx="304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A9B5A5"/>
                </a:solidFill>
                <a:latin typeface="Arial"/>
                <a:ea typeface="Arial"/>
                <a:cs typeface="Arial"/>
              </a:defRPr>
            </a:pPr>
            <a:r>
              <a:rPr sz="1125" b="0">
                <a:solidFill>
                  <a:srgbClr val="A9B5A5"/>
                </a:solidFill>
                <a:latin typeface="Arial"/>
                <a:ea typeface="Arial"/>
                <a:cs typeface="Arial"/>
              </a:rPr>
              <a:t>Top priorities</a:t>
            </a:r>
          </a:p>
          <a:p xmlns:a="http://schemas.openxmlformats.org/drawingml/2006/main">
            <a:pPr>
              <a:defRPr sz="1125" b="0">
                <a:solidFill>
                  <a:srgbClr val="A9B5A5"/>
                </a:solidFill>
                <a:latin typeface="Arial"/>
                <a:ea typeface="Arial"/>
                <a:cs typeface="Arial"/>
              </a:defRPr>
            </a:pPr>
            <a:r>
              <a:rPr sz="1125" b="0">
                <a:solidFill>
                  <a:srgbClr val="A9B5A5"/>
                </a:solidFill>
                <a:latin typeface="Arial"/>
                <a:ea typeface="Arial"/>
                <a:cs typeface="Arial"/>
              </a:rPr>
              <a:t>Why they are high risk</a:t>
            </a:r>
          </a:p>
          <a:p xmlns:a="http://schemas.openxmlformats.org/drawingml/2006/main">
            <a:pPr>
              <a:defRPr sz="1125" b="0">
                <a:solidFill>
                  <a:srgbClr val="A9B5A5"/>
                </a:solidFill>
                <a:latin typeface="Arial"/>
                <a:ea typeface="Arial"/>
                <a:cs typeface="Arial"/>
              </a:defRPr>
            </a:pPr>
            <a:r>
              <a:rPr sz="1125" b="0">
                <a:solidFill>
                  <a:srgbClr val="A9B5A5"/>
                </a:solidFill>
                <a:latin typeface="Arial"/>
                <a:ea typeface="Arial"/>
                <a:cs typeface="Arial"/>
              </a:rPr>
              <a:t>Which crews are available</a:t>
            </a:r>
          </a:p>
          <a:p xmlns:a="http://schemas.openxmlformats.org/drawingml/2006/main">
            <a:pPr>
              <a:defRPr sz="1125" b="0">
                <a:solidFill>
                  <a:srgbClr val="A9B5A5"/>
                </a:solidFill>
                <a:latin typeface="Arial"/>
                <a:ea typeface="Arial"/>
                <a:cs typeface="Arial"/>
              </a:defRPr>
            </a:pPr>
            <a:r>
              <a:rPr sz="1125" b="0">
                <a:solidFill>
                  <a:srgbClr val="A9B5A5"/>
                </a:solidFill>
                <a:latin typeface="Arial"/>
                <a:ea typeface="Arial"/>
                <a:cs typeface="Arial"/>
              </a:rPr>
              <a:t>What remains unassigned</a:t>
            </a:r>
          </a:p>
        </p:txBody>
      </p:sp>
      <p:sp>
        <p:nvSpPr>
          <p:cNvPr id="18" name="">
            <a:extLst xmlns:a="http://schemas.openxmlformats.org/drawingml/2006/main">
              <a:ext uri="{FF2B5EF4-FFF2-40B4-BE49-F238E27FC236}">
                <a16:creationId xmlns:a16="http://schemas.microsoft.com/office/drawing/2014/main" id="{1C23F85B-C07F-4BF4-B8C9-5F30CCECB03F}"/>
              </a:ext>
            </a:extLst>
          </p:cNvPr>
          <p:cNvSpPr>
            <a:spLocks xmlns:a="http://schemas.openxmlformats.org/drawingml/2006/main" noGrp="1"/>
          </p:cNvSpPr>
          <p:nvPr/>
        </p:nvSpPr>
        <p:spPr>
          <a:xfrm xmlns:a="http://schemas.openxmlformats.org/drawingml/2006/main">
            <a:off x="6858000" y="4924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A9B5A5"/>
                </a:solidFill>
                <a:latin typeface="Arial"/>
                <a:ea typeface="Arial"/>
                <a:cs typeface="Arial"/>
              </a:defRPr>
            </a:pPr>
            <a:r>
              <a:rPr sz="975" b="0">
                <a:solidFill>
                  <a:srgbClr val="A9B5A5"/>
                </a:solidFill>
                <a:latin typeface="Arial"/>
                <a:ea typeface="Arial"/>
                <a:cs typeface="Arial"/>
              </a:rPr>
              <a:t>MCP handshake + both tool calls passed protocol tests.</a:t>
            </a:r>
          </a:p>
        </p:txBody>
      </p:sp>
    </p:spTree>
    <p:extLst>
      <p:ext uri="{BB962C8B-B14F-4D97-AF65-F5344CB8AC3E}">
        <p14:creationId xmlns:p14="http://schemas.microsoft.com/office/powerpoint/2010/main" val="367359508"/>
      </p:ext>
    </p:extLst>
  </p:cSld>
</p:sld>
</file>

<file path=ppt/slides/slide7.xml><?xml version="1.0" encoding="utf-8"?>
<p:sld xmlns:p="http://schemas.openxmlformats.org/presentationml/2006/main">
  <p:cSld>
    <p:bg>
      <p:bgPr>
        <a:solidFill xmlns:a="http://schemas.openxmlformats.org/drawingml/2006/main">
          <a:srgbClr val="111713"/>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0C4C979-9ACF-4DD9-A462-55FFBD4533BA}"/>
              </a:ext>
            </a:extLst>
          </p:cNvPr>
          <p:cNvSpPr>
            <a:spLocks xmlns:a="http://schemas.openxmlformats.org/drawingml/2006/main" noGrp="1"/>
          </p:cNvSpPr>
          <p:nvPr/>
        </p:nvSpPr>
        <p:spPr>
          <a:xfrm xmlns:a="http://schemas.openxmlformats.org/drawingml/2006/main">
            <a:off x="609600" y="3619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IBM BOBATHON 2026</a:t>
            </a:r>
          </a:p>
        </p:txBody>
      </p:sp>
      <p:sp>
        <p:nvSpPr>
          <p:cNvPr id="2" name="">
            <a:extLst xmlns:a="http://schemas.openxmlformats.org/drawingml/2006/main">
              <a:ext uri="{FF2B5EF4-FFF2-40B4-BE49-F238E27FC236}">
                <a16:creationId xmlns:a16="http://schemas.microsoft.com/office/drawing/2014/main" id="{92249D0B-FB9F-4F01-91F3-C1BECF9F3C56}"/>
              </a:ext>
            </a:extLst>
          </p:cNvPr>
          <p:cNvSpPr>
            <a:spLocks xmlns:a="http://schemas.openxmlformats.org/drawingml/2006/main" noGrp="1"/>
          </p:cNvSpPr>
          <p:nvPr/>
        </p:nvSpPr>
        <p:spPr>
          <a:xfrm xmlns:a="http://schemas.openxmlformats.org/drawingml/2006/main">
            <a:off x="609600" y="7048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3F6EF"/>
                </a:solidFill>
                <a:latin typeface="Arial"/>
                <a:ea typeface="Arial"/>
                <a:cs typeface="Arial"/>
              </a:defRPr>
            </a:pPr>
            <a:r>
              <a:rPr sz="3150" b="1">
                <a:solidFill>
                  <a:srgbClr val="F3F6EF"/>
                </a:solidFill>
                <a:latin typeface="Arial"/>
                <a:ea typeface="Arial"/>
                <a:cs typeface="Arial"/>
              </a:rPr>
              <a:t>Results and impact</a:t>
            </a:r>
          </a:p>
        </p:txBody>
      </p:sp>
      <p:sp>
        <p:nvSpPr>
          <p:cNvPr id="3" name="">
            <a:extLst xmlns:a="http://schemas.openxmlformats.org/drawingml/2006/main">
              <a:ext uri="{FF2B5EF4-FFF2-40B4-BE49-F238E27FC236}">
                <a16:creationId xmlns:a16="http://schemas.microsoft.com/office/drawing/2014/main" id="{52A15706-8FFA-4C9C-908D-FEC817CF5F26}"/>
              </a:ext>
            </a:extLst>
          </p:cNvPr>
          <p:cNvSpPr>
            <a:spLocks xmlns:a="http://schemas.openxmlformats.org/drawingml/2006/main" noGrp="1"/>
          </p:cNvSpPr>
          <p:nvPr/>
        </p:nvSpPr>
        <p:spPr>
          <a:xfrm xmlns:a="http://schemas.openxmlformats.org/drawingml/2006/main">
            <a:off x="628650" y="134302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B5A5"/>
                </a:solidFill>
                <a:latin typeface="Arial"/>
                <a:ea typeface="Arial"/>
                <a:cs typeface="Arial"/>
              </a:defRPr>
            </a:pPr>
            <a:r>
              <a:rPr sz="1200" b="0">
                <a:solidFill>
                  <a:srgbClr val="A9B5A5"/>
                </a:solidFill>
                <a:latin typeface="Arial"/>
                <a:ea typeface="Arial"/>
                <a:cs typeface="Arial"/>
              </a:rPr>
              <a:t>Measured evidence, with the boundary between demonstration and deployment kept visible.</a:t>
            </a:r>
          </a:p>
        </p:txBody>
      </p:sp>
      <p:sp>
        <p:nvSpPr>
          <p:cNvPr id="4" name="">
            <a:extLst xmlns:a="http://schemas.openxmlformats.org/drawingml/2006/main">
              <a:ext uri="{FF2B5EF4-FFF2-40B4-BE49-F238E27FC236}">
                <a16:creationId xmlns:a16="http://schemas.microsoft.com/office/drawing/2014/main" id="{55A19AA2-7A9D-429C-B937-10D9308E7D65}"/>
              </a:ext>
            </a:extLst>
          </p:cNvPr>
          <p:cNvSpPr>
            <a:spLocks xmlns:a="http://schemas.openxmlformats.org/drawingml/2006/main" noGrp="1"/>
          </p:cNvSpPr>
          <p:nvPr/>
        </p:nvSpPr>
        <p:spPr>
          <a:xfrm xmlns:a="http://schemas.openxmlformats.org/drawingml/2006/main">
            <a:off x="609600" y="6419850"/>
            <a:ext cx="457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A9B5A5"/>
                </a:solidFill>
                <a:latin typeface="Arial"/>
                <a:ea typeface="Arial"/>
                <a:cs typeface="Arial"/>
              </a:defRPr>
            </a:pPr>
            <a:r>
              <a:rPr sz="825" b="1">
                <a:solidFill>
                  <a:srgbClr val="A9B5A5"/>
                </a:solidFill>
                <a:latin typeface="Arial"/>
                <a:ea typeface="Arial"/>
                <a:cs typeface="Arial"/>
              </a:rPr>
              <a:t>GRIDWATCH / U1</a:t>
            </a:r>
          </a:p>
        </p:txBody>
      </p:sp>
      <p:sp>
        <p:nvSpPr>
          <p:cNvPr id="5" name="">
            <a:extLst xmlns:a="http://schemas.openxmlformats.org/drawingml/2006/main">
              <a:ext uri="{FF2B5EF4-FFF2-40B4-BE49-F238E27FC236}">
                <a16:creationId xmlns:a16="http://schemas.microsoft.com/office/drawing/2014/main" id="{C95ECAF7-4704-4930-87C6-0B1B28AE3229}"/>
              </a:ext>
            </a:extLst>
          </p:cNvPr>
          <p:cNvSpPr>
            <a:spLocks xmlns:a="http://schemas.openxmlformats.org/drawingml/2006/main" noGrp="1"/>
          </p:cNvSpPr>
          <p:nvPr/>
        </p:nvSpPr>
        <p:spPr>
          <a:xfrm xmlns:a="http://schemas.openxmlformats.org/drawingml/2006/main">
            <a:off x="11239500" y="6419850"/>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07</a:t>
            </a:r>
          </a:p>
        </p:txBody>
      </p:sp>
      <p:sp>
        <p:nvSpPr>
          <p:cNvPr id="6" name="">
            <a:extLst xmlns:a="http://schemas.openxmlformats.org/drawingml/2006/main">
              <a:ext uri="{FF2B5EF4-FFF2-40B4-BE49-F238E27FC236}">
                <a16:creationId xmlns:a16="http://schemas.microsoft.com/office/drawing/2014/main" id="{E595DCF5-7203-41C6-BF39-A04E663C0F5E}"/>
              </a:ext>
            </a:extLst>
          </p:cNvPr>
          <p:cNvSpPr>
            <a:spLocks xmlns:a="http://schemas.openxmlformats.org/drawingml/2006/main" noGrp="1"/>
          </p:cNvSpPr>
          <p:nvPr/>
        </p:nvSpPr>
        <p:spPr>
          <a:xfrm xmlns:a="http://schemas.openxmlformats.org/drawingml/2006/main">
            <a:off x="609600" y="2057400"/>
            <a:ext cx="3333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REAL TEMPERATURE FORECAST</a:t>
            </a:r>
          </a:p>
        </p:txBody>
      </p:sp>
      <p:sp>
        <p:nvSpPr>
          <p:cNvPr id="7" name="">
            <a:extLst xmlns:a="http://schemas.openxmlformats.org/drawingml/2006/main">
              <a:ext uri="{FF2B5EF4-FFF2-40B4-BE49-F238E27FC236}">
                <a16:creationId xmlns:a16="http://schemas.microsoft.com/office/drawing/2014/main" id="{49CC060D-3368-446E-A5B8-EA645CB46982}"/>
              </a:ext>
            </a:extLst>
          </p:cNvPr>
          <p:cNvSpPr>
            <a:spLocks xmlns:a="http://schemas.openxmlformats.org/drawingml/2006/main" noGrp="1"/>
          </p:cNvSpPr>
          <p:nvPr/>
        </p:nvSpPr>
        <p:spPr>
          <a:xfrm xmlns:a="http://schemas.openxmlformats.org/drawingml/2006/main">
            <a:off x="609600" y="241935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6EF"/>
                </a:solidFill>
                <a:latin typeface="Arial"/>
                <a:ea typeface="Arial"/>
                <a:cs typeface="Arial"/>
              </a:defRPr>
            </a:pPr>
            <a:r>
              <a:rPr sz="3600" b="1">
                <a:solidFill>
                  <a:srgbClr val="F3F6EF"/>
                </a:solidFill>
                <a:latin typeface="Arial"/>
                <a:ea typeface="Arial"/>
                <a:cs typeface="Arial"/>
              </a:rPr>
              <a:t>1.63°C</a:t>
            </a:r>
          </a:p>
        </p:txBody>
      </p:sp>
      <p:sp>
        <p:nvSpPr>
          <p:cNvPr id="8" name="">
            <a:extLst xmlns:a="http://schemas.openxmlformats.org/drawingml/2006/main">
              <a:ext uri="{FF2B5EF4-FFF2-40B4-BE49-F238E27FC236}">
                <a16:creationId xmlns:a16="http://schemas.microsoft.com/office/drawing/2014/main" id="{ED00DC0B-030E-43DE-970D-7862512BB699}"/>
              </a:ext>
            </a:extLst>
          </p:cNvPr>
          <p:cNvSpPr>
            <a:spLocks xmlns:a="http://schemas.openxmlformats.org/drawingml/2006/main" noGrp="1"/>
          </p:cNvSpPr>
          <p:nvPr/>
        </p:nvSpPr>
        <p:spPr>
          <a:xfrm xmlns:a="http://schemas.openxmlformats.org/drawingml/2006/main">
            <a:off x="628650" y="299085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9B5A5"/>
                </a:solidFill>
                <a:latin typeface="Arial"/>
                <a:ea typeface="Arial"/>
                <a:cs typeface="Arial"/>
              </a:defRPr>
            </a:pPr>
            <a:r>
              <a:rPr sz="1050" b="0">
                <a:solidFill>
                  <a:srgbClr val="A9B5A5"/>
                </a:solidFill>
                <a:latin typeface="Arial"/>
                <a:ea typeface="Arial"/>
                <a:cs typeface="Arial"/>
              </a:rPr>
              <a:t>test MAE  ·  Ridge Regression</a:t>
            </a:r>
          </a:p>
        </p:txBody>
      </p:sp>
      <p:sp>
        <p:nvSpPr>
          <p:cNvPr id="9" name="">
            <a:extLst xmlns:a="http://schemas.openxmlformats.org/drawingml/2006/main">
              <a:ext uri="{FF2B5EF4-FFF2-40B4-BE49-F238E27FC236}">
                <a16:creationId xmlns:a16="http://schemas.microsoft.com/office/drawing/2014/main" id="{854E2AC8-5664-4B69-8C21-8B17E8C647C3}"/>
              </a:ext>
            </a:extLst>
          </p:cNvPr>
          <p:cNvSpPr>
            <a:spLocks xmlns:a="http://schemas.openxmlformats.org/drawingml/2006/main" noGrp="1"/>
          </p:cNvSpPr>
          <p:nvPr/>
        </p:nvSpPr>
        <p:spPr>
          <a:xfrm xmlns:a="http://schemas.openxmlformats.org/drawingml/2006/main">
            <a:off x="628650" y="3295650"/>
            <a:ext cx="314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F3F6EF"/>
                </a:solidFill>
                <a:latin typeface="Arial"/>
                <a:ea typeface="Arial"/>
                <a:cs typeface="Arial"/>
              </a:defRPr>
            </a:pPr>
            <a:r>
              <a:rPr sz="1200" b="0">
                <a:solidFill>
                  <a:srgbClr val="F3F6EF"/>
                </a:solidFill>
                <a:latin typeface="Arial"/>
                <a:ea typeface="Arial"/>
                <a:cs typeface="Arial"/>
              </a:rPr>
              <a:t>vs 1.71°C persistence baseline</a:t>
            </a:r>
          </a:p>
        </p:txBody>
      </p:sp>
      <p:sp>
        <p:nvSpPr>
          <p:cNvPr id="10" name="">
            <a:extLst xmlns:a="http://schemas.openxmlformats.org/drawingml/2006/main">
              <a:ext uri="{FF2B5EF4-FFF2-40B4-BE49-F238E27FC236}">
                <a16:creationId xmlns:a16="http://schemas.microsoft.com/office/drawing/2014/main" id="{FA9516E7-1116-477C-8FC0-89F1BC0D4889}"/>
              </a:ext>
            </a:extLst>
          </p:cNvPr>
          <p:cNvSpPr>
            <a:spLocks xmlns:a="http://schemas.openxmlformats.org/drawingml/2006/main" noGrp="1"/>
          </p:cNvSpPr>
          <p:nvPr/>
        </p:nvSpPr>
        <p:spPr>
          <a:xfrm xmlns:a="http://schemas.openxmlformats.org/drawingml/2006/main">
            <a:off x="609600" y="3905250"/>
            <a:ext cx="3333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SYNTHETIC FAILURE CLASSIFIER</a:t>
            </a:r>
          </a:p>
        </p:txBody>
      </p:sp>
      <p:sp>
        <p:nvSpPr>
          <p:cNvPr id="11" name="">
            <a:extLst xmlns:a="http://schemas.openxmlformats.org/drawingml/2006/main">
              <a:ext uri="{FF2B5EF4-FFF2-40B4-BE49-F238E27FC236}">
                <a16:creationId xmlns:a16="http://schemas.microsoft.com/office/drawing/2014/main" id="{A3625760-E6D9-4033-A88F-B99BAEC3FBA5}"/>
              </a:ext>
            </a:extLst>
          </p:cNvPr>
          <p:cNvSpPr>
            <a:spLocks xmlns:a="http://schemas.openxmlformats.org/drawingml/2006/main" noGrp="1"/>
          </p:cNvSpPr>
          <p:nvPr/>
        </p:nvSpPr>
        <p:spPr>
          <a:xfrm xmlns:a="http://schemas.openxmlformats.org/drawingml/2006/main">
            <a:off x="609600" y="4276725"/>
            <a:ext cx="257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6EF"/>
                </a:solidFill>
                <a:latin typeface="Arial"/>
                <a:ea typeface="Arial"/>
                <a:cs typeface="Arial"/>
              </a:defRPr>
            </a:pPr>
            <a:r>
              <a:rPr sz="3600" b="1">
                <a:solidFill>
                  <a:srgbClr val="F3F6EF"/>
                </a:solidFill>
                <a:latin typeface="Arial"/>
                <a:ea typeface="Arial"/>
                <a:cs typeface="Arial"/>
              </a:rPr>
              <a:t>72.03%</a:t>
            </a:r>
          </a:p>
        </p:txBody>
      </p:sp>
      <p:sp>
        <p:nvSpPr>
          <p:cNvPr id="12" name="">
            <a:extLst xmlns:a="http://schemas.openxmlformats.org/drawingml/2006/main">
              <a:ext uri="{FF2B5EF4-FFF2-40B4-BE49-F238E27FC236}">
                <a16:creationId xmlns:a16="http://schemas.microsoft.com/office/drawing/2014/main" id="{D2432EEB-61FD-488E-AC1E-251627E63022}"/>
              </a:ext>
            </a:extLst>
          </p:cNvPr>
          <p:cNvSpPr>
            <a:spLocks xmlns:a="http://schemas.openxmlformats.org/drawingml/2006/main" noGrp="1"/>
          </p:cNvSpPr>
          <p:nvPr/>
        </p:nvSpPr>
        <p:spPr>
          <a:xfrm xmlns:a="http://schemas.openxmlformats.org/drawingml/2006/main">
            <a:off x="628650" y="4848225"/>
            <a:ext cx="3333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9B5A5"/>
                </a:solidFill>
                <a:latin typeface="Arial"/>
                <a:ea typeface="Arial"/>
                <a:cs typeface="Arial"/>
              </a:defRPr>
            </a:pPr>
            <a:r>
              <a:rPr sz="1050" b="0">
                <a:solidFill>
                  <a:srgbClr val="A9B5A5"/>
                </a:solidFill>
                <a:latin typeface="Arial"/>
                <a:ea typeface="Arial"/>
                <a:cs typeface="Arial"/>
              </a:rPr>
              <a:t>test accuracy  ·  Logistic Regression</a:t>
            </a:r>
          </a:p>
        </p:txBody>
      </p:sp>
      <p:sp>
        <p:nvSpPr>
          <p:cNvPr id="13" name="">
            <a:extLst xmlns:a="http://schemas.openxmlformats.org/drawingml/2006/main">
              <a:ext uri="{FF2B5EF4-FFF2-40B4-BE49-F238E27FC236}">
                <a16:creationId xmlns:a16="http://schemas.microsoft.com/office/drawing/2014/main" id="{4CA05BE1-EE88-4985-84AE-8C425395F431}"/>
              </a:ext>
            </a:extLst>
          </p:cNvPr>
          <p:cNvSpPr>
            <a:spLocks xmlns:a="http://schemas.openxmlformats.org/drawingml/2006/main" noGrp="1"/>
          </p:cNvSpPr>
          <p:nvPr/>
        </p:nvSpPr>
        <p:spPr>
          <a:xfrm xmlns:a="http://schemas.openxmlformats.org/drawingml/2006/main">
            <a:off x="628650" y="5153025"/>
            <a:ext cx="361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F3F6EF"/>
                </a:solidFill>
                <a:latin typeface="Arial"/>
                <a:ea typeface="Arial"/>
                <a:cs typeface="Arial"/>
              </a:defRPr>
            </a:pPr>
            <a:r>
              <a:rPr sz="1200" b="0">
                <a:solidFill>
                  <a:srgbClr val="F3F6EF"/>
                </a:solidFill>
                <a:latin typeface="Arial"/>
                <a:ea typeface="Arial"/>
                <a:cs typeface="Arial"/>
              </a:rPr>
              <a:t>80.72% recall at the 35% alert threshold</a:t>
            </a:r>
          </a:p>
        </p:txBody>
      </p:sp>
      <p:sp>
        <p:nvSpPr>
          <p:cNvPr id="14" name="">
            <a:extLst xmlns:a="http://schemas.openxmlformats.org/drawingml/2006/main">
              <a:ext uri="{FF2B5EF4-FFF2-40B4-BE49-F238E27FC236}">
                <a16:creationId xmlns:a16="http://schemas.microsoft.com/office/drawing/2014/main" id="{D491A1A8-1E75-4090-991B-C2554727A443}"/>
              </a:ext>
            </a:extLst>
          </p:cNvPr>
          <p:cNvSpPr>
            <a:spLocks xmlns:a="http://schemas.openxmlformats.org/drawingml/2006/main" noGrp="1"/>
          </p:cNvSpPr>
          <p:nvPr/>
        </p:nvSpPr>
        <p:spPr>
          <a:xfrm xmlns:a="http://schemas.openxmlformats.org/drawingml/2006/main">
            <a:off x="5286375" y="2095500"/>
            <a:ext cx="5953125" cy="3143250"/>
          </a:xfrm>
          <a:prstGeom xmlns:a="http://schemas.openxmlformats.org/drawingml/2006/main" prst="roundRect">
            <a:avLst>
              <a:gd name="adj" fmla="val 3636"/>
            </a:avLst>
          </a:prstGeom>
          <a:solidFill xmlns:a="http://schemas.openxmlformats.org/drawingml/2006/main">
            <a:srgbClr val="1E2820"/>
          </a:solidFill>
          <a:ln xmlns:a="http://schemas.openxmlformats.org/drawingml/2006/main" w="9525">
            <a:solidFill>
              <a:srgbClr val="445242"/>
            </a:solidFill>
          </a:ln>
        </p:spPr>
      </p:sp>
      <p:sp>
        <p:nvSpPr>
          <p:cNvPr id="15" name="">
            <a:extLst xmlns:a="http://schemas.openxmlformats.org/drawingml/2006/main">
              <a:ext uri="{FF2B5EF4-FFF2-40B4-BE49-F238E27FC236}">
                <a16:creationId xmlns:a16="http://schemas.microsoft.com/office/drawing/2014/main" id="{EA18A294-D0DC-4BE6-B296-1809C44B5600}"/>
              </a:ext>
            </a:extLst>
          </p:cNvPr>
          <p:cNvSpPr>
            <a:spLocks xmlns:a="http://schemas.openxmlformats.org/drawingml/2006/main" noGrp="1"/>
          </p:cNvSpPr>
          <p:nvPr/>
        </p:nvSpPr>
        <p:spPr>
          <a:xfrm xmlns:a="http://schemas.openxmlformats.org/drawingml/2006/main">
            <a:off x="5572125" y="236220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GRIDWATCH  vs  BASELINE</a:t>
            </a:r>
          </a:p>
        </p:txBody>
      </p:sp>
      <p:sp>
        <p:nvSpPr>
          <p:cNvPr id="16" name="">
            <a:extLst xmlns:a="http://schemas.openxmlformats.org/drawingml/2006/main">
              <a:ext uri="{FF2B5EF4-FFF2-40B4-BE49-F238E27FC236}">
                <a16:creationId xmlns:a16="http://schemas.microsoft.com/office/drawing/2014/main" id="{38382D83-D5CD-4C25-BDC4-5C1290505344}"/>
              </a:ext>
            </a:extLst>
          </p:cNvPr>
          <p:cNvSpPr>
            <a:spLocks xmlns:a="http://schemas.openxmlformats.org/drawingml/2006/main" noGrp="1"/>
          </p:cNvSpPr>
          <p:nvPr/>
        </p:nvSpPr>
        <p:spPr>
          <a:xfrm xmlns:a="http://schemas.openxmlformats.org/drawingml/2006/main">
            <a:off x="5572125" y="2781300"/>
            <a:ext cx="190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9B5A5"/>
                </a:solidFill>
                <a:latin typeface="Arial"/>
                <a:ea typeface="Arial"/>
                <a:cs typeface="Arial"/>
              </a:defRPr>
            </a:pPr>
            <a:r>
              <a:rPr sz="1050" b="0">
                <a:solidFill>
                  <a:srgbClr val="A9B5A5"/>
                </a:solidFill>
                <a:latin typeface="Arial"/>
                <a:ea typeface="Arial"/>
                <a:cs typeface="Arial"/>
              </a:rPr>
              <a:t>Temperature MAE (°C)</a:t>
            </a:r>
          </a:p>
        </p:txBody>
      </p:sp>
      <p:sp>
        <p:nvSpPr>
          <p:cNvPr id="17" name="">
            <a:extLst xmlns:a="http://schemas.openxmlformats.org/drawingml/2006/main">
              <a:ext uri="{FF2B5EF4-FFF2-40B4-BE49-F238E27FC236}">
                <a16:creationId xmlns:a16="http://schemas.microsoft.com/office/drawing/2014/main" id="{9541594D-AD89-41A6-881E-E9C30BE781CB}"/>
              </a:ext>
            </a:extLst>
          </p:cNvPr>
          <p:cNvSpPr>
            <a:spLocks xmlns:a="http://schemas.openxmlformats.org/drawingml/2006/main" noGrp="1"/>
          </p:cNvSpPr>
          <p:nvPr/>
        </p:nvSpPr>
        <p:spPr>
          <a:xfrm xmlns:a="http://schemas.openxmlformats.org/drawingml/2006/main">
            <a:off x="7810500" y="2800350"/>
            <a:ext cx="1619250" cy="190500"/>
          </a:xfrm>
          <a:prstGeom xmlns:a="http://schemas.openxmlformats.org/drawingml/2006/main" prst="roundRect">
            <a:avLst>
              <a:gd name="adj" fmla="val 50000"/>
            </a:avLst>
          </a:prstGeom>
          <a:solidFill xmlns:a="http://schemas.openxmlformats.org/drawingml/2006/main">
            <a:srgbClr val="CDEB85"/>
          </a:solidFill>
          <a:ln xmlns:a="http://schemas.openxmlformats.org/drawingml/2006/main" w="9525">
            <a:solidFill>
              <a:srgbClr val="CDEB85"/>
            </a:solidFill>
          </a:ln>
        </p:spPr>
      </p:sp>
      <p:sp>
        <p:nvSpPr>
          <p:cNvPr id="18" name="">
            <a:extLst xmlns:a="http://schemas.openxmlformats.org/drawingml/2006/main">
              <a:ext uri="{FF2B5EF4-FFF2-40B4-BE49-F238E27FC236}">
                <a16:creationId xmlns:a16="http://schemas.microsoft.com/office/drawing/2014/main" id="{E9BBCF63-7A8F-40FE-B33E-E33C337E83CD}"/>
              </a:ext>
            </a:extLst>
          </p:cNvPr>
          <p:cNvSpPr>
            <a:spLocks xmlns:a="http://schemas.openxmlformats.org/drawingml/2006/main" noGrp="1"/>
          </p:cNvSpPr>
          <p:nvPr/>
        </p:nvSpPr>
        <p:spPr>
          <a:xfrm xmlns:a="http://schemas.openxmlformats.org/drawingml/2006/main">
            <a:off x="7810500" y="3105150"/>
            <a:ext cx="1695450" cy="190500"/>
          </a:xfrm>
          <a:prstGeom xmlns:a="http://schemas.openxmlformats.org/drawingml/2006/main" prst="roundRect">
            <a:avLst>
              <a:gd name="adj" fmla="val 50000"/>
            </a:avLst>
          </a:prstGeom>
          <a:solidFill xmlns:a="http://schemas.openxmlformats.org/drawingml/2006/main">
            <a:srgbClr val="6F7D72"/>
          </a:solidFill>
          <a:ln xmlns:a="http://schemas.openxmlformats.org/drawingml/2006/main" w="9525">
            <a:solidFill>
              <a:srgbClr val="6F7D72"/>
            </a:solidFill>
          </a:ln>
        </p:spPr>
      </p:sp>
      <p:sp>
        <p:nvSpPr>
          <p:cNvPr id="19" name="">
            <a:extLst xmlns:a="http://schemas.openxmlformats.org/drawingml/2006/main">
              <a:ext uri="{FF2B5EF4-FFF2-40B4-BE49-F238E27FC236}">
                <a16:creationId xmlns:a16="http://schemas.microsoft.com/office/drawing/2014/main" id="{62198D19-2AED-4814-839E-CA52C10E509E}"/>
              </a:ext>
            </a:extLst>
          </p:cNvPr>
          <p:cNvSpPr>
            <a:spLocks xmlns:a="http://schemas.openxmlformats.org/drawingml/2006/main" noGrp="1"/>
          </p:cNvSpPr>
          <p:nvPr/>
        </p:nvSpPr>
        <p:spPr>
          <a:xfrm xmlns:a="http://schemas.openxmlformats.org/drawingml/2006/main">
            <a:off x="9620250" y="278130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F3F6EF"/>
                </a:solidFill>
                <a:latin typeface="Arial"/>
                <a:ea typeface="Arial"/>
                <a:cs typeface="Arial"/>
              </a:defRPr>
            </a:pPr>
            <a:r>
              <a:rPr sz="1050" b="1">
                <a:solidFill>
                  <a:srgbClr val="F3F6EF"/>
                </a:solidFill>
                <a:latin typeface="Arial"/>
                <a:ea typeface="Arial"/>
                <a:cs typeface="Arial"/>
              </a:rPr>
              <a:t>1.63</a:t>
            </a:r>
          </a:p>
        </p:txBody>
      </p:sp>
      <p:sp>
        <p:nvSpPr>
          <p:cNvPr id="20" name="">
            <a:extLst xmlns:a="http://schemas.openxmlformats.org/drawingml/2006/main">
              <a:ext uri="{FF2B5EF4-FFF2-40B4-BE49-F238E27FC236}">
                <a16:creationId xmlns:a16="http://schemas.microsoft.com/office/drawing/2014/main" id="{6FCE1F2E-D276-4A89-9137-A8B3E52EEF19}"/>
              </a:ext>
            </a:extLst>
          </p:cNvPr>
          <p:cNvSpPr>
            <a:spLocks xmlns:a="http://schemas.openxmlformats.org/drawingml/2006/main" noGrp="1"/>
          </p:cNvSpPr>
          <p:nvPr/>
        </p:nvSpPr>
        <p:spPr>
          <a:xfrm xmlns:a="http://schemas.openxmlformats.org/drawingml/2006/main">
            <a:off x="9620250" y="308610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F3F6EF"/>
                </a:solidFill>
                <a:latin typeface="Arial"/>
                <a:ea typeface="Arial"/>
                <a:cs typeface="Arial"/>
              </a:defRPr>
            </a:pPr>
            <a:r>
              <a:rPr sz="1050" b="1">
                <a:solidFill>
                  <a:srgbClr val="F3F6EF"/>
                </a:solidFill>
                <a:latin typeface="Arial"/>
                <a:ea typeface="Arial"/>
                <a:cs typeface="Arial"/>
              </a:rPr>
              <a:t>1.71</a:t>
            </a:r>
          </a:p>
        </p:txBody>
      </p:sp>
      <p:sp>
        <p:nvSpPr>
          <p:cNvPr id="21" name="">
            <a:extLst xmlns:a="http://schemas.openxmlformats.org/drawingml/2006/main">
              <a:ext uri="{FF2B5EF4-FFF2-40B4-BE49-F238E27FC236}">
                <a16:creationId xmlns:a16="http://schemas.microsoft.com/office/drawing/2014/main" id="{8E9C7253-1328-4648-80D9-A008A736B897}"/>
              </a:ext>
            </a:extLst>
          </p:cNvPr>
          <p:cNvSpPr>
            <a:spLocks xmlns:a="http://schemas.openxmlformats.org/drawingml/2006/main" noGrp="1"/>
          </p:cNvSpPr>
          <p:nvPr/>
        </p:nvSpPr>
        <p:spPr>
          <a:xfrm xmlns:a="http://schemas.openxmlformats.org/drawingml/2006/main">
            <a:off x="5572125" y="3695700"/>
            <a:ext cx="190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9B5A5"/>
                </a:solidFill>
                <a:latin typeface="Arial"/>
                <a:ea typeface="Arial"/>
                <a:cs typeface="Arial"/>
              </a:defRPr>
            </a:pPr>
            <a:r>
              <a:rPr sz="1050" b="0">
                <a:solidFill>
                  <a:srgbClr val="A9B5A5"/>
                </a:solidFill>
                <a:latin typeface="Arial"/>
                <a:ea typeface="Arial"/>
                <a:cs typeface="Arial"/>
              </a:rPr>
              <a:t>Failure accuracy</a:t>
            </a:r>
          </a:p>
        </p:txBody>
      </p:sp>
      <p:sp>
        <p:nvSpPr>
          <p:cNvPr id="22" name="">
            <a:extLst xmlns:a="http://schemas.openxmlformats.org/drawingml/2006/main">
              <a:ext uri="{FF2B5EF4-FFF2-40B4-BE49-F238E27FC236}">
                <a16:creationId xmlns:a16="http://schemas.microsoft.com/office/drawing/2014/main" id="{71D0B647-FA1B-4CED-9B0A-BDA12E4D3974}"/>
              </a:ext>
            </a:extLst>
          </p:cNvPr>
          <p:cNvSpPr>
            <a:spLocks xmlns:a="http://schemas.openxmlformats.org/drawingml/2006/main" noGrp="1"/>
          </p:cNvSpPr>
          <p:nvPr/>
        </p:nvSpPr>
        <p:spPr>
          <a:xfrm xmlns:a="http://schemas.openxmlformats.org/drawingml/2006/main">
            <a:off x="7810500" y="3714750"/>
            <a:ext cx="3429000" cy="190500"/>
          </a:xfrm>
          <a:prstGeom xmlns:a="http://schemas.openxmlformats.org/drawingml/2006/main" prst="roundRect">
            <a:avLst>
              <a:gd name="adj" fmla="val 50000"/>
            </a:avLst>
          </a:prstGeom>
          <a:solidFill xmlns:a="http://schemas.openxmlformats.org/drawingml/2006/main">
            <a:srgbClr val="CDEB85"/>
          </a:solidFill>
          <a:ln xmlns:a="http://schemas.openxmlformats.org/drawingml/2006/main" w="9525">
            <a:solidFill>
              <a:srgbClr val="CDEB85"/>
            </a:solidFill>
          </a:ln>
        </p:spPr>
      </p:sp>
      <p:sp>
        <p:nvSpPr>
          <p:cNvPr id="23" name="">
            <a:extLst xmlns:a="http://schemas.openxmlformats.org/drawingml/2006/main">
              <a:ext uri="{FF2B5EF4-FFF2-40B4-BE49-F238E27FC236}">
                <a16:creationId xmlns:a16="http://schemas.microsoft.com/office/drawing/2014/main" id="{58FDE862-2FEE-4EE6-818B-F02720AE02A1}"/>
              </a:ext>
            </a:extLst>
          </p:cNvPr>
          <p:cNvSpPr>
            <a:spLocks xmlns:a="http://schemas.openxmlformats.org/drawingml/2006/main" noGrp="1"/>
          </p:cNvSpPr>
          <p:nvPr/>
        </p:nvSpPr>
        <p:spPr>
          <a:xfrm xmlns:a="http://schemas.openxmlformats.org/drawingml/2006/main">
            <a:off x="7810500" y="4019550"/>
            <a:ext cx="2705100" cy="190500"/>
          </a:xfrm>
          <a:prstGeom xmlns:a="http://schemas.openxmlformats.org/drawingml/2006/main" prst="roundRect">
            <a:avLst>
              <a:gd name="adj" fmla="val 50000"/>
            </a:avLst>
          </a:prstGeom>
          <a:solidFill xmlns:a="http://schemas.openxmlformats.org/drawingml/2006/main">
            <a:srgbClr val="6F7D72"/>
          </a:solidFill>
          <a:ln xmlns:a="http://schemas.openxmlformats.org/drawingml/2006/main" w="9525">
            <a:solidFill>
              <a:srgbClr val="6F7D72"/>
            </a:solidFill>
          </a:ln>
        </p:spPr>
      </p:sp>
      <p:sp>
        <p:nvSpPr>
          <p:cNvPr id="24" name="">
            <a:extLst xmlns:a="http://schemas.openxmlformats.org/drawingml/2006/main">
              <a:ext uri="{FF2B5EF4-FFF2-40B4-BE49-F238E27FC236}">
                <a16:creationId xmlns:a16="http://schemas.microsoft.com/office/drawing/2014/main" id="{D051079C-C718-400C-B586-F7496C44CA2E}"/>
              </a:ext>
            </a:extLst>
          </p:cNvPr>
          <p:cNvSpPr>
            <a:spLocks xmlns:a="http://schemas.openxmlformats.org/drawingml/2006/main" noGrp="1"/>
          </p:cNvSpPr>
          <p:nvPr/>
        </p:nvSpPr>
        <p:spPr>
          <a:xfrm xmlns:a="http://schemas.openxmlformats.org/drawingml/2006/main">
            <a:off x="9620250" y="3695700"/>
            <a:ext cx="809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F3F6EF"/>
                </a:solidFill>
                <a:latin typeface="Arial"/>
                <a:ea typeface="Arial"/>
                <a:cs typeface="Arial"/>
              </a:defRPr>
            </a:pPr>
            <a:r>
              <a:rPr sz="1050" b="1">
                <a:solidFill>
                  <a:srgbClr val="F3F6EF"/>
                </a:solidFill>
                <a:latin typeface="Arial"/>
                <a:ea typeface="Arial"/>
                <a:cs typeface="Arial"/>
              </a:rPr>
              <a:t>72.03%</a:t>
            </a:r>
          </a:p>
        </p:txBody>
      </p:sp>
      <p:sp>
        <p:nvSpPr>
          <p:cNvPr id="25" name="">
            <a:extLst xmlns:a="http://schemas.openxmlformats.org/drawingml/2006/main">
              <a:ext uri="{FF2B5EF4-FFF2-40B4-BE49-F238E27FC236}">
                <a16:creationId xmlns:a16="http://schemas.microsoft.com/office/drawing/2014/main" id="{BDEAA9AB-CE1D-445D-8BE9-2D5985745FF6}"/>
              </a:ext>
            </a:extLst>
          </p:cNvPr>
          <p:cNvSpPr>
            <a:spLocks xmlns:a="http://schemas.openxmlformats.org/drawingml/2006/main" noGrp="1"/>
          </p:cNvSpPr>
          <p:nvPr/>
        </p:nvSpPr>
        <p:spPr>
          <a:xfrm xmlns:a="http://schemas.openxmlformats.org/drawingml/2006/main">
            <a:off x="9620250" y="4000500"/>
            <a:ext cx="809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F3F6EF"/>
                </a:solidFill>
                <a:latin typeface="Arial"/>
                <a:ea typeface="Arial"/>
                <a:cs typeface="Arial"/>
              </a:defRPr>
            </a:pPr>
            <a:r>
              <a:rPr sz="1050" b="1">
                <a:solidFill>
                  <a:srgbClr val="F3F6EF"/>
                </a:solidFill>
                <a:latin typeface="Arial"/>
                <a:ea typeface="Arial"/>
                <a:cs typeface="Arial"/>
              </a:rPr>
              <a:t>56.77%</a:t>
            </a:r>
          </a:p>
        </p:txBody>
      </p:sp>
      <p:sp>
        <p:nvSpPr>
          <p:cNvPr id="26" name="">
            <a:extLst xmlns:a="http://schemas.openxmlformats.org/drawingml/2006/main">
              <a:ext uri="{FF2B5EF4-FFF2-40B4-BE49-F238E27FC236}">
                <a16:creationId xmlns:a16="http://schemas.microsoft.com/office/drawing/2014/main" id="{E6E61A94-102A-4144-9FFE-59A680B3C133}"/>
              </a:ext>
            </a:extLst>
          </p:cNvPr>
          <p:cNvSpPr>
            <a:spLocks xmlns:a="http://schemas.openxmlformats.org/drawingml/2006/main" noGrp="1"/>
          </p:cNvSpPr>
          <p:nvPr/>
        </p:nvSpPr>
        <p:spPr>
          <a:xfrm xmlns:a="http://schemas.openxmlformats.org/drawingml/2006/main">
            <a:off x="5572125" y="4667250"/>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CDEB85"/>
                </a:solidFill>
                <a:latin typeface="Arial"/>
                <a:ea typeface="Arial"/>
                <a:cs typeface="Arial"/>
              </a:defRPr>
            </a:pPr>
            <a:r>
              <a:rPr sz="900" b="1">
                <a:solidFill>
                  <a:srgbClr val="CDEB85"/>
                </a:solidFill>
                <a:latin typeface="Arial"/>
                <a:ea typeface="Arial"/>
                <a:cs typeface="Arial"/>
              </a:rPr>
              <a:t>GridWatch</a:t>
            </a:r>
          </a:p>
        </p:txBody>
      </p:sp>
      <p:sp>
        <p:nvSpPr>
          <p:cNvPr id="27" name="">
            <a:extLst xmlns:a="http://schemas.openxmlformats.org/drawingml/2006/main">
              <a:ext uri="{FF2B5EF4-FFF2-40B4-BE49-F238E27FC236}">
                <a16:creationId xmlns:a16="http://schemas.microsoft.com/office/drawing/2014/main" id="{2E2400FA-85FE-4E70-BB8E-C53EE9F6A2F8}"/>
              </a:ext>
            </a:extLst>
          </p:cNvPr>
          <p:cNvSpPr>
            <a:spLocks xmlns:a="http://schemas.openxmlformats.org/drawingml/2006/main" noGrp="1"/>
          </p:cNvSpPr>
          <p:nvPr/>
        </p:nvSpPr>
        <p:spPr>
          <a:xfrm xmlns:a="http://schemas.openxmlformats.org/drawingml/2006/main">
            <a:off x="6858000" y="4667250"/>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A9B5A5"/>
                </a:solidFill>
                <a:latin typeface="Arial"/>
                <a:ea typeface="Arial"/>
                <a:cs typeface="Arial"/>
              </a:defRPr>
            </a:pPr>
            <a:r>
              <a:rPr sz="900" b="1">
                <a:solidFill>
                  <a:srgbClr val="A9B5A5"/>
                </a:solidFill>
                <a:latin typeface="Arial"/>
                <a:ea typeface="Arial"/>
                <a:cs typeface="Arial"/>
              </a:rPr>
              <a:t>Baseline</a:t>
            </a:r>
          </a:p>
        </p:txBody>
      </p:sp>
      <p:sp>
        <p:nvSpPr>
          <p:cNvPr id="28" name="">
            <a:extLst xmlns:a="http://schemas.openxmlformats.org/drawingml/2006/main">
              <a:ext uri="{FF2B5EF4-FFF2-40B4-BE49-F238E27FC236}">
                <a16:creationId xmlns:a16="http://schemas.microsoft.com/office/drawing/2014/main" id="{9915C390-A68C-4054-A1E5-EE7D1A19604A}"/>
              </a:ext>
            </a:extLst>
          </p:cNvPr>
          <p:cNvSpPr>
            <a:spLocks xmlns:a="http://schemas.openxmlformats.org/drawingml/2006/main" noGrp="1"/>
          </p:cNvSpPr>
          <p:nvPr/>
        </p:nvSpPr>
        <p:spPr>
          <a:xfrm xmlns:a="http://schemas.openxmlformats.org/drawingml/2006/main">
            <a:off x="5286375" y="5429250"/>
            <a:ext cx="5953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A9B5A5"/>
                </a:solidFill>
                <a:latin typeface="Arial"/>
                <a:ea typeface="Arial"/>
                <a:cs typeface="Arial"/>
              </a:defRPr>
            </a:pPr>
            <a:r>
              <a:rPr sz="975" b="0">
                <a:solidFill>
                  <a:srgbClr val="A9B5A5"/>
                </a:solidFill>
                <a:latin typeface="Arial"/>
                <a:ea typeface="Arial"/>
                <a:cs typeface="Arial"/>
              </a:rPr>
              <a:t>Accuracy metrics are synthetic; temperature error is real ETTh1 forecasting. Neither establishes field outage accuracy.</a:t>
            </a:r>
          </a:p>
        </p:txBody>
      </p:sp>
    </p:spTree>
    <p:extLst>
      <p:ext uri="{BB962C8B-B14F-4D97-AF65-F5344CB8AC3E}">
        <p14:creationId xmlns:p14="http://schemas.microsoft.com/office/powerpoint/2010/main" val="1420477427"/>
      </p:ext>
    </p:extLst>
  </p:cSld>
</p:sld>
</file>

<file path=ppt/slides/slide8.xml><?xml version="1.0" encoding="utf-8"?>
<p:sld xmlns:p="http://schemas.openxmlformats.org/presentationml/2006/main">
  <p:cSld>
    <p:bg>
      <p:bgPr>
        <a:solidFill xmlns:a="http://schemas.openxmlformats.org/drawingml/2006/main">
          <a:srgbClr val="11171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55A0BCF-1A5D-44A7-9021-C7F69F49D459}"/>
              </a:ext>
            </a:extLst>
          </p:cNvPr>
          <p:cNvSpPr>
            <a:spLocks xmlns:a="http://schemas.openxmlformats.org/drawingml/2006/main" noGrp="1"/>
          </p:cNvSpPr>
          <p:nvPr/>
        </p:nvSpPr>
        <p:spPr>
          <a:xfrm xmlns:a="http://schemas.openxmlformats.org/drawingml/2006/main">
            <a:off x="609600" y="36195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IBM BOBATHON 2026</a:t>
            </a:r>
          </a:p>
        </p:txBody>
      </p:sp>
      <p:sp>
        <p:nvSpPr>
          <p:cNvPr id="2" name="">
            <a:extLst xmlns:a="http://schemas.openxmlformats.org/drawingml/2006/main">
              <a:ext uri="{FF2B5EF4-FFF2-40B4-BE49-F238E27FC236}">
                <a16:creationId xmlns:a16="http://schemas.microsoft.com/office/drawing/2014/main" id="{83FEEA13-456C-4A64-BDF7-6089B6E2F562}"/>
              </a:ext>
            </a:extLst>
          </p:cNvPr>
          <p:cNvSpPr>
            <a:spLocks xmlns:a="http://schemas.openxmlformats.org/drawingml/2006/main" noGrp="1"/>
          </p:cNvSpPr>
          <p:nvPr/>
        </p:nvSpPr>
        <p:spPr>
          <a:xfrm xmlns:a="http://schemas.openxmlformats.org/drawingml/2006/main">
            <a:off x="609600" y="7048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3F6EF"/>
                </a:solidFill>
                <a:latin typeface="Arial"/>
                <a:ea typeface="Arial"/>
                <a:cs typeface="Arial"/>
              </a:defRPr>
            </a:pPr>
            <a:r>
              <a:rPr sz="3150" b="1">
                <a:solidFill>
                  <a:srgbClr val="F3F6EF"/>
                </a:solidFill>
                <a:latin typeface="Arial"/>
                <a:ea typeface="Arial"/>
                <a:cs typeface="Arial"/>
              </a:rPr>
              <a:t>Team and next steps</a:t>
            </a:r>
          </a:p>
        </p:txBody>
      </p:sp>
      <p:sp>
        <p:nvSpPr>
          <p:cNvPr id="3" name="">
            <a:extLst xmlns:a="http://schemas.openxmlformats.org/drawingml/2006/main">
              <a:ext uri="{FF2B5EF4-FFF2-40B4-BE49-F238E27FC236}">
                <a16:creationId xmlns:a16="http://schemas.microsoft.com/office/drawing/2014/main" id="{42CFE1E5-94D8-4AA6-AD73-ABC750233A2B}"/>
              </a:ext>
            </a:extLst>
          </p:cNvPr>
          <p:cNvSpPr>
            <a:spLocks xmlns:a="http://schemas.openxmlformats.org/drawingml/2006/main" noGrp="1"/>
          </p:cNvSpPr>
          <p:nvPr/>
        </p:nvSpPr>
        <p:spPr>
          <a:xfrm xmlns:a="http://schemas.openxmlformats.org/drawingml/2006/main">
            <a:off x="628650" y="134302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A9B5A5"/>
                </a:solidFill>
                <a:latin typeface="Arial"/>
                <a:ea typeface="Arial"/>
                <a:cs typeface="Arial"/>
              </a:defRPr>
            </a:pPr>
            <a:r>
              <a:rPr sz="1200" b="0">
                <a:solidFill>
                  <a:srgbClr val="A9B5A5"/>
                </a:solidFill>
                <a:latin typeface="Arial"/>
                <a:ea typeface="Arial"/>
                <a:cs typeface="Arial"/>
              </a:rPr>
              <a:t>A working prototype with a clear path to field validation.</a:t>
            </a:r>
          </a:p>
        </p:txBody>
      </p:sp>
      <p:sp>
        <p:nvSpPr>
          <p:cNvPr id="4" name="">
            <a:extLst xmlns:a="http://schemas.openxmlformats.org/drawingml/2006/main">
              <a:ext uri="{FF2B5EF4-FFF2-40B4-BE49-F238E27FC236}">
                <a16:creationId xmlns:a16="http://schemas.microsoft.com/office/drawing/2014/main" id="{63ACC116-015F-4912-BDDA-7145240EBD65}"/>
              </a:ext>
            </a:extLst>
          </p:cNvPr>
          <p:cNvSpPr>
            <a:spLocks xmlns:a="http://schemas.openxmlformats.org/drawingml/2006/main" noGrp="1"/>
          </p:cNvSpPr>
          <p:nvPr/>
        </p:nvSpPr>
        <p:spPr>
          <a:xfrm xmlns:a="http://schemas.openxmlformats.org/drawingml/2006/main">
            <a:off x="609600" y="6419850"/>
            <a:ext cx="457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A9B5A5"/>
                </a:solidFill>
                <a:latin typeface="Arial"/>
                <a:ea typeface="Arial"/>
                <a:cs typeface="Arial"/>
              </a:defRPr>
            </a:pPr>
            <a:r>
              <a:rPr sz="825" b="1">
                <a:solidFill>
                  <a:srgbClr val="A9B5A5"/>
                </a:solidFill>
                <a:latin typeface="Arial"/>
                <a:ea typeface="Arial"/>
                <a:cs typeface="Arial"/>
              </a:rPr>
              <a:t>GRIDWATCH / U1</a:t>
            </a:r>
          </a:p>
        </p:txBody>
      </p:sp>
      <p:sp>
        <p:nvSpPr>
          <p:cNvPr id="5" name="">
            <a:extLst xmlns:a="http://schemas.openxmlformats.org/drawingml/2006/main">
              <a:ext uri="{FF2B5EF4-FFF2-40B4-BE49-F238E27FC236}">
                <a16:creationId xmlns:a16="http://schemas.microsoft.com/office/drawing/2014/main" id="{80AE3AD5-B422-499E-9806-66665CCA12CB}"/>
              </a:ext>
            </a:extLst>
          </p:cNvPr>
          <p:cNvSpPr>
            <a:spLocks xmlns:a="http://schemas.openxmlformats.org/drawingml/2006/main" noGrp="1"/>
          </p:cNvSpPr>
          <p:nvPr/>
        </p:nvSpPr>
        <p:spPr>
          <a:xfrm xmlns:a="http://schemas.openxmlformats.org/drawingml/2006/main">
            <a:off x="11239500" y="6419850"/>
            <a:ext cx="3333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68e04d2e080447d"/>
          <a:srcRect xmlns:a="http://schemas.openxmlformats.org/drawingml/2006/main" l="1613" t="0" r="1613" b="0"/>
          <a:stretch xmlns:a="http://schemas.openxmlformats.org/drawingml/2006/main">
            <a:fillRect l="0" t="0" r="0" b="0"/>
          </a:stretch>
        </p:blipFill>
        <p:spPr>
          <a:xfrm xmlns:a="http://schemas.openxmlformats.org/drawingml/2006/main">
            <a:off x="609600" y="2047875"/>
            <a:ext cx="4286250" cy="2952750"/>
          </a:xfrm>
          <a:prstGeom xmlns:a="http://schemas.openxmlformats.org/drawingml/2006/main" prst="roundRect">
            <a:avLst>
              <a:gd name="adj" fmla="val 3871"/>
            </a:avLst>
          </a:prstGeom>
        </p:spPr>
      </p:pic>
      <p:sp>
        <p:nvSpPr>
          <p:cNvPr id="7" name="">
            <a:extLst xmlns:a="http://schemas.openxmlformats.org/drawingml/2006/main">
              <a:ext uri="{FF2B5EF4-FFF2-40B4-BE49-F238E27FC236}">
                <a16:creationId xmlns:a16="http://schemas.microsoft.com/office/drawing/2014/main" id="{A07C5EB6-F739-4C7C-B17A-3864EB04D455}"/>
              </a:ext>
            </a:extLst>
          </p:cNvPr>
          <p:cNvSpPr>
            <a:spLocks xmlns:a="http://schemas.openxmlformats.org/drawingml/2006/main" noGrp="1"/>
          </p:cNvSpPr>
          <p:nvPr/>
        </p:nvSpPr>
        <p:spPr>
          <a:xfrm xmlns:a="http://schemas.openxmlformats.org/drawingml/2006/main">
            <a:off x="5381625" y="2047875"/>
            <a:ext cx="6191250" cy="2952750"/>
          </a:xfrm>
          <a:prstGeom xmlns:a="http://schemas.openxmlformats.org/drawingml/2006/main" prst="roundRect">
            <a:avLst>
              <a:gd name="adj" fmla="val 3871"/>
            </a:avLst>
          </a:prstGeom>
          <a:solidFill xmlns:a="http://schemas.openxmlformats.org/drawingml/2006/main">
            <a:srgbClr val="1E2820"/>
          </a:solidFill>
          <a:ln xmlns:a="http://schemas.openxmlformats.org/drawingml/2006/main" w="9525">
            <a:solidFill>
              <a:srgbClr val="445242"/>
            </a:solidFill>
          </a:ln>
        </p:spPr>
      </p:sp>
      <p:sp>
        <p:nvSpPr>
          <p:cNvPr id="8" name="">
            <a:extLst xmlns:a="http://schemas.openxmlformats.org/drawingml/2006/main">
              <a:ext uri="{FF2B5EF4-FFF2-40B4-BE49-F238E27FC236}">
                <a16:creationId xmlns:a16="http://schemas.microsoft.com/office/drawing/2014/main" id="{DF5DCF83-6145-4329-9D77-1E8EAA5F20A5}"/>
              </a:ext>
            </a:extLst>
          </p:cNvPr>
          <p:cNvSpPr>
            <a:spLocks xmlns:a="http://schemas.openxmlformats.org/drawingml/2006/main" noGrp="1"/>
          </p:cNvSpPr>
          <p:nvPr/>
        </p:nvSpPr>
        <p:spPr>
          <a:xfrm xmlns:a="http://schemas.openxmlformats.org/drawingml/2006/main">
            <a:off x="5715000" y="2352675"/>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TEAM</a:t>
            </a:r>
          </a:p>
        </p:txBody>
      </p:sp>
      <p:sp>
        <p:nvSpPr>
          <p:cNvPr id="9" name="">
            <a:extLst xmlns:a="http://schemas.openxmlformats.org/drawingml/2006/main">
              <a:ext uri="{FF2B5EF4-FFF2-40B4-BE49-F238E27FC236}">
                <a16:creationId xmlns:a16="http://schemas.microsoft.com/office/drawing/2014/main" id="{EAC85851-C860-4FC9-880A-F6C598A081F0}"/>
              </a:ext>
            </a:extLst>
          </p:cNvPr>
          <p:cNvSpPr>
            <a:spLocks xmlns:a="http://schemas.openxmlformats.org/drawingml/2006/main" noGrp="1"/>
          </p:cNvSpPr>
          <p:nvPr/>
        </p:nvSpPr>
        <p:spPr>
          <a:xfrm xmlns:a="http://schemas.openxmlformats.org/drawingml/2006/main">
            <a:off x="5715000" y="27051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F3F6EF"/>
                </a:solidFill>
                <a:latin typeface="Arial"/>
                <a:ea typeface="Arial"/>
                <a:cs typeface="Arial"/>
              </a:defRPr>
            </a:pPr>
            <a:r>
              <a:rPr sz="1950" b="1">
                <a:solidFill>
                  <a:srgbClr val="F3F6EF"/>
                </a:solidFill>
                <a:latin typeface="Arial"/>
                <a:ea typeface="Arial"/>
                <a:cs typeface="Arial"/>
              </a:rPr>
              <a:t>GridWatch project team</a:t>
            </a:r>
          </a:p>
        </p:txBody>
      </p:sp>
      <p:sp>
        <p:nvSpPr>
          <p:cNvPr id="10" name="">
            <a:extLst xmlns:a="http://schemas.openxmlformats.org/drawingml/2006/main">
              <a:ext uri="{FF2B5EF4-FFF2-40B4-BE49-F238E27FC236}">
                <a16:creationId xmlns:a16="http://schemas.microsoft.com/office/drawing/2014/main" id="{BE503148-08EC-4D44-A596-6C58100E5302}"/>
              </a:ext>
            </a:extLst>
          </p:cNvPr>
          <p:cNvSpPr>
            <a:spLocks xmlns:a="http://schemas.openxmlformats.org/drawingml/2006/main" noGrp="1"/>
          </p:cNvSpPr>
          <p:nvPr/>
        </p:nvSpPr>
        <p:spPr>
          <a:xfrm xmlns:a="http://schemas.openxmlformats.org/drawingml/2006/main">
            <a:off x="5715000" y="330517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CDEB85"/>
                </a:solidFill>
                <a:latin typeface="Arial"/>
                <a:ea typeface="Arial"/>
                <a:cs typeface="Arial"/>
              </a:defRPr>
            </a:pPr>
            <a:r>
              <a:rPr sz="1275" b="1">
                <a:solidFill>
                  <a:srgbClr val="CDEB85"/>
                </a:solidFill>
                <a:latin typeface="Arial"/>
                <a:ea typeface="Arial"/>
                <a:cs typeface="Arial"/>
              </a:rPr>
              <a:t>Project lead &amp; build</a:t>
            </a:r>
          </a:p>
        </p:txBody>
      </p:sp>
      <p:sp>
        <p:nvSpPr>
          <p:cNvPr id="11" name="">
            <a:extLst xmlns:a="http://schemas.openxmlformats.org/drawingml/2006/main">
              <a:ext uri="{FF2B5EF4-FFF2-40B4-BE49-F238E27FC236}">
                <a16:creationId xmlns:a16="http://schemas.microsoft.com/office/drawing/2014/main" id="{2C550B31-A341-475B-A2E4-C4BD9BA2A327}"/>
              </a:ext>
            </a:extLst>
          </p:cNvPr>
          <p:cNvSpPr>
            <a:spLocks xmlns:a="http://schemas.openxmlformats.org/drawingml/2006/main" noGrp="1"/>
          </p:cNvSpPr>
          <p:nvPr/>
        </p:nvSpPr>
        <p:spPr>
          <a:xfrm xmlns:a="http://schemas.openxmlformats.org/drawingml/2006/main">
            <a:off x="5715000" y="3619500"/>
            <a:ext cx="495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A9B5A5"/>
                </a:solidFill>
                <a:latin typeface="Arial"/>
                <a:ea typeface="Arial"/>
                <a:cs typeface="Arial"/>
              </a:defRPr>
            </a:pPr>
            <a:r>
              <a:rPr sz="1050" b="0">
                <a:solidFill>
                  <a:srgbClr val="A9B5A5"/>
                </a:solidFill>
                <a:latin typeface="Arial"/>
                <a:ea typeface="Arial"/>
                <a:cs typeface="Arial"/>
              </a:rPr>
              <a:t>Model training · advisor engine · dashboard · MCP tools · deck</a:t>
            </a:r>
          </a:p>
        </p:txBody>
      </p:sp>
      <p:sp>
        <p:nvSpPr>
          <p:cNvPr id="12" name="">
            <a:extLst xmlns:a="http://schemas.openxmlformats.org/drawingml/2006/main">
              <a:ext uri="{FF2B5EF4-FFF2-40B4-BE49-F238E27FC236}">
                <a16:creationId xmlns:a16="http://schemas.microsoft.com/office/drawing/2014/main" id="{F200922C-CFAB-4AE8-B728-9E1D03261421}"/>
              </a:ext>
            </a:extLst>
          </p:cNvPr>
          <p:cNvSpPr>
            <a:spLocks xmlns:a="http://schemas.openxmlformats.org/drawingml/2006/main" noGrp="1"/>
          </p:cNvSpPr>
          <p:nvPr/>
        </p:nvSpPr>
        <p:spPr>
          <a:xfrm xmlns:a="http://schemas.openxmlformats.org/drawingml/2006/main">
            <a:off x="5715000" y="4162425"/>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CDEB85"/>
                </a:solidFill>
                <a:latin typeface="Arial"/>
                <a:ea typeface="Arial"/>
                <a:cs typeface="Arial"/>
              </a:defRPr>
            </a:pPr>
            <a:r>
              <a:rPr sz="825" b="1">
                <a:solidFill>
                  <a:srgbClr val="CDEB85"/>
                </a:solidFill>
                <a:latin typeface="Arial"/>
                <a:ea typeface="Arial"/>
                <a:cs typeface="Arial"/>
              </a:rPr>
              <a:t>TEAM DETAILS</a:t>
            </a:r>
          </a:p>
        </p:txBody>
      </p:sp>
      <p:sp>
        <p:nvSpPr>
          <p:cNvPr id="13" name="">
            <a:extLst xmlns:a="http://schemas.openxmlformats.org/drawingml/2006/main">
              <a:ext uri="{FF2B5EF4-FFF2-40B4-BE49-F238E27FC236}">
                <a16:creationId xmlns:a16="http://schemas.microsoft.com/office/drawing/2014/main" id="{C8E829D1-2342-45ED-A1C4-30DCFAD46920}"/>
              </a:ext>
            </a:extLst>
          </p:cNvPr>
          <p:cNvSpPr>
            <a:spLocks xmlns:a="http://schemas.openxmlformats.org/drawingml/2006/main" noGrp="1"/>
          </p:cNvSpPr>
          <p:nvPr/>
        </p:nvSpPr>
        <p:spPr>
          <a:xfrm xmlns:a="http://schemas.openxmlformats.org/drawingml/2006/main">
            <a:off x="5715000" y="4467225"/>
            <a:ext cx="4572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A9B5A5"/>
                </a:solidFill>
                <a:latin typeface="Arial"/>
                <a:ea typeface="Arial"/>
                <a:cs typeface="Arial"/>
              </a:defRPr>
            </a:pPr>
            <a:r>
              <a:rPr sz="1125" b="0">
                <a:solidFill>
                  <a:srgbClr val="A9B5A5"/>
                </a:solidFill>
                <a:latin typeface="Arial"/>
                <a:ea typeface="Arial"/>
                <a:cs typeface="Arial"/>
              </a:rPr>
              <a:t>Names and roles to be filled before submission</a:t>
            </a:r>
          </a:p>
        </p:txBody>
      </p:sp>
      <p:sp>
        <p:nvSpPr>
          <p:cNvPr id="14" name="">
            <a:extLst xmlns:a="http://schemas.openxmlformats.org/drawingml/2006/main">
              <a:ext uri="{FF2B5EF4-FFF2-40B4-BE49-F238E27FC236}">
                <a16:creationId xmlns:a16="http://schemas.microsoft.com/office/drawing/2014/main" id="{2C949B81-147A-45B1-BFAC-DCC0EF548F7F}"/>
              </a:ext>
            </a:extLst>
          </p:cNvPr>
          <p:cNvSpPr>
            <a:spLocks xmlns:a="http://schemas.openxmlformats.org/drawingml/2006/main" noGrp="1"/>
          </p:cNvSpPr>
          <p:nvPr/>
        </p:nvSpPr>
        <p:spPr>
          <a:xfrm xmlns:a="http://schemas.openxmlformats.org/drawingml/2006/main">
            <a:off x="609600" y="5381625"/>
            <a:ext cx="10953750" cy="523875"/>
          </a:xfrm>
          <a:prstGeom xmlns:a="http://schemas.openxmlformats.org/drawingml/2006/main" prst="roundRect">
            <a:avLst>
              <a:gd name="adj" fmla="val 21818"/>
            </a:avLst>
          </a:prstGeom>
          <a:solidFill xmlns:a="http://schemas.openxmlformats.org/drawingml/2006/main">
            <a:srgbClr val="2C3826"/>
          </a:solidFill>
          <a:ln xmlns:a="http://schemas.openxmlformats.org/drawingml/2006/main" w="9525">
            <a:solidFill>
              <a:srgbClr val="5A7138"/>
            </a:solidFill>
          </a:ln>
        </p:spPr>
      </p:sp>
      <p:sp>
        <p:nvSpPr>
          <p:cNvPr id="15" name="">
            <a:extLst xmlns:a="http://schemas.openxmlformats.org/drawingml/2006/main">
              <a:ext uri="{FF2B5EF4-FFF2-40B4-BE49-F238E27FC236}">
                <a16:creationId xmlns:a16="http://schemas.microsoft.com/office/drawing/2014/main" id="{607BB4A6-3EC1-4EB5-82E9-218DBB877262}"/>
              </a:ext>
            </a:extLst>
          </p:cNvPr>
          <p:cNvSpPr>
            <a:spLocks xmlns:a="http://schemas.openxmlformats.org/drawingml/2006/main" noGrp="1"/>
          </p:cNvSpPr>
          <p:nvPr/>
        </p:nvSpPr>
        <p:spPr>
          <a:xfrm xmlns:a="http://schemas.openxmlformats.org/drawingml/2006/main">
            <a:off x="828675" y="5543550"/>
            <a:ext cx="1038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F3F6EF"/>
                </a:solidFill>
                <a:latin typeface="Arial"/>
                <a:ea typeface="Arial"/>
                <a:cs typeface="Arial"/>
              </a:defRPr>
            </a:pPr>
            <a:r>
              <a:rPr sz="1125" b="1">
                <a:solidFill>
                  <a:srgbClr val="F3F6EF"/>
                </a:solidFill>
                <a:latin typeface="Arial"/>
                <a:ea typeface="Arial"/>
                <a:cs typeface="Arial"/>
              </a:rPr>
              <a:t>Next: timestamped utility failures + archived forecasts → unseen-asset testing → supervised pilot.</a:t>
            </a:r>
          </a:p>
        </p:txBody>
      </p:sp>
    </p:spTree>
    <p:extLst>
      <p:ext uri="{BB962C8B-B14F-4D97-AF65-F5344CB8AC3E}">
        <p14:creationId xmlns:p14="http://schemas.microsoft.com/office/powerpoint/2010/main" val="4523593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2026-09-14T06:30:15.6150000Z</dcterms:created>
  <dcterms:modified xsi:type="dcterms:W3CDTF">2026-09-14T06:30:15.6150000Z</dcterms:modified>
</coreProperties>
</file>